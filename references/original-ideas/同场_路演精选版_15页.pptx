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方案整合本次对话中的产品讨论和用户补充截图。核心从先有同场社交，调整为先让一个人做出有个人痕迹的现场卡，再形成档案与自愿连接。封面卡片为可编辑概念图，舞台图形为抽象示意，不是实际演出照片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此前把相册置于主入口的方案并非全部推翻：换视角、照片权限、双向同意仍然保留，但位于卡片产生价值之后。需要验证的是用户对自身经历的视觉表达需求，不是默认所有年轻人都愿意晒或交友。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访谈不应诱导性地问“你是不是很想证明自己去过”。请用户展示最近一次现场之后实际保存或发布的内容，询问具体操作、放弃原因、愿意公开到什么程度。截图关于天然收藏性、社交货币和降低门槛的说法应作为假设，而不是证据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这里是功能邻近性比较，不是胜负排名。Concert Archives与本项目的功能重叠非常实质，必须在答辩中正面承认。要用完成时间、盲测偏好和实际分享行为证明交互差异，而不是用竞品官网未提到某功能证明其不存在。
【版本与范围】本文件是设计方案，不表示已上线或完成研发。所有目标、配额、成本、排期为方案假设，需团队确认；界面、活动、昵称与档案数据均为虚构示例。
【来源｜核验日期 2026-09-17】
R01 Concert Archives｜官方产品页面
https://www.concertarchives.org/
演出历史、统计、照片与好友功能；用于竞品事实，不证明本项目有需求。
R02 Radiate｜官方产品页面
https://www.radiatetheworld.com/
围绕活动与社区连接参与者；不推断其缺少未公开功能。
R03 GuestCam｜官方产品页面
https://guestcam.co/
二维码／链接收集活动照片；用于界定共享相册已有能力。
R04 Spotify｜2025 Wrapped 官方介绍
https://newsroom.spotify.com/2025-wrapped/
个性化回顾与分享的参考案例；不复制品牌视觉或暗示 API 合作。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产品埋点应分别记录生成完成、用户接受、导出、公开发布、交换请求和双向确认。不要把“点击分享”算实际外部发布，也不要把双向换卡等同于现实中交到朋友。公开链接和成员加入链接必须分别实现。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包括私有档案列表，不包括真实运行一年的云档案承诺、年度智能画像、多城市自动统计或多活动社交运营。页面可用示例记录展示长期方向，但必须与真实数据区隔。所有“必做”表示验收范围，不表示已完成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不是调用图片生成模型生成一张不可编辑的海报，而是输出结构化建议：template_id、cover_asset_id、caption_candidates与可选裁切位置。所有ID必须来自白名单，渲染器使用固定组件；模型不能生成任意HTML或执行工具。AI不可用时直接进入模板编辑器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推荐主导出1080×1440（3:4）PNG；屏幕预览保持安全边距。二维码只链接卡片分享快照，不能链接后台身份或场次加入令牌。P0未实现现场核验，不使用VERIFIED LIVE勋章。虚构活动与演出图形仅用于设计展示。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分享截图上的QR必须只指向公开卡。外部访客不能借此读取成员列表或交换收到的私人卡。Web Share API并不保证目的平台或发布成功；P0提供图片导出和复制链接作为降级。不得将点击分享统计为真实外部发布。
【版本与范围】本文件是设计方案，不表示已上线或完成研发。所有目标、配额、成本、排期为方案假设，需团队确认；界面、活动、昵称与档案数据均为虚构示例。
【来源｜核验日期 2026-09-17】
R06 MDN｜Web Share API
https://developer.mozilla.org/en-US/docs/Web/API/Web_Share_API
系统分享需要用户触发并受兼容性限制；不等同于朋友圈原生按钮。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交换许可只允许站内查看引用。接收者不能将交换卡照片加入自己的公开卡，除非另获明确再使用授权。撤回后引用失效，已被截图或外部导出内容无法自动收回。联系方式若后续做，仍需逐次单独共享，不跟换卡绑定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长期是产品方向，不是本次试点永久运营承诺。试点结束日期、提示周期、导出与删除时间要事先告知。私人档案在明确目的范围内保留，账号注销与法定留存例外分开处理；法律日志不可简单承诺立即全部销毁。要有跨设备登录或恢复，不依赖localStorage作为唯一存储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服务仅接收任务所需的授权素材；不得将整份私人档案或联系方式顺手发送。响应建议包含schema_version、template_id、cover_asset_id、caption_candidates、warnings；缺字段或越界时拒绝并用默认模板。AI生成耗时及成功率需实测，不承诺几秒稳定完成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+25人时是工程估计，不是报价或保证。两个人的工作并不完全可并行，接口、素材和部署阻塞会造成等待。每人每天只有2小时，总容量仅84人时，需要砍掉公开发现或第二模板等非最低闭环模块，而不能删权限、删除和真实导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最好准备两台独立手机及一个演示监控页面；测试流量卡与备用网络。AI缓存若使用要说明是预处理示例，不宣称实时模型推理。演示中不输入真实联系方式、票据、密钥或陌生人照片。将整个体验的独立价值先讲清，再展示社交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第一轮产物不是一份继续扩大的功能清单，而是两套可编辑模板、真实导出样张、权限流程与可用性观察。只有卡片能带来独立价值，才继续增加同场交换；若最受欢迎的是档案，则顺势强化记录产品。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oncertarchives.org/" TargetMode="External"/><Relationship Id="rId2" Type="http://schemas.openxmlformats.org/officeDocument/2006/relationships/hyperlink" Target="https://www.radiatetheworld.com/" TargetMode="External"/><Relationship Id="rId3" Type="http://schemas.openxmlformats.org/officeDocument/2006/relationships/hyperlink" Target="https://guestcam.co/" TargetMode="External"/><Relationship Id="rId4" Type="http://schemas.openxmlformats.org/officeDocument/2006/relationships/hyperlink" Target="https://newsroom.spotify.com/2025-wrapped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API/Web_Share_AP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产品设计方案  /  MUSIC × MEMORY × CONNECTION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76072" y="2103120"/>
            <a:ext cx="6217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把今晚的现场，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变成值得留下的东西。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3504" y="39684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 · 音乐生活档案 · 自愿交换现场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3504" y="47548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参赛方向：创新音乐产品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完整产品方案与制作团队执行依据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" y="594360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V1.0  /  2026.09.17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594360"/>
            <a:ext cx="3383280" cy="5495544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753" y="781208"/>
            <a:ext cx="2943454" cy="252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7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1147" dirty="0"/>
          </a:p>
        </p:txBody>
      </p:sp>
      <p:sp>
        <p:nvSpPr>
          <p:cNvPr id="14" name="Text 12"/>
          <p:cNvSpPr/>
          <p:nvPr/>
        </p:nvSpPr>
        <p:spPr>
          <a:xfrm>
            <a:off x="8083753" y="1138419"/>
            <a:ext cx="2943454" cy="18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4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814" dirty="0"/>
          </a:p>
        </p:txBody>
      </p:sp>
      <p:sp>
        <p:nvSpPr>
          <p:cNvPr id="15" name="Shape 13"/>
          <p:cNvSpPr/>
          <p:nvPr/>
        </p:nvSpPr>
        <p:spPr>
          <a:xfrm>
            <a:off x="8083753" y="1605540"/>
            <a:ext cx="2943454" cy="2308128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8054319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8598858" y="1651703"/>
            <a:ext cx="765298" cy="203115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143396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687935" y="1651703"/>
            <a:ext cx="765298" cy="203115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0232474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6968" y="3221230"/>
            <a:ext cx="2237025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5271" y="3244311"/>
            <a:ext cx="2060418" cy="161569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7340" y="3705937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0452" y="3764217"/>
            <a:ext cx="119210" cy="1494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6929" y="3673623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8128" y="3748093"/>
            <a:ext cx="152324" cy="165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6518" y="3641309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5804" y="3731968"/>
            <a:ext cx="185438" cy="1817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46108" y="3608996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9220" y="3667276"/>
            <a:ext cx="119210" cy="24639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5697" y="3705937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6896" y="3780406"/>
            <a:ext cx="152324" cy="13326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5286" y="3673623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4572" y="3764282"/>
            <a:ext cx="185438" cy="14938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34876" y="3641309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7988" y="3699590"/>
            <a:ext cx="119210" cy="21407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4465" y="3608996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55664" y="3683465"/>
            <a:ext cx="152324" cy="23020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94055" y="3705937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83340" y="3796595"/>
            <a:ext cx="185438" cy="11707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3644" y="3673623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16756" y="3731904"/>
            <a:ext cx="119210" cy="1817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53233" y="3641309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44432" y="3715779"/>
            <a:ext cx="152324" cy="1978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82823" y="3608996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72109" y="3699654"/>
            <a:ext cx="185438" cy="21401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12412" y="3705937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05524" y="3764217"/>
            <a:ext cx="119210" cy="1494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75193" y="3703357"/>
            <a:ext cx="27605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8083753" y="4078535"/>
            <a:ext cx="2943454" cy="45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2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2220" dirty="0"/>
          </a:p>
        </p:txBody>
      </p:sp>
      <p:sp>
        <p:nvSpPr>
          <p:cNvPr id="51" name="Text 49"/>
          <p:cNvSpPr/>
          <p:nvPr/>
        </p:nvSpPr>
        <p:spPr>
          <a:xfrm>
            <a:off x="8083753" y="4650071"/>
            <a:ext cx="2943454" cy="214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3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1073" dirty="0"/>
          </a:p>
        </p:txBody>
      </p:sp>
      <p:sp>
        <p:nvSpPr>
          <p:cNvPr id="52" name="Shape 50"/>
          <p:cNvSpPr/>
          <p:nvPr/>
        </p:nvSpPr>
        <p:spPr>
          <a:xfrm>
            <a:off x="8083753" y="4968813"/>
            <a:ext cx="2943454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083753" y="5106202"/>
            <a:ext cx="2943454" cy="36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1162" dirty="0"/>
          </a:p>
        </p:txBody>
      </p:sp>
      <p:sp>
        <p:nvSpPr>
          <p:cNvPr id="54" name="Text 52"/>
          <p:cNvSpPr/>
          <p:nvPr/>
        </p:nvSpPr>
        <p:spPr>
          <a:xfrm>
            <a:off x="8083753" y="5716207"/>
            <a:ext cx="2943454" cy="19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8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9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最重要的调整：先做值得分享的卡，再做社交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补充截图最有价值的，不是新增功能，而是改变产品的进入顺序。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之前的入口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进入现场空间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找照片、找人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依赖同场有足够多人。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一开始就面临上传、匹配与社交压力。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004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本版的入口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上传1–3张图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做我的现场卡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没有其他用户，也能完成一个有价值的作品。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分享与社交均可跳过。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004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长期沉淀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积累音乐生活档案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自愿交换现场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卡片不是一次性海报。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但长期留存要有账号、明确授权与删除机制。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产品定义：把一次现场经历，变成可记录、可展示、可交换的个人音乐内容。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需求假设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用户想留下的，不只是“我来过”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以下是待访谈验证的需求假设，不是已经完成的用户研究。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这张卡，看起来像我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照片、喜欢的歌、自己的感受，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形成有个人痕迹的展示。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不是套一个“热爱永不落幕”。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94048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过一阵，还能找回来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9496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知道哪一天、哪一场、什么歌，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而不是在相册里找半天。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一次记录就能先成立。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76616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原来你也喜欢这一刻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2064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从内容认识人，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不从颜值、距离或契合度出发。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不愿社交也能完整使用。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不是证明谁更懂音乐、谁消费更多；是让用户决定如何呈现自己的音乐经历。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已有产品证明功能不新，我们要证明体验更顺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竞品能力据官方公开介绍；“我们的切入”是设计选择，不代表对方没有相同功能。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[R01]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[R02]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[R03]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[R04]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325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参考产品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30646" y="2249424"/>
            <a:ext cx="3880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已公开的相关能力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30674" y="2249424"/>
            <a:ext cx="4163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我们借鉴／避免的事情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68580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Spotify Wrapped [R04]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3230646" y="26837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个性化音乐回顾与分享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7330674" y="26837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借鉴“经历变成表达”；不复制品牌视觉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566928" y="32644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64408"/>
            <a:ext cx="11027664" cy="68580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695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Concert Archives [R01]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3230646" y="33695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演出历史、统计、照片与好友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7330674" y="33695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档案并非首创；不宣称发明音乐履历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566928" y="39502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950208"/>
            <a:ext cx="11027664" cy="68580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553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Radiate [R02]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3230646" y="40553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围绕活动与社区连接参与者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7330674" y="40553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同场社交并非首创；避免做完整社区</a:t>
            </a:r>
            <a:endParaRPr lang="en-US" sz="148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636008"/>
            <a:ext cx="11027664" cy="68580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411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GuestCam [R03]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3230646" y="47411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通过二维码／链接收集活动照片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7330674" y="47411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共享相册是基础能力，不是核心创新</a:t>
            </a:r>
            <a:endParaRPr lang="en-US" sz="1480" dirty="0"/>
          </a:p>
        </p:txBody>
      </p:sp>
      <p:sp>
        <p:nvSpPr>
          <p:cNvPr id="32" name="Shape 30"/>
          <p:cNvSpPr/>
          <p:nvPr/>
        </p:nvSpPr>
        <p:spPr>
          <a:xfrm>
            <a:off x="566928" y="53218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差异化假设：1–3张图 → 可编辑现场卡 → 自愿交换 → 跨场档案，能减少首次使用负担。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核心路径：从我记录，到我们有了共同现场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一条主路径，两个可选延伸；不把AI、蓝牙、相册、社交并列堆在首页。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66928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选定演出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上传1–3张图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075688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450592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450592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450592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用户确认与编辑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959352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34256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34256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334256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先获得完整作品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可选择私藏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43016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17920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217920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公开独立卡页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不开放整个相册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726680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101584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01584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101584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同场共同点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双方确认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610344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985248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985248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85248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985248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个人音乐记录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跨场积累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分享可以跳过，交换可以跳过；“私下做卡并存档”也应是一条完整成功路径。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冻结P0：只做一张卡、一场互动、一页档案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完整愿景可以很大，参赛版本必须有明确停止线。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/ 参赛必须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真正跑通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1–3张照片、2套模板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编辑、PNG导出与公开卡页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1场互动、双向换卡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私人档案列表与删除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最小审核、权限、来源标注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94048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/ 验证后增加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让体验更丰富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9496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第3套模板、动态短片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多场统计与风格标签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组织方到场确认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扫码交换个人卡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适用平台授权与提醒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76616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暂不投入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不做大而全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2064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蓝牙全场自动配对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位置雷达、完整私聊社区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任意视频理解与实时识曲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AI生成人物／伪造到场照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音乐品味排名和付费匹配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AI制作：让用户少调排版，不让AI替用户编经历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P0让AI在有限模板中做建议，可靠输出由确定性渲染器完成。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1920240"/>
            <a:ext cx="2377440" cy="4315968"/>
          </a:xfrm>
          <a:prstGeom prst="roundRect">
            <a:avLst>
              <a:gd name="adj" fmla="val 6923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" y="1988820"/>
            <a:ext cx="2240280" cy="4178808"/>
          </a:xfrm>
          <a:prstGeom prst="roundRect">
            <a:avLst>
              <a:gd name="adj" fmla="val 5306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0" y="206654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" y="23408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选择素材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2048256" cy="1316736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893917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272845" y="2815255"/>
            <a:ext cx="532547" cy="1158728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651772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2030700" y="2815255"/>
            <a:ext cx="532547" cy="1158728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409627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0191" y="3710635"/>
            <a:ext cx="1556675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1638" y="3723803"/>
            <a:ext cx="1433779" cy="92172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5606" y="3987150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813" y="4027705"/>
            <a:ext cx="82954" cy="779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5370" y="3968715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46" y="4020536"/>
            <a:ext cx="105997" cy="8512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134" y="3950281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7679" y="4013367"/>
            <a:ext cx="129040" cy="922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898" y="3931847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40105" y="3972402"/>
            <a:ext cx="82954" cy="1332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4662" y="3987150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8538" y="4038971"/>
            <a:ext cx="105997" cy="666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64426" y="3968715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56971" y="4031802"/>
            <a:ext cx="129040" cy="738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4190" y="3950281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9397" y="3990837"/>
            <a:ext cx="82954" cy="1148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3954" y="3931847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77830" y="3983668"/>
            <a:ext cx="105997" cy="12198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43718" y="3987150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36262" y="4050236"/>
            <a:ext cx="129040" cy="5542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3482" y="3968715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98689" y="4009271"/>
            <a:ext cx="82954" cy="963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3246" y="3950281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7122" y="4002102"/>
            <a:ext cx="105997" cy="1035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23010" y="3931847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15554" y="3994933"/>
            <a:ext cx="129040" cy="11072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2774" y="3987150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77981" y="4027705"/>
            <a:ext cx="82954" cy="779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389534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914400" y="4233672"/>
            <a:ext cx="962680" cy="822960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0800000">
            <a:off x="904773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1082869" y="4250131"/>
            <a:ext cx="250297" cy="724205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1260965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1439061" y="4250131"/>
            <a:ext cx="250297" cy="724205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0800000">
            <a:off x="1617157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9922" y="4809744"/>
            <a:ext cx="731637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8802" y="4817974"/>
            <a:ext cx="673876" cy="5760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8467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6214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3556" y="4971044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0678" y="4995400"/>
            <a:ext cx="49819" cy="6123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8645" y="4959523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85141" y="4989173"/>
            <a:ext cx="60649" cy="6745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63734" y="4948001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1482" y="4967062"/>
            <a:ext cx="38989" cy="8957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38823" y="4982566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35945" y="5006921"/>
            <a:ext cx="49819" cy="4971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13912" y="4971044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10408" y="5000695"/>
            <a:ext cx="60649" cy="559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89001" y="4959523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86749" y="4978584"/>
            <a:ext cx="38989" cy="780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64090" y="4948001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61212" y="4972357"/>
            <a:ext cx="49819" cy="842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39180" y="4982566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35675" y="5012216"/>
            <a:ext cx="60649" cy="44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4269" y="4971044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12016" y="4990105"/>
            <a:ext cx="38989" cy="665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89358" y="4959523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86479" y="4983879"/>
            <a:ext cx="49819" cy="727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64447" y="4948001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60943" y="4977652"/>
            <a:ext cx="60649" cy="789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39536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37283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4846320"/>
            <a:ext cx="77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1999976" y="4233672"/>
            <a:ext cx="962680" cy="822960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10800000">
            <a:off x="1990349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10800000">
            <a:off x="2168445" y="4250131"/>
            <a:ext cx="250297" cy="72420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10800000">
            <a:off x="2346541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10800000">
            <a:off x="2524636" y="4250131"/>
            <a:ext cx="250297" cy="72420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10800000">
            <a:off x="2702732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15497" y="4809744"/>
            <a:ext cx="731637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44378" y="4817974"/>
            <a:ext cx="673876" cy="5760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24043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21790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99132" y="4971044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96253" y="4995400"/>
            <a:ext cx="49819" cy="6123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74221" y="4959523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70717" y="4989173"/>
            <a:ext cx="60649" cy="6745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49310" y="4948001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47057" y="4967062"/>
            <a:ext cx="38989" cy="8957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24399" y="4982566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21521" y="5006921"/>
            <a:ext cx="49819" cy="4971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99488" y="4971044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984" y="5000695"/>
            <a:ext cx="60649" cy="559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74577" y="4959523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472324" y="4978584"/>
            <a:ext cx="38989" cy="780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49666" y="4948001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46788" y="4972357"/>
            <a:ext cx="49819" cy="842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4755" y="4982566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21251" y="5012216"/>
            <a:ext cx="60649" cy="44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99844" y="4971044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97592" y="4990105"/>
            <a:ext cx="38989" cy="665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774933" y="4959523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72055" y="4983879"/>
            <a:ext cx="49819" cy="727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850022" y="4948001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46518" y="4977652"/>
            <a:ext cx="60649" cy="789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925111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22859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091416" y="4846320"/>
            <a:ext cx="77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20" name="Text 118"/>
          <p:cNvSpPr/>
          <p:nvPr/>
        </p:nvSpPr>
        <p:spPr>
          <a:xfrm>
            <a:off x="914400" y="5285232"/>
            <a:ext cx="2048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已选择3张 · 可自行调整顺序</a:t>
            </a:r>
            <a:endParaRPr lang="en-US" sz="940" dirty="0"/>
          </a:p>
        </p:txBody>
      </p:sp>
      <p:sp>
        <p:nvSpPr>
          <p:cNvPr id="121" name="Shape 119"/>
          <p:cNvSpPr/>
          <p:nvPr/>
        </p:nvSpPr>
        <p:spPr>
          <a:xfrm>
            <a:off x="914400" y="5650992"/>
            <a:ext cx="2048256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96696" y="573328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生成排版建议</a:t>
            </a:r>
            <a:endParaRPr lang="en-US" sz="1250" dirty="0"/>
          </a:p>
        </p:txBody>
      </p:sp>
      <p:sp>
        <p:nvSpPr>
          <p:cNvPr id="123" name="Shape 121"/>
          <p:cNvSpPr/>
          <p:nvPr/>
        </p:nvSpPr>
        <p:spPr>
          <a:xfrm>
            <a:off x="1605686" y="6080760"/>
            <a:ext cx="665683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401568" y="3813048"/>
            <a:ext cx="58521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261104" y="1947672"/>
            <a:ext cx="2596896" cy="4279392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9902" y="2093171"/>
            <a:ext cx="2259300" cy="19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880" dirty="0"/>
          </a:p>
        </p:txBody>
      </p:sp>
      <p:sp>
        <p:nvSpPr>
          <p:cNvPr id="127" name="Text 125"/>
          <p:cNvSpPr/>
          <p:nvPr/>
        </p:nvSpPr>
        <p:spPr>
          <a:xfrm>
            <a:off x="4429902" y="2371332"/>
            <a:ext cx="2259300" cy="14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25" dirty="0"/>
          </a:p>
        </p:txBody>
      </p:sp>
      <p:sp>
        <p:nvSpPr>
          <p:cNvPr id="128" name="Shape 126"/>
          <p:cNvSpPr/>
          <p:nvPr/>
        </p:nvSpPr>
        <p:spPr>
          <a:xfrm>
            <a:off x="4429902" y="2735080"/>
            <a:ext cx="2259300" cy="1797345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4407309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800000">
            <a:off x="4825280" y="2771027"/>
            <a:ext cx="587418" cy="158166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0">
            <a:off x="5243250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10800000">
            <a:off x="5661220" y="2771027"/>
            <a:ext cx="587418" cy="158166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800000">
            <a:off x="6079191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01018" y="3993221"/>
            <a:ext cx="1717068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68797" y="4011195"/>
            <a:ext cx="1581510" cy="125814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86385" y="4370664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481098" y="4415398"/>
            <a:ext cx="91502" cy="1170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662610" y="4345501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655855" y="4402661"/>
            <a:ext cx="116919" cy="1297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38835" y="4320338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30612" y="4389925"/>
            <a:ext cx="142336" cy="14250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061" y="4295175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09774" y="4339909"/>
            <a:ext cx="91502" cy="19251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191286" y="4370664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184531" y="4427824"/>
            <a:ext cx="116919" cy="1046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67512" y="4345501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59288" y="4415087"/>
            <a:ext cx="142336" cy="1173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43737" y="4320338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38450" y="4365072"/>
            <a:ext cx="91502" cy="1673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19962" y="4295175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13207" y="4352336"/>
            <a:ext cx="116919" cy="1800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96188" y="4370664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887964" y="4440250"/>
            <a:ext cx="142336" cy="921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72413" y="4345501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67126" y="4390235"/>
            <a:ext cx="91502" cy="1421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48638" y="4320338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41883" y="4377498"/>
            <a:ext cx="116919" cy="15492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24864" y="4295175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16640" y="4364762"/>
            <a:ext cx="142336" cy="16766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601089" y="4370664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595802" y="4415398"/>
            <a:ext cx="91502" cy="1170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21342" y="4322113"/>
            <a:ext cx="2076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63" name="Text 161"/>
          <p:cNvSpPr/>
          <p:nvPr/>
        </p:nvSpPr>
        <p:spPr>
          <a:xfrm>
            <a:off x="4429902" y="4660807"/>
            <a:ext cx="2259300" cy="35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4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04" dirty="0"/>
          </a:p>
        </p:txBody>
      </p:sp>
      <p:sp>
        <p:nvSpPr>
          <p:cNvPr id="164" name="Text 162"/>
          <p:cNvSpPr/>
          <p:nvPr/>
        </p:nvSpPr>
        <p:spPr>
          <a:xfrm>
            <a:off x="4429902" y="5105863"/>
            <a:ext cx="2259300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4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24" dirty="0"/>
          </a:p>
        </p:txBody>
      </p:sp>
      <p:sp>
        <p:nvSpPr>
          <p:cNvPr id="165" name="Shape 163"/>
          <p:cNvSpPr/>
          <p:nvPr/>
        </p:nvSpPr>
        <p:spPr>
          <a:xfrm>
            <a:off x="4429902" y="5354068"/>
            <a:ext cx="2259300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166" name="Text 164"/>
          <p:cNvSpPr/>
          <p:nvPr/>
        </p:nvSpPr>
        <p:spPr>
          <a:xfrm>
            <a:off x="4429902" y="5461053"/>
            <a:ext cx="2259300" cy="28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892" dirty="0"/>
          </a:p>
        </p:txBody>
      </p:sp>
      <p:sp>
        <p:nvSpPr>
          <p:cNvPr id="167" name="Text 165"/>
          <p:cNvSpPr/>
          <p:nvPr/>
        </p:nvSpPr>
        <p:spPr>
          <a:xfrm>
            <a:off x="4429902" y="5936065"/>
            <a:ext cx="225930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4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04" dirty="0"/>
          </a:p>
        </p:txBody>
      </p:sp>
      <p:sp>
        <p:nvSpPr>
          <p:cNvPr id="168" name="Text 166"/>
          <p:cNvSpPr/>
          <p:nvPr/>
        </p:nvSpPr>
        <p:spPr>
          <a:xfrm>
            <a:off x="7543800" y="23591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AI负责建议</a:t>
            </a:r>
            <a:endParaRPr lang="en-US" sz="2300" dirty="0"/>
          </a:p>
        </p:txBody>
      </p:sp>
      <p:sp>
        <p:nvSpPr>
          <p:cNvPr id="169" name="Text 167"/>
          <p:cNvSpPr/>
          <p:nvPr/>
        </p:nvSpPr>
        <p:spPr>
          <a:xfrm>
            <a:off x="7543800" y="303580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选哪张做封面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推荐哪个已设计模板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给两句可编辑的表达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7543800" y="45994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用户最后拍板</a:t>
            </a:r>
            <a:endParaRPr lang="en-US" sz="2300" dirty="0"/>
          </a:p>
        </p:txBody>
      </p:sp>
      <p:sp>
        <p:nvSpPr>
          <p:cNvPr id="171" name="Text 169"/>
          <p:cNvSpPr/>
          <p:nvPr/>
        </p:nvSpPr>
        <p:spPr>
          <a:xfrm>
            <a:off x="7543800" y="5239512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换图、调裁切、改文案、用原版。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拒绝AI建议也能继续。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现场卡是产品本体，不是最后附送的海报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核心结构：真实素材 + 已确认信息 + 个人选择 + 可控的分享入口。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889504" cy="4370832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9338" y="2023128"/>
            <a:ext cx="2513868" cy="201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9338" y="2307232"/>
            <a:ext cx="2513868" cy="14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5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95" dirty="0"/>
          </a:p>
        </p:txBody>
      </p:sp>
      <p:sp>
        <p:nvSpPr>
          <p:cNvPr id="11" name="Shape 9"/>
          <p:cNvSpPr/>
          <p:nvPr/>
        </p:nvSpPr>
        <p:spPr>
          <a:xfrm>
            <a:off x="919338" y="2678753"/>
            <a:ext cx="2513868" cy="1835749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894199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359265" y="2715468"/>
            <a:ext cx="653606" cy="161546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824330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289396" y="2715468"/>
            <a:ext cx="653606" cy="161546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2754462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1002" y="3963778"/>
            <a:ext cx="1910540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6418" y="3982135"/>
            <a:ext cx="1759708" cy="128502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184" y="43492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6302" y="4399060"/>
            <a:ext cx="101812" cy="1154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8266" y="4323585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750" y="4387185"/>
            <a:ext cx="130093" cy="12731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4348" y="4297884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65197" y="4375311"/>
            <a:ext cx="158374" cy="1391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0430" y="4272184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64547" y="4321958"/>
            <a:ext cx="101812" cy="19254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66511" y="4349285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995" y="4412886"/>
            <a:ext cx="130093" cy="10161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2593" y="4323585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3443" y="4401012"/>
            <a:ext cx="158374" cy="1134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58675" y="4297884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2792" y="4347659"/>
            <a:ext cx="101812" cy="16684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4757" y="4272184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7240" y="4335784"/>
            <a:ext cx="130093" cy="1787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0838" y="4349285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41688" y="4426712"/>
            <a:ext cx="158374" cy="877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6920" y="43235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1038" y="4373359"/>
            <a:ext cx="101812" cy="1411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3002" y="4297884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35485" y="4361485"/>
            <a:ext cx="130093" cy="1530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39084" y="4272184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29933" y="4349611"/>
            <a:ext cx="158374" cy="16489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5165" y="43492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9283" y="4399060"/>
            <a:ext cx="101812" cy="1154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0778" y="4304191"/>
            <a:ext cx="23309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19338" y="4645627"/>
            <a:ext cx="2513868" cy="35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96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896" dirty="0"/>
          </a:p>
        </p:txBody>
      </p:sp>
      <p:sp>
        <p:nvSpPr>
          <p:cNvPr id="47" name="Text 45"/>
          <p:cNvSpPr/>
          <p:nvPr/>
        </p:nvSpPr>
        <p:spPr>
          <a:xfrm>
            <a:off x="919338" y="5100194"/>
            <a:ext cx="2513868" cy="17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6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916" dirty="0"/>
          </a:p>
        </p:txBody>
      </p:sp>
      <p:sp>
        <p:nvSpPr>
          <p:cNvPr id="48" name="Shape 46"/>
          <p:cNvSpPr/>
          <p:nvPr/>
        </p:nvSpPr>
        <p:spPr>
          <a:xfrm>
            <a:off x="919338" y="5353702"/>
            <a:ext cx="2513868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19338" y="5462973"/>
            <a:ext cx="2513868" cy="29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992" dirty="0"/>
          </a:p>
        </p:txBody>
      </p:sp>
      <p:sp>
        <p:nvSpPr>
          <p:cNvPr id="50" name="Text 48"/>
          <p:cNvSpPr/>
          <p:nvPr/>
        </p:nvSpPr>
        <p:spPr>
          <a:xfrm>
            <a:off x="919338" y="5948135"/>
            <a:ext cx="2513868" cy="15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4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84" dirty="0"/>
          </a:p>
        </p:txBody>
      </p:sp>
      <p:sp>
        <p:nvSpPr>
          <p:cNvPr id="51" name="Text 49"/>
          <p:cNvSpPr/>
          <p:nvPr/>
        </p:nvSpPr>
        <p:spPr>
          <a:xfrm>
            <a:off x="4206240" y="198424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818888" y="198424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作品身份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6675120" y="1984248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现场卡编号只标识作品，不代表官方门票或到场凭证。</a:t>
            </a:r>
            <a:endParaRPr lang="en-US" sz="1460" dirty="0"/>
          </a:p>
        </p:txBody>
      </p:sp>
      <p:sp>
        <p:nvSpPr>
          <p:cNvPr id="54" name="Shape 52"/>
          <p:cNvSpPr/>
          <p:nvPr/>
        </p:nvSpPr>
        <p:spPr>
          <a:xfrm>
            <a:off x="4206240" y="2624328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2779776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818888" y="277977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视觉主体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6675120" y="2779776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原始照片不生成陌生人物，不伪造舞台、合照或拍摄视角。</a:t>
            </a:r>
            <a:endParaRPr lang="en-US" sz="1460" dirty="0"/>
          </a:p>
        </p:txBody>
      </p:sp>
      <p:sp>
        <p:nvSpPr>
          <p:cNvPr id="58" name="Shape 56"/>
          <p:cNvSpPr/>
          <p:nvPr/>
        </p:nvSpPr>
        <p:spPr>
          <a:xfrm>
            <a:off x="4206240" y="3419856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57530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818888" y="35753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音乐关联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6675120" y="3575304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演出名称、日期与自己喜欢的歌曲，比泛泛文案更重要。</a:t>
            </a:r>
            <a:endParaRPr lang="en-US" sz="1460" dirty="0"/>
          </a:p>
        </p:txBody>
      </p:sp>
      <p:sp>
        <p:nvSpPr>
          <p:cNvPr id="62" name="Shape 60"/>
          <p:cNvSpPr/>
          <p:nvPr/>
        </p:nvSpPr>
        <p:spPr>
          <a:xfrm>
            <a:off x="4206240" y="4215384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0" y="437083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4818888" y="437083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个人表达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6675120" y="4370832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一句用户认可的话，可留空；不替用户编“没旅游”等经历。</a:t>
            </a:r>
            <a:endParaRPr lang="en-US" sz="1460" dirty="0"/>
          </a:p>
        </p:txBody>
      </p:sp>
      <p:sp>
        <p:nvSpPr>
          <p:cNvPr id="66" name="Shape 64"/>
          <p:cNvSpPr/>
          <p:nvPr/>
        </p:nvSpPr>
        <p:spPr>
          <a:xfrm>
            <a:off x="4206240" y="5010912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51663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4818888" y="516636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来源与权限</a:t>
            </a:r>
            <a:endParaRPr lang="en-US" sz="1900" dirty="0"/>
          </a:p>
        </p:txBody>
      </p:sp>
      <p:sp>
        <p:nvSpPr>
          <p:cNvPr id="69" name="Text 67"/>
          <p:cNvSpPr/>
          <p:nvPr/>
        </p:nvSpPr>
        <p:spPr>
          <a:xfrm>
            <a:off x="6675120" y="5166360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署名、AI标识与可见范围；公开页不暴露私人档案。</a:t>
            </a:r>
            <a:endParaRPr lang="en-US" sz="14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“我也在”的按钮，在我们的卡页里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朋友圈／社交平台上的图片负责吸引；交互发生在用户打开的网页中。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[R06]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578608" cy="4334256"/>
          </a:xfrm>
          <a:prstGeom prst="roundRect">
            <a:avLst>
              <a:gd name="adj" fmla="val 6383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1988820"/>
            <a:ext cx="2441448" cy="4197096"/>
          </a:xfrm>
          <a:prstGeom prst="roundRect">
            <a:avLst>
              <a:gd name="adj" fmla="val 4869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0" y="206654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6112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Lin的现场卡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" y="2788920"/>
            <a:ext cx="2249424" cy="2157984"/>
          </a:xfrm>
          <a:prstGeom prst="rect">
            <a:avLst/>
          </a:prstGeom>
          <a:solidFill>
            <a:srgbClr val="1B2327"/>
          </a:solidFill>
          <a:ln w="8890">
            <a:solidFill>
              <a:srgbClr val="4B56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2862072"/>
            <a:ext cx="2103120" cy="1035832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948233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337310" y="2882789"/>
            <a:ext cx="546811" cy="911532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726387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2115464" y="2882789"/>
            <a:ext cx="546811" cy="911532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504542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1638" y="3587155"/>
            <a:ext cx="1598371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4732" y="3597513"/>
            <a:ext cx="1472184" cy="72508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1842" y="3804679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921" y="3846321"/>
            <a:ext cx="85176" cy="5158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5885" y="3790178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9597" y="3843387"/>
            <a:ext cx="108836" cy="545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9929" y="3775676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42273" y="3840452"/>
            <a:ext cx="132497" cy="5745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3972" y="3761174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9051" y="3802816"/>
            <a:ext cx="85176" cy="9508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78015" y="3804679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71727" y="3857888"/>
            <a:ext cx="108836" cy="400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42059" y="3790178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34403" y="3854954"/>
            <a:ext cx="132497" cy="4295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6102" y="3775676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1181" y="3817318"/>
            <a:ext cx="85176" cy="8058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0146" y="3761174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63857" y="3814383"/>
            <a:ext cx="108836" cy="8352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34189" y="3804679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26534" y="3869456"/>
            <a:ext cx="132497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98232" y="3790178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93311" y="3831820"/>
            <a:ext cx="85176" cy="660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2276" y="3775676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5987" y="3828885"/>
            <a:ext cx="108836" cy="690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26319" y="3761174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8664" y="3825951"/>
            <a:ext cx="132497" cy="719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90362" y="3804679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85441" y="3846321"/>
            <a:ext cx="85176" cy="5158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3687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987552" y="393265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" y="442898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09.12  /  个人记录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96112" y="5129784"/>
            <a:ext cx="1057229" cy="429768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" y="5212080"/>
            <a:ext cx="892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我也在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088307" y="5129784"/>
            <a:ext cx="1057229" cy="429768"/>
          </a:xfrm>
          <a:prstGeom prst="rect">
            <a:avLst/>
          </a:prstGeom>
          <a:solidFill>
            <a:srgbClr val="27312B"/>
          </a:solidFill>
          <a:ln w="8890">
            <a:solidFill>
              <a:srgbClr val="2731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70603" y="5212080"/>
            <a:ext cx="892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我也喜欢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96112" y="5760720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公开卡页 · 不开放作者私人档案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1659819" y="6099048"/>
            <a:ext cx="722010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41064" y="2313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我也在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3941064" y="2971800"/>
            <a:ext cx="3310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自述记录同一活动。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没有成员资格时，不直接进入私有相册。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7772400" y="2313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我也喜欢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7772400" y="2971800"/>
            <a:ext cx="3474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表达对卡片或音乐的喜欢。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不标记为到场，不扩大社交权限。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3941064" y="4498848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技术边界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3941064" y="5102352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静态图片可带公开卡链接入口；系统分享需检测兼容性。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没有平台授权时，不承诺在朋友圈原生插入自定义按钮。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交换现场：交换一张卡，不是打开一个人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交换成立之前，要让双方看懂：谁、哪张卡、什么权限、能否撤回。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956816"/>
            <a:ext cx="2651760" cy="4261104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324" y="2101694"/>
            <a:ext cx="2307031" cy="19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9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899" dirty="0"/>
          </a:p>
        </p:txBody>
      </p:sp>
      <p:sp>
        <p:nvSpPr>
          <p:cNvPr id="10" name="Text 8"/>
          <p:cNvSpPr/>
          <p:nvPr/>
        </p:nvSpPr>
        <p:spPr>
          <a:xfrm>
            <a:off x="995324" y="2378665"/>
            <a:ext cx="2307031" cy="14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38" dirty="0"/>
          </a:p>
        </p:txBody>
      </p:sp>
      <p:sp>
        <p:nvSpPr>
          <p:cNvPr id="11" name="Shape 9"/>
          <p:cNvSpPr/>
          <p:nvPr/>
        </p:nvSpPr>
        <p:spPr>
          <a:xfrm>
            <a:off x="995324" y="2740859"/>
            <a:ext cx="2307031" cy="1789664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972254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399055" y="2776652"/>
            <a:ext cx="599828" cy="1574904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825856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252656" y="2776652"/>
            <a:ext cx="599828" cy="1574904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2679457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2168" y="3993624"/>
            <a:ext cx="1753344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1379" y="4011520"/>
            <a:ext cx="1614922" cy="125276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3000" y="436945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7602" y="4415132"/>
            <a:ext cx="93435" cy="1153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2949" y="4344398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6051" y="4402766"/>
            <a:ext cx="119389" cy="12775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2897" y="4319343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4499" y="4390399"/>
            <a:ext cx="145343" cy="14012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2845" y="4294287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7447" y="4339966"/>
            <a:ext cx="93435" cy="19055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2794" y="4369453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65896" y="4427821"/>
            <a:ext cx="119389" cy="10270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2742" y="4344398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4345" y="4415454"/>
            <a:ext cx="145343" cy="1150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32691" y="431934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7292" y="4365022"/>
            <a:ext cx="93435" cy="1655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12639" y="4294287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05741" y="4352655"/>
            <a:ext cx="119389" cy="1778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92588" y="4369453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84190" y="4440510"/>
            <a:ext cx="145343" cy="9001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2536" y="4344398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67138" y="4390077"/>
            <a:ext cx="93435" cy="14044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52485" y="4319343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45586" y="4377710"/>
            <a:ext cx="119389" cy="15281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2433" y="4294287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24035" y="4365344"/>
            <a:ext cx="145343" cy="16517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12381" y="436945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6983" y="4415132"/>
            <a:ext cx="93435" cy="1153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86764" y="4320211"/>
            <a:ext cx="21241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95324" y="4658356"/>
            <a:ext cx="2307031" cy="34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40" dirty="0"/>
          </a:p>
        </p:txBody>
      </p:sp>
      <p:sp>
        <p:nvSpPr>
          <p:cNvPr id="47" name="Text 45"/>
          <p:cNvSpPr/>
          <p:nvPr/>
        </p:nvSpPr>
        <p:spPr>
          <a:xfrm>
            <a:off x="995324" y="5101511"/>
            <a:ext cx="2307031" cy="166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41" dirty="0"/>
          </a:p>
        </p:txBody>
      </p:sp>
      <p:sp>
        <p:nvSpPr>
          <p:cNvPr id="48" name="Shape 46"/>
          <p:cNvSpPr/>
          <p:nvPr/>
        </p:nvSpPr>
        <p:spPr>
          <a:xfrm>
            <a:off x="995324" y="5348655"/>
            <a:ext cx="2307031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95324" y="5455182"/>
            <a:ext cx="2307031" cy="28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911" dirty="0"/>
          </a:p>
        </p:txBody>
      </p:sp>
      <p:sp>
        <p:nvSpPr>
          <p:cNvPr id="50" name="Text 48"/>
          <p:cNvSpPr/>
          <p:nvPr/>
        </p:nvSpPr>
        <p:spPr>
          <a:xfrm>
            <a:off x="995324" y="5928165"/>
            <a:ext cx="2307031" cy="14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9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19" dirty="0"/>
          </a:p>
        </p:txBody>
      </p:sp>
      <p:sp>
        <p:nvSpPr>
          <p:cNvPr id="51" name="Shape 49"/>
          <p:cNvSpPr/>
          <p:nvPr/>
        </p:nvSpPr>
        <p:spPr>
          <a:xfrm>
            <a:off x="8741664" y="1956816"/>
            <a:ext cx="2651760" cy="4261104"/>
          </a:xfrm>
          <a:prstGeom prst="rect">
            <a:avLst/>
          </a:prstGeom>
          <a:solidFill>
            <a:srgbClr val="EEEFE6"/>
          </a:solidFill>
          <a:ln w="8890">
            <a:solidFill>
              <a:srgbClr val="AEB8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4028" y="2101694"/>
            <a:ext cx="2307031" cy="18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6" b="1" dirty="0">
                <a:solidFill>
                  <a:srgbClr val="101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CONTACT SHEET</a:t>
            </a:r>
            <a:endParaRPr lang="en-US" sz="856" dirty="0"/>
          </a:p>
        </p:txBody>
      </p:sp>
      <p:sp>
        <p:nvSpPr>
          <p:cNvPr id="53" name="Text 51"/>
          <p:cNvSpPr/>
          <p:nvPr/>
        </p:nvSpPr>
        <p:spPr>
          <a:xfrm>
            <a:off x="8914028" y="2348838"/>
            <a:ext cx="2307031" cy="14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6267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8914028" y="2566154"/>
            <a:ext cx="2307031" cy="38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98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98" dirty="0"/>
          </a:p>
        </p:txBody>
      </p:sp>
      <p:sp>
        <p:nvSpPr>
          <p:cNvPr id="55" name="Text 53"/>
          <p:cNvSpPr/>
          <p:nvPr/>
        </p:nvSpPr>
        <p:spPr>
          <a:xfrm>
            <a:off x="8914028" y="3017831"/>
            <a:ext cx="2307031" cy="166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2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12" dirty="0"/>
          </a:p>
        </p:txBody>
      </p:sp>
      <p:sp>
        <p:nvSpPr>
          <p:cNvPr id="56" name="Shape 54"/>
          <p:cNvSpPr/>
          <p:nvPr/>
        </p:nvSpPr>
        <p:spPr>
          <a:xfrm>
            <a:off x="8914028" y="3320369"/>
            <a:ext cx="2307031" cy="1099365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8890958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9317759" y="3342357"/>
            <a:ext cx="599828" cy="96744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0800000">
            <a:off x="9744560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10171360" y="3342357"/>
            <a:ext cx="599828" cy="96744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10598161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90872" y="4089925"/>
            <a:ext cx="1753344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60083" y="4100918"/>
            <a:ext cx="1614922" cy="76956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71704" y="4320791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66306" y="4366470"/>
            <a:ext cx="93435" cy="532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51653" y="4305400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755" y="4363768"/>
            <a:ext cx="119389" cy="5596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31601" y="4290009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23203" y="4361066"/>
            <a:ext cx="145343" cy="586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11549" y="4274618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06151" y="4320297"/>
            <a:ext cx="93435" cy="994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1498" y="4320791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84600" y="4379159"/>
            <a:ext cx="119389" cy="405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71446" y="4305400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63049" y="4376457"/>
            <a:ext cx="145343" cy="4327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1395" y="4290009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45996" y="4335688"/>
            <a:ext cx="93435" cy="8404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31343" y="4274618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24445" y="4332986"/>
            <a:ext cx="119389" cy="867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11292" y="4320791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402894" y="4391848"/>
            <a:ext cx="145343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91240" y="4305400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85842" y="4351079"/>
            <a:ext cx="93435" cy="6865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71189" y="4290009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64290" y="4348377"/>
            <a:ext cx="119389" cy="7135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951137" y="4274618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42739" y="4345675"/>
            <a:ext cx="145343" cy="7406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31085" y="4320791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125687" y="4366470"/>
            <a:ext cx="93435" cy="532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05468" y="4209422"/>
            <a:ext cx="21241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91" name="Shape 89"/>
          <p:cNvSpPr/>
          <p:nvPr/>
        </p:nvSpPr>
        <p:spPr>
          <a:xfrm>
            <a:off x="8914028" y="4504956"/>
            <a:ext cx="1104458" cy="566727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800000">
            <a:off x="8902984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10800000">
            <a:off x="9107309" y="4516291"/>
            <a:ext cx="287159" cy="49872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0800000">
            <a:off x="9311633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10800000">
            <a:off x="9515958" y="4516291"/>
            <a:ext cx="287159" cy="49872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10800000">
            <a:off x="9720283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46563" y="4901665"/>
            <a:ext cx="839388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79697" y="4907332"/>
            <a:ext cx="773121" cy="39671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41640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39055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27788" y="5012743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24485" y="5040686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13935" y="5004809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09915" y="5038827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200083" y="4996875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97499" y="5018743"/>
            <a:ext cx="44731" cy="5294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286231" y="5020678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282928" y="5048620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372378" y="5012743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368358" y="5046761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58526" y="5004809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55942" y="5026678"/>
            <a:ext cx="44731" cy="4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544674" y="4996875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541372" y="5024818"/>
            <a:ext cx="57156" cy="468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30822" y="5020678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626801" y="5054695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716969" y="5012743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14385" y="5034612"/>
            <a:ext cx="44731" cy="3707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803117" y="5004809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99815" y="5032752"/>
            <a:ext cx="57156" cy="3893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889265" y="4996875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885245" y="5030892"/>
            <a:ext cx="69581" cy="407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75413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972828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005468" y="4861371"/>
            <a:ext cx="9215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26" name="Shape 124"/>
          <p:cNvSpPr/>
          <p:nvPr/>
        </p:nvSpPr>
        <p:spPr>
          <a:xfrm>
            <a:off x="10116602" y="4504956"/>
            <a:ext cx="1104458" cy="566727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10800000">
            <a:off x="10105557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10800000">
            <a:off x="10309882" y="4516291"/>
            <a:ext cx="287159" cy="498720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10514206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800000">
            <a:off x="10718531" y="4516291"/>
            <a:ext cx="287159" cy="498720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0">
            <a:off x="10922856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49137" y="4901665"/>
            <a:ext cx="839388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282270" y="4907332"/>
            <a:ext cx="773121" cy="39671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144213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141629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30361" y="5012743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227058" y="5040686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316508" y="5004809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312488" y="5038827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02656" y="4996875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400072" y="5018743"/>
            <a:ext cx="44731" cy="5294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88804" y="5020678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485502" y="5048620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574952" y="5012743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570931" y="5046761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61099" y="5004809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658515" y="5026678"/>
            <a:ext cx="44731" cy="4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747247" y="4996875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743945" y="5024818"/>
            <a:ext cx="57156" cy="468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833395" y="5020678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829375" y="5054695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19543" y="5012743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916958" y="5034612"/>
            <a:ext cx="44731" cy="3707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1005690" y="5004809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1002388" y="5032752"/>
            <a:ext cx="57156" cy="3893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91838" y="4996875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87818" y="5030892"/>
            <a:ext cx="69581" cy="407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177986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175401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208042" y="4861371"/>
            <a:ext cx="9215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61" name="Text 159"/>
          <p:cNvSpPr/>
          <p:nvPr/>
        </p:nvSpPr>
        <p:spPr>
          <a:xfrm>
            <a:off x="8914028" y="5114294"/>
            <a:ext cx="2307031" cy="11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4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主舞台    02 灯光    03 人海</a:t>
            </a:r>
            <a:endParaRPr lang="en-US" sz="594" dirty="0"/>
          </a:p>
        </p:txBody>
      </p:sp>
      <p:sp>
        <p:nvSpPr>
          <p:cNvPr id="162" name="Shape 160"/>
          <p:cNvSpPr/>
          <p:nvPr/>
        </p:nvSpPr>
        <p:spPr>
          <a:xfrm>
            <a:off x="8914028" y="5327349"/>
            <a:ext cx="2307031" cy="0"/>
          </a:xfrm>
          <a:prstGeom prst="line">
            <a:avLst/>
          </a:prstGeom>
          <a:noFill/>
          <a:ln w="8255">
            <a:solidFill>
              <a:srgbClr val="AEB8AA"/>
            </a:solidFill>
            <a:prstDash val="dash"/>
          </a:ln>
        </p:spPr>
      </p:sp>
      <p:sp>
        <p:nvSpPr>
          <p:cNvPr id="163" name="Text 161"/>
          <p:cNvSpPr/>
          <p:nvPr/>
        </p:nvSpPr>
        <p:spPr>
          <a:xfrm>
            <a:off x="8914028" y="5455182"/>
            <a:ext cx="2307031" cy="27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8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把这一夜，收进三格画面。</a:t>
            </a:r>
            <a:endParaRPr lang="en-US" sz="908" dirty="0"/>
          </a:p>
        </p:txBody>
      </p:sp>
      <p:sp>
        <p:nvSpPr>
          <p:cNvPr id="164" name="Text 162"/>
          <p:cNvSpPr/>
          <p:nvPr/>
        </p:nvSpPr>
        <p:spPr>
          <a:xfrm>
            <a:off x="8914028" y="5906859"/>
            <a:ext cx="2307031" cy="14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9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阿遥  ·  今晚最佳：返场</a:t>
            </a:r>
            <a:endParaRPr lang="en-US" sz="719" dirty="0"/>
          </a:p>
        </p:txBody>
      </p:sp>
      <p:sp>
        <p:nvSpPr>
          <p:cNvPr id="165" name="Shape 163"/>
          <p:cNvSpPr/>
          <p:nvPr/>
        </p:nvSpPr>
        <p:spPr>
          <a:xfrm>
            <a:off x="3767328" y="3584448"/>
            <a:ext cx="932688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8183880" y="4032504"/>
            <a:ext cx="-932688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67" name="Text 165"/>
          <p:cNvSpPr/>
          <p:nvPr/>
        </p:nvSpPr>
        <p:spPr>
          <a:xfrm>
            <a:off x="4626864" y="245973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我们都选了返场</a:t>
            </a:r>
            <a:endParaRPr lang="en-US" sz="2400" dirty="0"/>
          </a:p>
        </p:txBody>
      </p:sp>
      <p:sp>
        <p:nvSpPr>
          <p:cNvPr id="168" name="Text 166"/>
          <p:cNvSpPr/>
          <p:nvPr/>
        </p:nvSpPr>
        <p:spPr>
          <a:xfrm>
            <a:off x="4626864" y="3410712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“你拍到人海，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我拍到灯光。”</a:t>
            </a:r>
            <a:endParaRPr lang="en-US" sz="2100" dirty="0"/>
          </a:p>
        </p:txBody>
      </p:sp>
      <p:sp>
        <p:nvSpPr>
          <p:cNvPr id="169" name="Shape 167"/>
          <p:cNvSpPr/>
          <p:nvPr/>
        </p:nvSpPr>
        <p:spPr>
          <a:xfrm>
            <a:off x="4690872" y="4773168"/>
            <a:ext cx="2852928" cy="493776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773168" y="4855464"/>
            <a:ext cx="26883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申请交换指定现场卡</a:t>
            </a:r>
            <a:endParaRPr lang="en-US" sz="1250" dirty="0"/>
          </a:p>
        </p:txBody>
      </p:sp>
      <p:sp>
        <p:nvSpPr>
          <p:cNvPr id="171" name="Text 169"/>
          <p:cNvSpPr/>
          <p:nvPr/>
        </p:nvSpPr>
        <p:spPr>
          <a:xfrm>
            <a:off x="3941064" y="56052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默认仅站内查看 · 不自动允许再发布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音乐生活档案：留下自己的记录，而不是长期暴露行踪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P0做可恢复的私有档案列表；跨年统计与公开身份卡放到P1。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5577840" cy="4087368"/>
          </a:xfrm>
          <a:prstGeom prst="rect">
            <a:avLst/>
          </a:prstGeom>
          <a:solidFill>
            <a:srgbClr val="182024"/>
          </a:solidFill>
          <a:ln w="8890">
            <a:solidFill>
              <a:srgbClr val="3E4E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3172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/ LIVE ARCHIVE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136392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03.14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48256" y="31363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第一场回声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0056" y="313639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502152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02736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04.21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360273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夜色合奏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0056" y="360273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3968496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69080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06.08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48256" y="406908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校园夏夜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0056" y="406908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4434840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35424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08.19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48256" y="45354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夏日回声节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0056" y="453542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长沙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4901184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001768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09.12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48256" y="5001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0056" y="500176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5840" y="5367528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6875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虚构记录示例 · 默认仅本人可见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004304" y="2414016"/>
            <a:ext cx="4352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三条明确边界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04304" y="3136392"/>
            <a:ext cx="433425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房间关闭，不删除已同意保存的个人记录。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他人照片的长期使用，仍要看授权。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用户随时能导出、修改或删除自己的档案。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AI架构：受约束的建议，不是自由生成整张卡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把事实、创意与执行分开，才能同时兼顾可编辑性和稳定性。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确认输入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活动事实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授权的1–3张素材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用户自己的感受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452421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827325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827325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7325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模型建议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827325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视觉构图标签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模板与封面建议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有限短句候选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712818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87722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87722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7722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87722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JSON结构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素材ID白名单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长度与事实约束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973214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48118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348118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8118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确定性渲染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348118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固定版式组件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锁定事实与署名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处理字体和裁切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233611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608515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9608515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8515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608515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编辑／拒绝建议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保存独立版本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再决定是否公开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66928" y="5678424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815584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模型不负责权限、统计数字、到场认证、发布动作或生成可执行代码。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三周能否完成，取决于两人可投入的真实工时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计划假设：2人 × 21天 × 每人每天3小时 ≈ 126人时；不是赛事截止日期。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先有一张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真正能导出的卡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确定范围与授权素材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入口、记录、上传、模板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两台手机完成基础流程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不能导出就不加社交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接上AI建议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与双向交换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结构化输出与回退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独立公开页和权限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请求、接受、撤回、屏蔽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私人档案与恢复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验证、修复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冻结与演示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真机测试与小范围试点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审核、删除、日志、预算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冻结功能，处理阻断问题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路演彩排与备用录屏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669280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806440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任务基线约100人时 + 25人时缓冲；实际可用时间不足，就按P0降级，不靠熬夜承诺补齐。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三分钟演示：少说功能，多让两台手机真的互动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预置的是虚构活动与许可素材；真实演示的是上传、制作、交换和导出。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75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65124" y="2249424"/>
            <a:ext cx="458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演示动作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72055" y="2249424"/>
            <a:ext cx="40219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评委看到的证据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00:00–00:30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65124" y="2683764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A选择预置活动，上传自己的测试素材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2055" y="2683764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不是只播页面动画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91256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91256"/>
            <a:ext cx="11027664" cy="612648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6412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00:30–01:15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65124" y="3296412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AI给建议，A改封面和文字，真实导出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2055" y="3296412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可编辑、可回退、有产物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803904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803904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09060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01:15–01:50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65124" y="3909060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公开独立卡页，B打开并回应“我也在”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2055" y="3909060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按钮发生在本站；不伪装朋友圈能力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16552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416552"/>
            <a:ext cx="11027664" cy="612648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21708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01:50–02:30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65124" y="4521708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B申请交换，A确认，双方看到指定卡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72055" y="4521708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双向同意与多设备真实状态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5029200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029200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134356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02:30–03:00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65124" y="5134356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展示私人档案，再撤回一个公开链接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72055" y="5134356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长期价值与可控分享同时成立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5641848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806440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943600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网络或模型失败时，明确切换模板保底／备用录屏；不把录屏、缓存与示例数据冒充实时结果。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下一步：先做一张你们真的愿意发出去的卡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不先写完整社区，不先接蓝牙，不先采购一堆服务。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2057400"/>
            <a:ext cx="802843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记录，是起点。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值得留下，才有分享。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愿意交换，再成为同场。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4754880"/>
            <a:ext cx="10872216" cy="0"/>
          </a:xfrm>
          <a:prstGeom prst="line">
            <a:avLst/>
          </a:prstGeom>
          <a:noFill/>
          <a:ln w="12700">
            <a:solidFill>
              <a:srgbClr val="3443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首个里程碑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5129784"/>
            <a:ext cx="8458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确认素材与2套模板 → 生成真实PNG → 找约10人试用 → 再决定社交扩展。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同场项目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同场｜产品设计与制作团队执行方案</dc:title>
  <dc:subject>音乐现场卡、档案与轻社交产品设计</dc:subject>
  <dc:creator>同场制作团队｜方案协作</dc:creator>
  <cp:lastModifiedBy>同场制作团队｜方案协作</cp:lastModifiedBy>
  <cp:revision>1</cp:revision>
  <dcterms:created xsi:type="dcterms:W3CDTF">2026-09-17T13:53:43Z</dcterms:created>
  <dcterms:modified xsi:type="dcterms:W3CDTF">2026-09-17T13:53:43Z</dcterms:modified>
</cp:coreProperties>
</file>