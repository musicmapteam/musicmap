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交付是产品设计与可点击界面原型，不等同于真实App或比赛要求的在线业务Demo。两案采用同等数量的核心屏幕、同样的版式精度与相同的比较条件。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本文件包含20张核心手机界面（每案10张），额外提供异常态及对比构图。网页原型从PPT渲染导出并保留点击热区，不是实际产品部署。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不对获奖率给百分比。Map的推荐依赖前置核验；Space比较的是最新先成卡版本，不是必须聚集多人才能用的旧版本。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不引用腾讯云Agent Hackathon等不同赛事。日期仅按CUHK招聘通知，官方动态页面未完整解析。音乐素材支持并不等于任意曲库授权。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R01｜赛事赛题 / FAQ / 评审细则 / 提交表
用户在本对话提供的5张比赛截图。三项评审无公开数值权重；团队不超过2人；二选一赛道；初赛暂无官方API；可访问在线Demo。
R02｜腾讯音乐｜赛事官方入口
https://join.tencentmusic.com/ai-hackathon/
确认赛事名称与官方入口；动态正文未完整解析。
R03｜香港中文大学（深圳）｜赛事通知
https://career.cuhk.edu.cn/en/job/view/id/469539
2026-09-16发布；页面列Deadline 2026-10-09。具体时间及对应环节仍需官方确认。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已有规划文档不等于可运行代码。时间和资源等设定用于本次公平比较，不是对实际团队分工与资源的推断。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R12｜此前Music Space完整方案
本对话生成的《同场_完整产品设计与团队执行方案_60页.pptx》；保留先成卡、再自愿社交及私有档案的最新范围，不是实施证明。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原创几何海报和字母/汉字头像用于占位；不嵌入真实音乐人照片或音乐专辑素材。字体未打包分发。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本节展示Space的10个核心状态：入口、素材、编辑、成卡、分享权限、同场、请求、成功、档案、记录。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S01 先让人
留下这一晚
“我想有一份属于自己的现场记录，
不想先注册一个新社交平台。”
价值先出现：首页直接展示产出样式，不先推交友或长注册。
单人也成立：自己带来照片，就能完成一张卡和私人记录。
减少进入成本：预设示例用于试用；正式上传、账号及恢复需开发。
交互：点击“制作我的现场卡”，进入素材页；
点击底部“档案”，查看私人记录。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S02 选素材，
确认现场信息
“照片是我的，演出信息也由我确认。”
三步清晰：素材、排版、公开范围分开，避免一次填太多。
事实由人确认：演出名称、日期、城市不交给模型自由猜测。
最小数据输入：只处理被主动选择的照片；不扫描完整相册。
交互：点击“下一步”，进入现场卡编辑。
上传和更换照片在此为界面示意。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S03 AI给建议，
我来定稿
“我不是来写提示词的，
我要一张像我、又好看的卡。”
先有稳定模板：不用生成整张不可编辑图片；卡片文字与素材独立。
AI不伪造经历：建议封面、配色与短句，原始照片与活动事实保持不变。
保留拒绝权：用户能修改、拒绝建议；模型超时也不阻断成卡。
交互：点击“预览现场卡”进入成卡页。
模板切换与文本输入为设计控件。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S04 产出本身，
值得保存
“声音结束以后，
我还想留下这一晚。”
主产出是现场卡：演出信息、照片和个人选择形成完整对象，不只是一句文案。
音乐是组织方式：今晚最佳、歌曲或环节让它区别于一般活动模板。
不冒充到场证据：卡号只是作品标识；没有核验，不加VERIFIED标章。
交互：保存到档案 → S09；
选择分享范围 → S05。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S05 分享要轻，
权限要清楚
“我愿意发这张卡，
但不公开全部生活档案。”
单张授权：公开对象仅为卡片快照，不顺带开放私人档案。
保存不强制社交：选择仅自己保存，仍能使用核心功能。
撤回边界明确：站内撤回可以控制；他人已导出的图片无法远程召回。
交互：确认公开 → 同场页面。
本原型不会真的发布任何内容。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S06 先遇见照片，
再遇见一个人
“原来你也拍到了这一刻。”
具体交流理由：共同歌曲与同一演出环节，比泛泛匹配分数更可解释。
内容先行：没有社交意愿的人，也能浏览与保留自己的记录。
人数不造假：示例成员不得包装成真实在线观众或现场到场人数。
交互：点击阿遥卡片下的“交换这一晚”，
进入双向交换说明页。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S07 交换的是现场，
不是默认好友
“我愿意交换一张卡，
还没决定把联系方式给你。”
低压力邀请：邀请围绕具体照片和共同环节展开。
两个同意分开：同意换卡，不等于同意公开联系方式或建立好友关系。
必须防骚扰：正式版需要频率限制、撤回、拒绝与屏蔽。
交互：点击发送，跳到“双方同意”的成功示意。
真实产品必须等待对方独立确认。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S08 你的舞台，
补上我的人海
“一张我拍的，一张你拍的，
才更像完整的一晚。”
交换后有结果：两张不同视角并列呈现，让连接产生明确价值。
不绑架关系：没有匹配评分，也不要求接着聊天。
二次使用需授权：收到卡片，不自动获得再次公开对方照片的权利。
交互：收进档案 → S09；继续看同场 → S06。
成功状态是模拟，不是实际多端同步。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S09 不是打卡数量，
是自己的记忆
“一年以后再打开，
我想知道那几个夜晚发生了什么。”
私人档案为默认：公开一张卡和保存个人历史，是两套独立权限。
不急着做人格：先把记录保存、恢复、修改与删除做好。
真实留存待验证：跨场次积累是设想；不能据此声称用户已经持续使用。
交互：点击任意记录，进入私人详情。
页内数量与日期为虚构示例。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S10 保存、展示、交流，
由我选择
“这张卡可以属于我自己，
也可以成为分享的开始。”
清楚说明素材来源：区分自己上传与交换收到的内容。
记录和房间分离：临时同场空间关闭，不应误删用户获准保存的私人记录。
停止线明确：首版不做蓝牙雷达、全场自动匹配或完整私聊。
交互：为这张卡设置分享 → S05；
返回 → S09。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异常态是正式开发需要实现的验收要求，不代表本原型有真实文件上传、AI服务和权限后端。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本页为竞争力推断。需用真实研究证据而非虚构统计支撑，不能把用户愿意保存推成长期留存。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R07｜Concert Archives｜官方产品介绍
https://www.concertarchives.org/
个人演出历史、照片、视频、歌单与分享已有产品先例。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图谱使用虚构艺人和作品，避免将未经核验的真实音乐人关系写入原型。正式参赛需要替换为有来源的关系与允许使用的音频。本原型无实际音频播放。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M01 今天，
从谁出发？
“我有熟悉的歌手，
但不想再只听同一批歌。”
默认入口可玩：不把空白搜索框当作唯一引导；给一条可立即开始的路径。
两种动机共存：漫游满足好奇，挑战提供目标，不强迫所有人竞速。
明确覆盖范围：未接入全曲库；正式版仅搜索已收录艺人。
交互：从林曜出发 → M02；
今日路线挑战 → M06。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M02 不是蜘蛛网，
是一组可选方向
“不用一次看见所有人，
只想知道下一步为什么点。”
小范围清晰展示：一次6个关系节点，先保文字和点击区域，再做空间动效。
关系类型可区分：文字与线型共同说明，颜色不是唯一信息来源。
不要隐藏可走路线：正式挑战应允许查看完整合法邻居，不能把必经节点藏掉。
交互：点击“合唱” → 关系详情；
点击回声港 → 切换中心；中心 → 试听。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M03 每条边，
是一首连接作品
“不是因为模型说相似，
是这首歌，连接了他们。”
作品优先：先呈现连接两人的音乐，再展示艺人热门作品。
角色与事实分开：合唱、制作、词曲等分别记录；不把署名关系当作私交。
每条边要有证据：正式版记录作品、角色、来源、日期与人工审核状态。
交互：打开试听状态 → M04；
沿这首歌去回声港 → M05。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M04 真正的回报，
是听见一首歌
“我不是来查百科，
我想听听他们为什么会相遇。”
听歌不离主线：试听抽屉尽量不打断路线，关闭后回到探索位置。
不能靠假播放器：正式Demo必须验证实际播放，使用许可与可达性同时成立。
失败仍有说明：不可播放时给出明确原因；不假装所有作品有试听。
交互：播放按钮仅跳转状态，无实际音频；
继续走 → 新中心地图。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R09｜Spotify Web API｜Get Track
https://developer.spotify.com/documentation/web-api/reference/get-track
preview_url可为空且标为弃用；试听片段受平台使用条件限制。元数据接口不等于全曲库播放权。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M05 走得更远，
但不迷路
“我怎么从刚才那位，
一路逛到了这里？”
中心变了，路径还在：当前艺人固定；轨迹保留起点与上一位。
返回是核心能力：漫游回退应恢复视角与筛选，不让用户重新找路。
空间感不是门槛：首版用二维或2.5D即可；真实拖动在正式开发中实现。
交互：上一位 → M02；
挑战入口 → M06。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M06 把好奇，
变成一局任务
“两步之内，从林曜走到许岚，
我能找到哪条路？”
规则在开始前可见：步数上限、关系类型、图谱版本固定。
先验证可达：发布前用程序检查任务；不要让模型现编无法完成的目标。
不等于音乐考试：线索引向作品，让普通听众也能进行有理由的选择。
交互：点击回声港，迈出第1步。
任务仅基于本次虚构图谱。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M07 知道走了几步，
也知道为什么走
“我听见了连接作品，
现在想看看下一段。”
进度与目标同屏：顶部保留目标和当前步数，避免用户只顾旋转图。
每一步可复核：路线保存所使用的具体边，而不只是艺人名字。
最短要限定范围：只能称当前图谱与规则下最短，不宣称现实世界最短关系链。
交互：点击许岚，完成第2步。
返回可重开任务；本原型不含实时计分。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M08 不只通关，
还带走音乐
“我走完一条路线，
也听见了连接他们的歌。”
结果不是只有步数：呈现沿途作品，让游戏结果回到音乐内容。
保留多种好结果：走得短和发现喜欢的歌是两种结果，不强制压成一个分数。
数据不可冒充实测：本页成功、步数、作品数来自演示流程，不是用户测试成绩。
交互：发给朋友 → M09；
留下发现 → M10。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M09 分享一张卡，
邀请另一种走法
“这是我的起点和终点，
你会怎么走？”
不直接泄露答案：挑战卡隐藏中间节点；纪念版再展示完整路线。
朋友有下一步：分享落地页不是终点，收到后能进入同题。
不暴露私人历史：任务快照和个人收藏、探索历史分开。
交互：点击按钮，以朋友视角进入相同任务。
不会真的发布或向联系人发送消息。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M10 下次回来，
还有喜欢的歌
“这次地图里找到的音乐，
我之后还想再听。”
价值沉淀为音乐：保存歌曲与路线，不只累计节点浏览量。
不推断用户没听过：是否新发现以用户自述确认，不以数据库缺记录代替。
继续使用仍待验证：原型中的收藏为示例，不可当作留存或转化结果。
交互：点击曲目 → 试听状态；
打开路线或再次出发。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MusicBrainz的关系系统可提供组织参考和部分资料，但不保证中文艺人覆盖；音频和图片权利独立核验。字段设计是本方案建议。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R08｜MusicBrainz｜Relationships
https://musicbrainz.org/doc/Relationships
多种实体关系、角色属性与日期；不保证本项目艺人范围的完整覆盖或音频权利。
R09｜Spotify Web API｜Get Track
https://developer.spotify.com/documentation/web-api/reference/get-track
preview_url可为空且标为弃用；试听片段受平台使用条件限制。元数据接口不等于全曲库播放权。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正式版前置资源核验建议；原型无真实外部API与音频，不拿接口示意冒充已接通。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R09｜Spotify Web API｜Get Track
https://developer.spotify.com/documentation/web-api/reference/get-track
preview_url可为空且标为弃用；试听片段受平台使用条件限制。元数据接口不等于全曲库播放权。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对第一屏的产品分析，非用户实验结论。两案入口都支持单人完成核心价值，不把Space错误描述为完全依赖冷启动人群。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不将分享按钮点击等同于实际传播，不推断打开链接就代表长期留存。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Map与Space的比较基于方案推断，不基于实际参赛池或评委打分。设计与验证质量可反转选题结论。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R01｜赛事赛题 / FAQ / 评审细则 / 提交表
用户在本对话提供的5张比赛截图。三项评审无公开数值权重；团队不超过2人；二选一赛道；初赛暂无官方API；可访问在线Demo。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SongDNA于2026-03-24官方介绍连续音乐关系探索。Artist Explorer作为历史项目先例，不保证在线网站和旧API今天可运行。Music Map工作名与既有Music-Map名称相近，正式报名需查重更名。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R04｜Spotify｜SongDNA 官方发布
https://newsroom.spotify.com/2026-03-24/songdna-announcement-beta/
2026-03-24。作品贡献者、采样、翻唱以及连续音乐关系探索已有产品先例。
R05｜Music-Map｜相似艺人地图
https://www.music-map.com/
公开产品支持以艺人名字探索相似音乐地图；Music Map在本项目只是工作名。
R06｜Artist Explorer｜原项目仓库
https://github.com/fsahin/artist-explorer
项目介绍包含相关艺人树与沿途试听；不代表旧在线网站或旧API现在可用。
R07｜Concert Archives｜官方产品介绍
https://www.concertarchives.org/
个人演出历史、照片、视频、歌单与分享已有产品先例。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工程对比是估计，不是完成证明；本页不设虚假精确工时。正式团队需核验可投入时间、已有代码、设计资产和外部接口。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目标是竞争力更强的提交作品，而不是保证某一题目天然容易获奖。本对话尚未确认实际代码、素材许可、团队分工和试点资源。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具体研究设计需视参与者情况调整。对照测试不能简单将两个需求不同的App任务完成率当作需求强弱排名；两者分别与同类替代流程比较。记录样本与限制，不捏造满意度、转化率或获奖相关性。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不假设用户朋友有音乐表演、设计、后端或行业资源背景。团队不超过2人为截图规则，分工是建议。开发不并行启动两套完整版，48小时验证后主推一案。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R01｜赛事赛题 / FAQ / 评审细则 / 提交表
用户在本对话提供的5张比赛截图。三项评审无公开数值权重；团队不超过2人；二选一赛道；初赛暂无官方API；可访问在线Demo。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如果未开发多端交换，就不演示假实时消息；如果未拿到曲库能力，就不演示假在线播放。当前交付的可点击原型不替代正式业务Demo。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最后选择建立在同等完成度和关键资源可用的假设上。真正改变推荐的是实际运行结果和用户证据，而不是题目名称或视觉截图。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网页仅支持被引用的事实，不用于证明用户需求、产品成功、获奖倾向或本项目的实现状态。用户截图内容由本次对话直接读取。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R01｜赛事赛题 / FAQ / 评审细则 / 提交表
用户在本对话提供的5张比赛截图。三项评审无公开数值权重；团队不超过2人；二选一赛道；初赛暂无官方API；可访问在线Demo。
R02｜腾讯音乐｜赛事官方入口
https://join.tencentmusic.com/ai-hackathon/
确认赛事名称与官方入口；动态正文未完整解析。
R03｜香港中文大学（深圳）｜赛事通知
https://career.cuhk.edu.cn/en/job/view/id/469539
2026-09-16发布；页面列Deadline 2026-10-09。具体时间及对应环节仍需官方确认。
R04｜Spotify｜SongDNA 官方发布
https://newsroom.spotify.com/2026-03-24/songdna-announcement-beta/
2026-03-24。作品贡献者、采样、翻唱以及连续音乐关系探索已有产品先例。
R05｜Music-Map｜相似艺人地图
https://www.music-map.com/
公开产品支持以艺人名字探索相似音乐地图；Music Map在本项目只是工作名。
R06｜Artist Explorer｜原项目仓库
https://github.com/fsahin/artist-explorer
项目介绍包含相关艺人树与沿途试听；不代表旧在线网站或旧API现在可用。
R07｜Concert Archives｜官方产品介绍
https://www.concertarchives.org/
个人演出历史、照片、视频、歌单与分享已有产品先例。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使用真实艺人照片、唱片封面或第三方演出照片；所有抽象海报和关系图由原生PPT形状与文字构成。未分发字体文件。分享和播放状态是原型模拟，正式发布需重新核验素材许可、平台接口、数据权限和运行状态。
【原型与判断说明】本文件为设计与决策提案，不表示已实现App、已部署Demo或已获用户验证。界面中的艺人、歌曲、演出、用户、关系和统计均为虚构演示数据；几何海报为原创占位视觉，不是现场照片。PPT和网页原型只提供页面跳转与状态演示，不包含真实上传、AI生成、音频播放、蓝牙、发布或跨用户连接。推荐为分析判断，不是官方打分、参赛作品池分析或获奖概率。
【核验日期】2026-09-24
R08｜MusicBrainz｜Relationships
https://musicbrainz.org/doc/Relationships
多种实体关系、角色属性与日期；不保证本项目艺人范围的完整覆盖或音频权利。
R09｜Spotify Web API｜Get Track
https://developer.spotify.com/documentation/web-api/reference/get-track
preview_url可为空且标为弃用；试听片段受平台使用条件限制。元数据接口不等于全曲库播放权。
R10｜MDN｜Web Share API
https://developer.mozilla.org/en-US/docs/Web/API/Web_Share_API
系统分享需用户操作且受支持情况限制；正式产品须准备导出与复制链接后备路径。
R11｜D3｜d3-force
https://d3js.org/d3-force
力导向图布局基础能力；不代表自动解决文字遮挡、移动端交互或图的可玩性。
R12｜此前Music Space完整方案
本对话生成的《同场_完整产品设计与团队执行方案_60页.pptx》；保留先成卡、再自愿社交及私有档案的最新范围，不是实施证明。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" Target="slide21.xml"/><Relationship Id="rId4" Type="http://schemas.openxmlformats.org/officeDocument/2006/relationships/slide" Target="slide21.xml"/><Relationship Id="rId5" Type="http://schemas.openxmlformats.org/officeDocument/2006/relationships/slide" Target="slide33.xml"/><Relationship Id="rId6" Type="http://schemas.openxmlformats.org/officeDocument/2006/relationships/slide" Target="slide33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8.xml"/><Relationship Id="rId6" Type="http://schemas.openxmlformats.org/officeDocument/2006/relationships/slide" Target="slide13.xml"/><Relationship Id="rId7" Type="http://schemas.openxmlformats.org/officeDocument/2006/relationships/slide" Target="slide16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8.xml"/><Relationship Id="rId4" Type="http://schemas.openxmlformats.org/officeDocument/2006/relationships/slide" Target="slide1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9.xml"/><Relationship Id="rId4" Type="http://schemas.openxmlformats.org/officeDocument/2006/relationships/slide" Target="slide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0.xml"/><Relationship Id="rId4" Type="http://schemas.openxmlformats.org/officeDocument/2006/relationships/slide" Target="slide16.xml"/><Relationship Id="rId5" Type="http://schemas.openxmlformats.org/officeDocument/2006/relationships/slide" Target="slide1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1.xml"/><Relationship Id="rId4" Type="http://schemas.openxmlformats.org/officeDocument/2006/relationships/slide" Target="slide1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8.xml"/><Relationship Id="rId4" Type="http://schemas.openxmlformats.org/officeDocument/2006/relationships/slide" Target="slide14.xml"/><Relationship Id="rId5" Type="http://schemas.openxmlformats.org/officeDocument/2006/relationships/slide" Target="slide8.xml"/><Relationship Id="rId6" Type="http://schemas.openxmlformats.org/officeDocument/2006/relationships/slide" Target="slide13.xml"/><Relationship Id="rId7" Type="http://schemas.openxmlformats.org/officeDocument/2006/relationships/slide" Target="slide16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3.xml"/><Relationship Id="rId4" Type="http://schemas.openxmlformats.org/officeDocument/2006/relationships/slide" Target="slide1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3.xml"/><Relationship Id="rId4" Type="http://schemas.openxmlformats.org/officeDocument/2006/relationships/slide" Target="slide16.xml"/><Relationship Id="rId5" Type="http://schemas.openxmlformats.org/officeDocument/2006/relationships/slide" Target="slide1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7.xml"/><Relationship Id="rId4" Type="http://schemas.openxmlformats.org/officeDocument/2006/relationships/slide" Target="slide17.xml"/><Relationship Id="rId5" Type="http://schemas.openxmlformats.org/officeDocument/2006/relationships/slide" Target="slide17.xml"/><Relationship Id="rId6" Type="http://schemas.openxmlformats.org/officeDocument/2006/relationships/slide" Target="slide8.xml"/><Relationship Id="rId7" Type="http://schemas.openxmlformats.org/officeDocument/2006/relationships/slide" Target="slide13.xml"/><Relationship Id="rId8" Type="http://schemas.openxmlformats.org/officeDocument/2006/relationships/slide" Target="slide16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6.xml"/><Relationship Id="rId4" Type="http://schemas.openxmlformats.org/officeDocument/2006/relationships/slide" Target="slide1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2.xml"/><Relationship Id="rId4" Type="http://schemas.openxmlformats.org/officeDocument/2006/relationships/slide" Target="slide26.xml"/><Relationship Id="rId5" Type="http://schemas.openxmlformats.org/officeDocument/2006/relationships/slide" Target="slide21.xml"/><Relationship Id="rId6" Type="http://schemas.openxmlformats.org/officeDocument/2006/relationships/slide" Target="slide26.xml"/><Relationship Id="rId7" Type="http://schemas.openxmlformats.org/officeDocument/2006/relationships/slide" Target="slide30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1.xml"/><Relationship Id="rId4" Type="http://schemas.openxmlformats.org/officeDocument/2006/relationships/slide" Target="slide25.xml"/><Relationship Id="rId5" Type="http://schemas.openxmlformats.org/officeDocument/2006/relationships/slide" Target="slide24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1.xml"/><Relationship Id="rId9" Type="http://schemas.openxmlformats.org/officeDocument/2006/relationships/slide" Target="slide26.xml"/><Relationship Id="rId10" Type="http://schemas.openxmlformats.org/officeDocument/2006/relationships/slide" Target="slide30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2.xml"/><Relationship Id="rId4" Type="http://schemas.openxmlformats.org/officeDocument/2006/relationships/slide" Target="slide24.xml"/><Relationship Id="rId5" Type="http://schemas.openxmlformats.org/officeDocument/2006/relationships/slide" Target="slide2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3.xml"/><Relationship Id="rId4" Type="http://schemas.openxmlformats.org/officeDocument/2006/relationships/slide" Target="slide23.xml"/><Relationship Id="rId5" Type="http://schemas.openxmlformats.org/officeDocument/2006/relationships/slide" Target="slide2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2.xml"/><Relationship Id="rId4" Type="http://schemas.openxmlformats.org/officeDocument/2006/relationships/slide" Target="slide22.xml"/><Relationship Id="rId5" Type="http://schemas.openxmlformats.org/officeDocument/2006/relationships/slide" Target="slide24.xml"/><Relationship Id="rId6" Type="http://schemas.openxmlformats.org/officeDocument/2006/relationships/slide" Target="slide26.xml"/><Relationship Id="rId7" Type="http://schemas.openxmlformats.org/officeDocument/2006/relationships/slide" Target="slide21.xml"/><Relationship Id="rId8" Type="http://schemas.openxmlformats.org/officeDocument/2006/relationships/slide" Target="slide26.xml"/><Relationship Id="rId9" Type="http://schemas.openxmlformats.org/officeDocument/2006/relationships/slide" Target="slide30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1.xml"/><Relationship Id="rId4" Type="http://schemas.openxmlformats.org/officeDocument/2006/relationships/slide" Target="slide27.xml"/><Relationship Id="rId5" Type="http://schemas.openxmlformats.org/officeDocument/2006/relationships/slide" Target="slide27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6.xml"/><Relationship Id="rId4" Type="http://schemas.openxmlformats.org/officeDocument/2006/relationships/slide" Target="slide28.xml"/><Relationship Id="rId5" Type="http://schemas.openxmlformats.org/officeDocument/2006/relationships/slide" Target="slide2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7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8.xml"/><Relationship Id="rId4" Type="http://schemas.openxmlformats.org/officeDocument/2006/relationships/slide" Target="slide2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8.xml"/><Relationship Id="rId4" Type="http://schemas.openxmlformats.org/officeDocument/2006/relationships/slide" Target="slide24.xml"/><Relationship Id="rId5" Type="http://schemas.openxmlformats.org/officeDocument/2006/relationships/slide" Target="slide24.xml"/><Relationship Id="rId6" Type="http://schemas.openxmlformats.org/officeDocument/2006/relationships/slide" Target="slide22.xml"/><Relationship Id="rId7" Type="http://schemas.openxmlformats.org/officeDocument/2006/relationships/slide" Target="slide21.xml"/><Relationship Id="rId8" Type="http://schemas.openxmlformats.org/officeDocument/2006/relationships/slide" Target="slide26.xml"/><Relationship Id="rId9" Type="http://schemas.openxmlformats.org/officeDocument/2006/relationships/slide" Target="slide30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" Target="slide21.xml"/><Relationship Id="rId4" Type="http://schemas.openxmlformats.org/officeDocument/2006/relationships/slide" Target="slide2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join.tencentmusic.com/ai-hackathon/" TargetMode="External"/><Relationship Id="rId2" Type="http://schemas.openxmlformats.org/officeDocument/2006/relationships/hyperlink" Target="https://career.cuhk.edu.cn/en/job/view/id/469539" TargetMode="External"/><Relationship Id="rId3" Type="http://schemas.openxmlformats.org/officeDocument/2006/relationships/hyperlink" Target="https://newsroom.spotify.com/2026-03-24/songdna-announcement-beta/" TargetMode="External"/><Relationship Id="rId4" Type="http://schemas.openxmlformats.org/officeDocument/2006/relationships/hyperlink" Target="https://www.music-map.com/" TargetMode="External"/><Relationship Id="rId5" Type="http://schemas.openxmlformats.org/officeDocument/2006/relationships/hyperlink" Target="https://github.com/fsahin/artist-explorer" TargetMode="External"/><Relationship Id="rId6" Type="http://schemas.openxmlformats.org/officeDocument/2006/relationships/hyperlink" Target="https://www.concertarchives.org/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musicbrainz.org/doc/Relationships" TargetMode="External"/><Relationship Id="rId2" Type="http://schemas.openxmlformats.org/officeDocument/2006/relationships/hyperlink" Target="https://developer.spotify.com/documentation/web-api/reference/get-track" TargetMode="External"/><Relationship Id="rId3" Type="http://schemas.openxmlformats.org/officeDocument/2006/relationships/hyperlink" Target="https://developer.mozilla.org/en-US/docs/Web/API/Web_Share_API" TargetMode="External"/><Relationship Id="rId4" Type="http://schemas.openxmlformats.org/officeDocument/2006/relationships/hyperlink" Target="https://d3js.org/d3-force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spc="12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TME AI HACKATHON  /  PRODUCT PROTOTYPE &amp; SELECTION</a:t>
            </a:r>
            <a:endParaRPr lang="en-US" sz="103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6080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两个方向。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一次争奖选择。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29169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3538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408736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5093208"/>
            <a:ext cx="58247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 App 界面 / 可点击原型 / 评审维度对照 / 条件式推荐</a:t>
            </a:r>
            <a:endParaRPr lang="en-US" sz="15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85216" y="5852160"/>
            <a:ext cx="2926080" cy="420624"/>
          </a:xfrm>
          <a:prstGeom prst="roundRect">
            <a:avLst>
              <a:gd name="adj" fmla="val 19565"/>
            </a:avLst>
          </a:prstGeom>
          <a:solidFill>
            <a:srgbClr val="72E4D4"/>
          </a:solidFill>
          <a:ln w="12700">
            <a:solidFill>
              <a:srgbClr val="72E4D4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58368" y="5879592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开始比较与体验 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9732" y="854964"/>
            <a:ext cx="2075688" cy="4396201"/>
          </a:xfrm>
          <a:prstGeom prst="roundRect">
            <a:avLst>
              <a:gd name="adj" fmla="val 8811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896112"/>
            <a:ext cx="1993392" cy="4313905"/>
          </a:xfrm>
          <a:prstGeom prst="roundRect">
            <a:avLst>
              <a:gd name="adj" fmla="val 7339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3328" y="967670"/>
            <a:ext cx="388456" cy="117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523" dirty="0"/>
          </a:p>
        </p:txBody>
      </p:sp>
      <p:sp>
        <p:nvSpPr>
          <p:cNvPr id="13" name="Shape 11"/>
          <p:cNvSpPr/>
          <p:nvPr/>
        </p:nvSpPr>
        <p:spPr>
          <a:xfrm>
            <a:off x="7838237" y="942113"/>
            <a:ext cx="398678" cy="10222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50927" y="1029005"/>
            <a:ext cx="15334" cy="3066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76484" y="1013671"/>
            <a:ext cx="15334" cy="46001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2040" y="998337"/>
            <a:ext cx="15334" cy="6133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27596" y="983003"/>
            <a:ext cx="15334" cy="766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9154" y="988115"/>
            <a:ext cx="112448" cy="56224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09376" y="998337"/>
            <a:ext cx="76669" cy="3577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6713" y="1003448"/>
            <a:ext cx="10223" cy="2555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3550" y="1202788"/>
            <a:ext cx="1328928" cy="429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</a:t>
            </a:r>
            <a:endParaRPr lang="en-US" sz="1489" dirty="0"/>
          </a:p>
          <a:p>
            <a:pPr indent="0" marL="0">
              <a:buNone/>
            </a:pPr>
            <a:r>
              <a:rPr lang="en-US" sz="148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SPACE</a:t>
            </a:r>
            <a:endParaRPr lang="en-US" sz="1489" dirty="0"/>
          </a:p>
        </p:txBody>
      </p:sp>
      <p:sp>
        <p:nvSpPr>
          <p:cNvPr id="22" name="Shape 20"/>
          <p:cNvSpPr/>
          <p:nvPr/>
        </p:nvSpPr>
        <p:spPr>
          <a:xfrm>
            <a:off x="8420921" y="1223233"/>
            <a:ext cx="490681" cy="153338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6477" y="1238567"/>
            <a:ext cx="439568" cy="12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3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我的现场</a:t>
            </a:r>
            <a:endParaRPr lang="en-US" sz="523" dirty="0"/>
          </a:p>
        </p:txBody>
      </p:sp>
      <p:sp>
        <p:nvSpPr>
          <p:cNvPr id="24" name="Text 22"/>
          <p:cNvSpPr/>
          <p:nvPr/>
        </p:nvSpPr>
        <p:spPr>
          <a:xfrm>
            <a:off x="7163550" y="1734359"/>
            <a:ext cx="1742940" cy="168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把今晚，留给未来。</a:t>
            </a:r>
            <a:endParaRPr lang="en-US" sz="966" dirty="0"/>
          </a:p>
        </p:txBody>
      </p:sp>
      <p:sp>
        <p:nvSpPr>
          <p:cNvPr id="25" name="Shape 23"/>
          <p:cNvSpPr/>
          <p:nvPr/>
        </p:nvSpPr>
        <p:spPr>
          <a:xfrm>
            <a:off x="7163550" y="2025701"/>
            <a:ext cx="1748051" cy="1502711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03394" y="2175972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03394" y="2270643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03394" y="2365313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03394" y="2459984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03394" y="2554655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03394" y="2649326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03394" y="2743997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03394" y="2838667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03394" y="2933338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03394" y="3028009"/>
            <a:ext cx="1433402" cy="24043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0173" y="2145918"/>
            <a:ext cx="716701" cy="716701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2615" y="2206026"/>
            <a:ext cx="139844" cy="826491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0953" y="3378141"/>
            <a:ext cx="106631" cy="15027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22262" y="3220356"/>
            <a:ext cx="106631" cy="30805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93571" y="3265437"/>
            <a:ext cx="106631" cy="26297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64880" y="3310519"/>
            <a:ext cx="106631" cy="21789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36189" y="3355600"/>
            <a:ext cx="106631" cy="17281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07498" y="3197815"/>
            <a:ext cx="106631" cy="33059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78807" y="3242897"/>
            <a:ext cx="106631" cy="28551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0116" y="3287978"/>
            <a:ext cx="106631" cy="24043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21425" y="3333059"/>
            <a:ext cx="106631" cy="19535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92734" y="3378141"/>
            <a:ext cx="106631" cy="15027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03394" y="2341270"/>
            <a:ext cx="1258597" cy="871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6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2963" dirty="0"/>
          </a:p>
          <a:p>
            <a:pPr indent="0" marL="0">
              <a:buNone/>
            </a:pPr>
            <a:r>
              <a:rPr lang="en-US" sz="296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2963" dirty="0"/>
          </a:p>
        </p:txBody>
      </p:sp>
      <p:sp>
        <p:nvSpPr>
          <p:cNvPr id="49" name="Text 47"/>
          <p:cNvSpPr/>
          <p:nvPr/>
        </p:nvSpPr>
        <p:spPr>
          <a:xfrm>
            <a:off x="7245330" y="3185957"/>
            <a:ext cx="1390263" cy="16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006" dirty="0"/>
          </a:p>
        </p:txBody>
      </p:sp>
      <p:sp>
        <p:nvSpPr>
          <p:cNvPr id="50" name="Text 48"/>
          <p:cNvSpPr/>
          <p:nvPr/>
        </p:nvSpPr>
        <p:spPr>
          <a:xfrm>
            <a:off x="7245330" y="3364851"/>
            <a:ext cx="1482266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09.12  /  广州  ·  示例演出</a:t>
            </a:r>
            <a:endParaRPr lang="en-US" sz="523" dirty="0"/>
          </a:p>
        </p:txBody>
      </p:sp>
      <p:sp>
        <p:nvSpPr>
          <p:cNvPr id="51" name="Shape 49"/>
          <p:cNvSpPr/>
          <p:nvPr/>
        </p:nvSpPr>
        <p:spPr>
          <a:xfrm>
            <a:off x="7163550" y="3651082"/>
            <a:ext cx="1748051" cy="265786"/>
          </a:xfrm>
          <a:prstGeom prst="roundRect">
            <a:avLst>
              <a:gd name="adj" fmla="val 23077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9552" y="3666416"/>
            <a:ext cx="1656049" cy="23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4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 制作我的现场卡</a:t>
            </a:r>
            <a:endParaRPr lang="en-US" sz="724" dirty="0"/>
          </a:p>
        </p:txBody>
      </p:sp>
      <p:sp>
        <p:nvSpPr>
          <p:cNvPr id="53" name="Text 51"/>
          <p:cNvSpPr/>
          <p:nvPr/>
        </p:nvSpPr>
        <p:spPr>
          <a:xfrm>
            <a:off x="7163550" y="4080428"/>
            <a:ext cx="1328928" cy="14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我的最近记录</a:t>
            </a:r>
            <a:endParaRPr lang="en-US" sz="765" dirty="0"/>
          </a:p>
        </p:txBody>
      </p:sp>
      <p:sp>
        <p:nvSpPr>
          <p:cNvPr id="54" name="Shape 52"/>
          <p:cNvSpPr/>
          <p:nvPr/>
        </p:nvSpPr>
        <p:spPr>
          <a:xfrm>
            <a:off x="7163550" y="4305323"/>
            <a:ext cx="1748051" cy="342455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5330" y="4361547"/>
            <a:ext cx="296453" cy="189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7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127" dirty="0"/>
          </a:p>
        </p:txBody>
      </p:sp>
      <p:sp>
        <p:nvSpPr>
          <p:cNvPr id="56" name="Text 54"/>
          <p:cNvSpPr/>
          <p:nvPr/>
        </p:nvSpPr>
        <p:spPr>
          <a:xfrm>
            <a:off x="7613341" y="4361547"/>
            <a:ext cx="1109144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4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这一年的三个夜晚</a:t>
            </a:r>
            <a:endParaRPr lang="en-US" sz="644" dirty="0"/>
          </a:p>
        </p:txBody>
      </p:sp>
      <p:sp>
        <p:nvSpPr>
          <p:cNvPr id="57" name="Text 55"/>
          <p:cNvSpPr/>
          <p:nvPr/>
        </p:nvSpPr>
        <p:spPr>
          <a:xfrm>
            <a:off x="7613341" y="4514885"/>
            <a:ext cx="1109144" cy="9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查看我的私人档案  ›</a:t>
            </a:r>
            <a:endParaRPr lang="en-US" sz="483" dirty="0"/>
          </a:p>
        </p:txBody>
      </p:sp>
      <p:sp>
        <p:nvSpPr>
          <p:cNvPr id="58" name="Shape 56"/>
          <p:cNvSpPr/>
          <p:nvPr/>
        </p:nvSpPr>
        <p:spPr>
          <a:xfrm>
            <a:off x="7045991" y="4831783"/>
            <a:ext cx="1983169" cy="373122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43105" y="4831783"/>
            <a:ext cx="1788942" cy="914"/>
          </a:xfrm>
          <a:prstGeom prst="line">
            <a:avLst/>
          </a:prstGeom>
          <a:noFill/>
          <a:ln w="3578">
            <a:solidFill>
              <a:srgbClr val="323A4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8223" y="4918675"/>
            <a:ext cx="35779" cy="35779"/>
          </a:xfrm>
          <a:prstGeom prst="ellipse">
            <a:avLst/>
          </a:prstGeom>
          <a:solidFill>
            <a:srgbClr val="FF845E"/>
          </a:solidFill>
          <a:ln w="5111">
            <a:solidFill>
              <a:srgbClr val="FF84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3328" y="5000455"/>
            <a:ext cx="480459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</a:t>
            </a:r>
            <a:endParaRPr lang="en-US" sz="563" dirty="0"/>
          </a:p>
        </p:txBody>
      </p:sp>
      <p:sp>
        <p:nvSpPr>
          <p:cNvPr id="62" name="Shape 60"/>
          <p:cNvSpPr/>
          <p:nvPr/>
        </p:nvSpPr>
        <p:spPr>
          <a:xfrm>
            <a:off x="8012020" y="4918675"/>
            <a:ext cx="35779" cy="35779"/>
          </a:xfrm>
          <a:prstGeom prst="ellipse">
            <a:avLst/>
          </a:prstGeom>
          <a:solidFill>
            <a:srgbClr val="626C7C"/>
          </a:solidFill>
          <a:ln w="5111">
            <a:solidFill>
              <a:srgbClr val="626C7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87124" y="5000455"/>
            <a:ext cx="480459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同场</a:t>
            </a:r>
            <a:endParaRPr lang="en-US" sz="563" dirty="0"/>
          </a:p>
        </p:txBody>
      </p:sp>
      <p:sp>
        <p:nvSpPr>
          <p:cNvPr id="64" name="Shape 62"/>
          <p:cNvSpPr/>
          <p:nvPr/>
        </p:nvSpPr>
        <p:spPr>
          <a:xfrm>
            <a:off x="8645816" y="4918675"/>
            <a:ext cx="35779" cy="35779"/>
          </a:xfrm>
          <a:prstGeom prst="ellipse">
            <a:avLst/>
          </a:prstGeom>
          <a:solidFill>
            <a:srgbClr val="626C7C"/>
          </a:solidFill>
          <a:ln w="5111">
            <a:solidFill>
              <a:srgbClr val="626C7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20921" y="5000455"/>
            <a:ext cx="480459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</a:t>
            </a:r>
            <a:endParaRPr lang="en-US" sz="563" dirty="0"/>
          </a:p>
        </p:txBody>
      </p:sp>
      <p:sp>
        <p:nvSpPr>
          <p:cNvPr id="66" name="Shape 64"/>
          <p:cNvSpPr/>
          <p:nvPr/>
        </p:nvSpPr>
        <p:spPr>
          <a:xfrm>
            <a:off x="9194292" y="1604772"/>
            <a:ext cx="2075688" cy="4396201"/>
          </a:xfrm>
          <a:prstGeom prst="roundRect">
            <a:avLst>
              <a:gd name="adj" fmla="val 8811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35440" y="1645920"/>
            <a:ext cx="1993392" cy="4313905"/>
          </a:xfrm>
          <a:prstGeom prst="roundRect">
            <a:avLst>
              <a:gd name="adj" fmla="val 7339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47888" y="1717478"/>
            <a:ext cx="388456" cy="117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523" dirty="0"/>
          </a:p>
        </p:txBody>
      </p:sp>
      <p:sp>
        <p:nvSpPr>
          <p:cNvPr id="69" name="Shape 67"/>
          <p:cNvSpPr/>
          <p:nvPr/>
        </p:nvSpPr>
        <p:spPr>
          <a:xfrm>
            <a:off x="10032797" y="1691921"/>
            <a:ext cx="398678" cy="10222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45487" y="1778813"/>
            <a:ext cx="15334" cy="3066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71044" y="1763479"/>
            <a:ext cx="15334" cy="46001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896600" y="1748145"/>
            <a:ext cx="15334" cy="6133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22156" y="1732811"/>
            <a:ext cx="15334" cy="766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3714" y="1737923"/>
            <a:ext cx="112448" cy="56224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003936" y="1748145"/>
            <a:ext cx="76669" cy="3577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111273" y="1753256"/>
            <a:ext cx="10223" cy="2555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47888" y="1916817"/>
            <a:ext cx="132893" cy="17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8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248" dirty="0"/>
          </a:p>
        </p:txBody>
      </p:sp>
      <p:sp>
        <p:nvSpPr>
          <p:cNvPr id="78" name="Text 76"/>
          <p:cNvSpPr/>
          <p:nvPr/>
        </p:nvSpPr>
        <p:spPr>
          <a:xfrm>
            <a:off x="9552338" y="1927039"/>
            <a:ext cx="1349373" cy="1584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自由漫游</a:t>
            </a:r>
            <a:endParaRPr lang="en-US" sz="845" dirty="0"/>
          </a:p>
        </p:txBody>
      </p:sp>
      <p:sp>
        <p:nvSpPr>
          <p:cNvPr id="79" name="Text 77"/>
          <p:cNvSpPr/>
          <p:nvPr/>
        </p:nvSpPr>
        <p:spPr>
          <a:xfrm>
            <a:off x="9352999" y="2151935"/>
            <a:ext cx="1758274" cy="14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从熟悉的名字，走向下一首。</a:t>
            </a:r>
            <a:endParaRPr lang="en-US" sz="563" dirty="0"/>
          </a:p>
        </p:txBody>
      </p:sp>
      <p:sp>
        <p:nvSpPr>
          <p:cNvPr id="80" name="Shape 78"/>
          <p:cNvSpPr/>
          <p:nvPr/>
        </p:nvSpPr>
        <p:spPr>
          <a:xfrm>
            <a:off x="9358110" y="2371719"/>
            <a:ext cx="511126" cy="153338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383667" y="2387053"/>
            <a:ext cx="460014" cy="12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3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作品合作</a:t>
            </a:r>
            <a:endParaRPr lang="en-US" sz="523" dirty="0"/>
          </a:p>
        </p:txBody>
      </p:sp>
      <p:sp>
        <p:nvSpPr>
          <p:cNvPr id="82" name="Shape 80"/>
          <p:cNvSpPr/>
          <p:nvPr/>
        </p:nvSpPr>
        <p:spPr>
          <a:xfrm>
            <a:off x="9930572" y="2371719"/>
            <a:ext cx="362900" cy="153338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956128" y="2387053"/>
            <a:ext cx="311787" cy="12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523" dirty="0"/>
          </a:p>
        </p:txBody>
      </p:sp>
      <p:sp>
        <p:nvSpPr>
          <p:cNvPr id="84" name="Shape 82"/>
          <p:cNvSpPr/>
          <p:nvPr/>
        </p:nvSpPr>
        <p:spPr>
          <a:xfrm>
            <a:off x="10354806" y="2371719"/>
            <a:ext cx="362900" cy="153338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80363" y="2387053"/>
            <a:ext cx="311787" cy="12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523" dirty="0"/>
          </a:p>
        </p:txBody>
      </p:sp>
      <p:sp>
        <p:nvSpPr>
          <p:cNvPr id="86" name="Shape 84"/>
          <p:cNvSpPr/>
          <p:nvPr/>
        </p:nvSpPr>
        <p:spPr>
          <a:xfrm>
            <a:off x="9409223" y="2637505"/>
            <a:ext cx="1656049" cy="1809387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593228" y="2780620"/>
            <a:ext cx="1288038" cy="1528267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77234" y="2923735"/>
            <a:ext cx="920027" cy="1247148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58110" y="2535280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00565" y="2990182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43019" y="3445084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385474" y="3899986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727928" y="4354889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070383" y="2724396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69897" y="3179298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12352" y="3634201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354806" y="4089103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97261" y="4544005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039715" y="2913513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639230" y="3368415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81684" y="3823317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324139" y="4278220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666593" y="2647727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009048" y="3102630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608562" y="3557532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51017" y="4012434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293471" y="4467336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635926" y="2836844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78380" y="3291746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577895" y="3746648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20349" y="4201551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262804" y="2571058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605258" y="3025961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947713" y="3480863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547227" y="3935765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889681" y="4390667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232136" y="2760175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574591" y="3215077"/>
            <a:ext cx="7667" cy="7667"/>
          </a:xfrm>
          <a:prstGeom prst="ellipse">
            <a:avLst/>
          </a:prstGeom>
          <a:solidFill>
            <a:srgbClr val="426169"/>
          </a:solidFill>
          <a:ln w="5111">
            <a:solidFill>
              <a:srgbClr val="42616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0232136" y="2872623"/>
            <a:ext cx="506015" cy="592906"/>
          </a:xfrm>
          <a:prstGeom prst="line">
            <a:avLst/>
          </a:prstGeom>
          <a:noFill/>
          <a:ln w="5111">
            <a:solidFill>
              <a:srgbClr val="72E4D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 flipV="1">
            <a:off x="9685231" y="2760175"/>
            <a:ext cx="546905" cy="705354"/>
          </a:xfrm>
          <a:prstGeom prst="line">
            <a:avLst/>
          </a:prstGeom>
          <a:noFill/>
          <a:ln w="5111">
            <a:solidFill>
              <a:srgbClr val="BBA7F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232136" y="3465529"/>
            <a:ext cx="700243" cy="158449"/>
          </a:xfrm>
          <a:prstGeom prst="line">
            <a:avLst/>
          </a:prstGeom>
          <a:noFill/>
          <a:ln w="5111">
            <a:solidFill>
              <a:srgbClr val="727B8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9552338" y="3465529"/>
            <a:ext cx="679798" cy="194228"/>
          </a:xfrm>
          <a:prstGeom prst="line">
            <a:avLst/>
          </a:prstGeom>
          <a:noFill/>
          <a:ln w="5111">
            <a:solidFill>
              <a:srgbClr val="72E4D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9797679" y="3465529"/>
            <a:ext cx="434457" cy="812691"/>
          </a:xfrm>
          <a:prstGeom prst="line">
            <a:avLst/>
          </a:prstGeom>
          <a:noFill/>
          <a:ln w="5111">
            <a:solidFill>
              <a:srgbClr val="BBA7F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32136" y="3465529"/>
            <a:ext cx="419123" cy="828024"/>
          </a:xfrm>
          <a:prstGeom prst="line">
            <a:avLst/>
          </a:prstGeom>
          <a:noFill/>
          <a:ln w="5111">
            <a:solidFill>
              <a:srgbClr val="727B8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25703" y="2760175"/>
            <a:ext cx="224896" cy="224896"/>
          </a:xfrm>
          <a:prstGeom prst="ellipse">
            <a:avLst/>
          </a:prstGeom>
          <a:solidFill>
            <a:srgbClr val="16312F"/>
          </a:solidFill>
          <a:ln w="5111">
            <a:solidFill>
              <a:srgbClr val="458A8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651259" y="2795954"/>
            <a:ext cx="173783" cy="148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</a:t>
            </a:r>
            <a:endParaRPr lang="en-US" sz="765" dirty="0"/>
          </a:p>
        </p:txBody>
      </p:sp>
      <p:sp>
        <p:nvSpPr>
          <p:cNvPr id="127" name="Text 125"/>
          <p:cNvSpPr/>
          <p:nvPr/>
        </p:nvSpPr>
        <p:spPr>
          <a:xfrm>
            <a:off x="10503033" y="3031072"/>
            <a:ext cx="470236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563" dirty="0"/>
          </a:p>
        </p:txBody>
      </p:sp>
      <p:sp>
        <p:nvSpPr>
          <p:cNvPr id="128" name="Shape 126"/>
          <p:cNvSpPr/>
          <p:nvPr/>
        </p:nvSpPr>
        <p:spPr>
          <a:xfrm>
            <a:off x="9572783" y="2647727"/>
            <a:ext cx="224896" cy="224896"/>
          </a:xfrm>
          <a:prstGeom prst="ellipse">
            <a:avLst/>
          </a:prstGeom>
          <a:solidFill>
            <a:srgbClr val="302844"/>
          </a:solidFill>
          <a:ln w="5111">
            <a:solidFill>
              <a:srgbClr val="BBA7F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598340" y="2683506"/>
            <a:ext cx="173783" cy="148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</a:t>
            </a:r>
            <a:endParaRPr lang="en-US" sz="765" dirty="0"/>
          </a:p>
        </p:txBody>
      </p:sp>
      <p:sp>
        <p:nvSpPr>
          <p:cNvPr id="130" name="Text 128"/>
          <p:cNvSpPr/>
          <p:nvPr/>
        </p:nvSpPr>
        <p:spPr>
          <a:xfrm>
            <a:off x="9450113" y="2918624"/>
            <a:ext cx="470236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青屿</a:t>
            </a:r>
            <a:endParaRPr lang="en-US" sz="563" dirty="0"/>
          </a:p>
        </p:txBody>
      </p:sp>
      <p:sp>
        <p:nvSpPr>
          <p:cNvPr id="131" name="Shape 129"/>
          <p:cNvSpPr/>
          <p:nvPr/>
        </p:nvSpPr>
        <p:spPr>
          <a:xfrm>
            <a:off x="10819931" y="3511530"/>
            <a:ext cx="224896" cy="224896"/>
          </a:xfrm>
          <a:prstGeom prst="ellipse">
            <a:avLst/>
          </a:prstGeom>
          <a:solidFill>
            <a:srgbClr val="16312F"/>
          </a:solidFill>
          <a:ln w="5111">
            <a:solidFill>
              <a:srgbClr val="458A8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845487" y="3547309"/>
            <a:ext cx="173783" cy="148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</a:t>
            </a:r>
            <a:endParaRPr lang="en-US" sz="765" dirty="0"/>
          </a:p>
        </p:txBody>
      </p:sp>
      <p:sp>
        <p:nvSpPr>
          <p:cNvPr id="133" name="Text 131"/>
          <p:cNvSpPr/>
          <p:nvPr/>
        </p:nvSpPr>
        <p:spPr>
          <a:xfrm>
            <a:off x="10697261" y="3782427"/>
            <a:ext cx="470236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南汐</a:t>
            </a:r>
            <a:endParaRPr lang="en-US" sz="563" dirty="0"/>
          </a:p>
        </p:txBody>
      </p:sp>
      <p:sp>
        <p:nvSpPr>
          <p:cNvPr id="134" name="Shape 132"/>
          <p:cNvSpPr/>
          <p:nvPr/>
        </p:nvSpPr>
        <p:spPr>
          <a:xfrm>
            <a:off x="9439890" y="3547309"/>
            <a:ext cx="224896" cy="224896"/>
          </a:xfrm>
          <a:prstGeom prst="ellipse">
            <a:avLst/>
          </a:prstGeom>
          <a:solidFill>
            <a:srgbClr val="16312F"/>
          </a:solidFill>
          <a:ln w="5111">
            <a:solidFill>
              <a:srgbClr val="458A8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465447" y="3583088"/>
            <a:ext cx="173783" cy="148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</a:t>
            </a:r>
            <a:endParaRPr lang="en-US" sz="765" dirty="0"/>
          </a:p>
        </p:txBody>
      </p:sp>
      <p:sp>
        <p:nvSpPr>
          <p:cNvPr id="136" name="Text 134"/>
          <p:cNvSpPr/>
          <p:nvPr/>
        </p:nvSpPr>
        <p:spPr>
          <a:xfrm>
            <a:off x="9317220" y="3818206"/>
            <a:ext cx="470236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白河</a:t>
            </a:r>
            <a:endParaRPr lang="en-US" sz="563" dirty="0"/>
          </a:p>
        </p:txBody>
      </p:sp>
      <p:sp>
        <p:nvSpPr>
          <p:cNvPr id="137" name="Shape 135"/>
          <p:cNvSpPr/>
          <p:nvPr/>
        </p:nvSpPr>
        <p:spPr>
          <a:xfrm>
            <a:off x="9685231" y="4165772"/>
            <a:ext cx="224896" cy="224896"/>
          </a:xfrm>
          <a:prstGeom prst="ellipse">
            <a:avLst/>
          </a:prstGeom>
          <a:solidFill>
            <a:srgbClr val="302844"/>
          </a:solidFill>
          <a:ln w="5111">
            <a:solidFill>
              <a:srgbClr val="BBA7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710787" y="4201551"/>
            <a:ext cx="173783" cy="148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</a:t>
            </a:r>
            <a:endParaRPr lang="en-US" sz="765" dirty="0"/>
          </a:p>
        </p:txBody>
      </p:sp>
      <p:sp>
        <p:nvSpPr>
          <p:cNvPr id="139" name="Text 137"/>
          <p:cNvSpPr/>
          <p:nvPr/>
        </p:nvSpPr>
        <p:spPr>
          <a:xfrm>
            <a:off x="9562561" y="4436669"/>
            <a:ext cx="470236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漫游者</a:t>
            </a:r>
            <a:endParaRPr lang="en-US" sz="563" dirty="0"/>
          </a:p>
        </p:txBody>
      </p:sp>
      <p:sp>
        <p:nvSpPr>
          <p:cNvPr id="140" name="Shape 138"/>
          <p:cNvSpPr/>
          <p:nvPr/>
        </p:nvSpPr>
        <p:spPr>
          <a:xfrm>
            <a:off x="10538812" y="4181106"/>
            <a:ext cx="224896" cy="224896"/>
          </a:xfrm>
          <a:prstGeom prst="ellipse">
            <a:avLst/>
          </a:prstGeom>
          <a:solidFill>
            <a:srgbClr val="16312F"/>
          </a:solidFill>
          <a:ln w="5111">
            <a:solidFill>
              <a:srgbClr val="458A8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564368" y="4216885"/>
            <a:ext cx="173783" cy="148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</a:t>
            </a:r>
            <a:endParaRPr lang="en-US" sz="765" dirty="0"/>
          </a:p>
        </p:txBody>
      </p:sp>
      <p:sp>
        <p:nvSpPr>
          <p:cNvPr id="142" name="Text 140"/>
          <p:cNvSpPr/>
          <p:nvPr/>
        </p:nvSpPr>
        <p:spPr>
          <a:xfrm>
            <a:off x="10416141" y="4452003"/>
            <a:ext cx="470236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霓虹列车</a:t>
            </a:r>
            <a:endParaRPr lang="en-US" sz="563" dirty="0"/>
          </a:p>
        </p:txBody>
      </p:sp>
      <p:sp>
        <p:nvSpPr>
          <p:cNvPr id="143" name="Shape 141"/>
          <p:cNvSpPr/>
          <p:nvPr/>
        </p:nvSpPr>
        <p:spPr>
          <a:xfrm>
            <a:off x="9961239" y="3194632"/>
            <a:ext cx="541794" cy="541794"/>
          </a:xfrm>
          <a:prstGeom prst="ellipse">
            <a:avLst/>
          </a:prstGeom>
          <a:solidFill>
            <a:srgbClr val="102520"/>
          </a:solidFill>
          <a:ln w="6134">
            <a:solidFill>
              <a:srgbClr val="72E4D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012352" y="3245745"/>
            <a:ext cx="439568" cy="439568"/>
          </a:xfrm>
          <a:prstGeom prst="ellipse">
            <a:avLst/>
          </a:prstGeom>
          <a:solidFill>
            <a:srgbClr val="286054"/>
          </a:solidFill>
          <a:ln w="5111">
            <a:solidFill>
              <a:srgbClr val="28605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089021" y="3296857"/>
            <a:ext cx="286231" cy="3117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</a:t>
            </a:r>
            <a:endParaRPr lang="en-US" sz="1570" dirty="0"/>
          </a:p>
        </p:txBody>
      </p:sp>
      <p:sp>
        <p:nvSpPr>
          <p:cNvPr id="146" name="Text 144"/>
          <p:cNvSpPr/>
          <p:nvPr/>
        </p:nvSpPr>
        <p:spPr>
          <a:xfrm>
            <a:off x="9940794" y="3787539"/>
            <a:ext cx="582684" cy="168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926" dirty="0"/>
          </a:p>
        </p:txBody>
      </p:sp>
      <p:sp>
        <p:nvSpPr>
          <p:cNvPr id="147" name="Shape 145"/>
          <p:cNvSpPr/>
          <p:nvPr/>
        </p:nvSpPr>
        <p:spPr>
          <a:xfrm>
            <a:off x="10436586" y="3107741"/>
            <a:ext cx="286231" cy="153338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0462143" y="3123075"/>
            <a:ext cx="235118" cy="12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3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合唱</a:t>
            </a:r>
            <a:endParaRPr lang="en-US" sz="523" dirty="0"/>
          </a:p>
        </p:txBody>
      </p:sp>
      <p:sp>
        <p:nvSpPr>
          <p:cNvPr id="149" name="Text 147"/>
          <p:cNvSpPr/>
          <p:nvPr/>
        </p:nvSpPr>
        <p:spPr>
          <a:xfrm>
            <a:off x="9639230" y="3112852"/>
            <a:ext cx="281119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3" dirty="0">
                <a:solidFill>
                  <a:srgbClr val="BBA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483" dirty="0"/>
          </a:p>
        </p:txBody>
      </p:sp>
      <p:sp>
        <p:nvSpPr>
          <p:cNvPr id="150" name="Text 148"/>
          <p:cNvSpPr/>
          <p:nvPr/>
        </p:nvSpPr>
        <p:spPr>
          <a:xfrm>
            <a:off x="10518367" y="3930654"/>
            <a:ext cx="332232" cy="11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483" dirty="0"/>
          </a:p>
        </p:txBody>
      </p:sp>
      <p:sp>
        <p:nvSpPr>
          <p:cNvPr id="151" name="Text 149"/>
          <p:cNvSpPr/>
          <p:nvPr/>
        </p:nvSpPr>
        <p:spPr>
          <a:xfrm>
            <a:off x="9358110" y="4712677"/>
            <a:ext cx="1748051" cy="12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4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 /  你的起点</a:t>
            </a:r>
            <a:endParaRPr lang="en-US" sz="644" dirty="0"/>
          </a:p>
        </p:txBody>
      </p:sp>
      <p:sp>
        <p:nvSpPr>
          <p:cNvPr id="152" name="Shape 150"/>
          <p:cNvSpPr/>
          <p:nvPr/>
        </p:nvSpPr>
        <p:spPr>
          <a:xfrm>
            <a:off x="9358110" y="4983574"/>
            <a:ext cx="1748051" cy="373122"/>
          </a:xfrm>
          <a:prstGeom prst="roundRect">
            <a:avLst>
              <a:gd name="adj" fmla="val 16438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439890" y="5055131"/>
            <a:ext cx="219784" cy="219784"/>
          </a:xfrm>
          <a:prstGeom prst="ellipse">
            <a:avLst/>
          </a:prstGeom>
          <a:solidFill>
            <a:srgbClr val="2B524A"/>
          </a:solidFill>
          <a:ln w="5111">
            <a:solidFill>
              <a:srgbClr val="2B524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475669" y="5080688"/>
            <a:ext cx="148227" cy="15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6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▷</a:t>
            </a:r>
            <a:endParaRPr lang="en-US" sz="966" dirty="0"/>
          </a:p>
        </p:txBody>
      </p:sp>
      <p:sp>
        <p:nvSpPr>
          <p:cNvPr id="155" name="Text 153"/>
          <p:cNvSpPr/>
          <p:nvPr/>
        </p:nvSpPr>
        <p:spPr>
          <a:xfrm>
            <a:off x="9746566" y="5060243"/>
            <a:ext cx="1144923" cy="12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慢速回声</a:t>
            </a:r>
            <a:endParaRPr lang="en-US" sz="684" dirty="0"/>
          </a:p>
        </p:txBody>
      </p:sp>
      <p:sp>
        <p:nvSpPr>
          <p:cNvPr id="156" name="Text 154"/>
          <p:cNvSpPr/>
          <p:nvPr/>
        </p:nvSpPr>
        <p:spPr>
          <a:xfrm>
            <a:off x="9746566" y="5239137"/>
            <a:ext cx="1165368" cy="868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× 回声港  ·  连接作品</a:t>
            </a:r>
            <a:endParaRPr lang="en-US" sz="443" dirty="0"/>
          </a:p>
        </p:txBody>
      </p:sp>
      <p:sp>
        <p:nvSpPr>
          <p:cNvPr id="157" name="Shape 155"/>
          <p:cNvSpPr/>
          <p:nvPr/>
        </p:nvSpPr>
        <p:spPr>
          <a:xfrm>
            <a:off x="9240551" y="5581591"/>
            <a:ext cx="1983169" cy="373122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337665" y="5581591"/>
            <a:ext cx="1788942" cy="914"/>
          </a:xfrm>
          <a:prstGeom prst="line">
            <a:avLst/>
          </a:prstGeom>
          <a:noFill/>
          <a:ln w="3578">
            <a:solidFill>
              <a:srgbClr val="323A47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572783" y="5668483"/>
            <a:ext cx="35779" cy="35779"/>
          </a:xfrm>
          <a:prstGeom prst="ellipse">
            <a:avLst/>
          </a:prstGeom>
          <a:solidFill>
            <a:srgbClr val="72E4D4"/>
          </a:solidFill>
          <a:ln w="5111">
            <a:solidFill>
              <a:srgbClr val="72E4D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347888" y="5750263"/>
            <a:ext cx="480459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</a:t>
            </a:r>
            <a:endParaRPr lang="en-US" sz="563" dirty="0"/>
          </a:p>
        </p:txBody>
      </p:sp>
      <p:sp>
        <p:nvSpPr>
          <p:cNvPr id="161" name="Shape 159"/>
          <p:cNvSpPr/>
          <p:nvPr/>
        </p:nvSpPr>
        <p:spPr>
          <a:xfrm>
            <a:off x="10206580" y="5668483"/>
            <a:ext cx="35779" cy="35779"/>
          </a:xfrm>
          <a:prstGeom prst="ellipse">
            <a:avLst/>
          </a:prstGeom>
          <a:solidFill>
            <a:srgbClr val="626C7C"/>
          </a:solidFill>
          <a:ln w="5111">
            <a:solidFill>
              <a:srgbClr val="626C7C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981684" y="5750263"/>
            <a:ext cx="480459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563" dirty="0"/>
          </a:p>
        </p:txBody>
      </p:sp>
      <p:sp>
        <p:nvSpPr>
          <p:cNvPr id="163" name="Shape 161"/>
          <p:cNvSpPr/>
          <p:nvPr/>
        </p:nvSpPr>
        <p:spPr>
          <a:xfrm>
            <a:off x="10840376" y="5668483"/>
            <a:ext cx="35779" cy="35779"/>
          </a:xfrm>
          <a:prstGeom prst="ellipse">
            <a:avLst/>
          </a:prstGeom>
          <a:solidFill>
            <a:srgbClr val="626C7C"/>
          </a:solidFill>
          <a:ln w="5111">
            <a:solidFill>
              <a:srgbClr val="626C7C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0615481" y="5750263"/>
            <a:ext cx="480459" cy="1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3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563" dirty="0"/>
          </a:p>
        </p:txBody>
      </p:sp>
      <p:sp>
        <p:nvSpPr>
          <p:cNvPr id="165" name="Shape 16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67" name="Text 16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68" name="Text 16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 / 44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START HERE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先分别玩一遍，再做选择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PowerPoint放映时点击按钮；编辑模式可用Ctrl+单击。网页原型支持同样的页面跳转。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21208" y="2148840"/>
            <a:ext cx="3602736" cy="3401568"/>
          </a:xfrm>
          <a:prstGeom prst="roundRect">
            <a:avLst>
              <a:gd name="adj" fmla="val 376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404872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49808" y="301752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" y="369417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留下我的现场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9808" y="43799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成卡 → 分享 → 交换 → 档案</a:t>
            </a:r>
            <a:endParaRPr lang="en-US" sz="1270" dirty="0"/>
          </a:p>
        </p:txBody>
      </p:sp>
      <p:sp>
        <p:nvSpPr>
          <p:cNvPr id="14" name="Shape 12">
            <a:hlinkClick r:id="rId1" tooltip="" action="ppaction://hlinksldjump"/>
          </p:cNvPr>
          <p:cNvSpPr/>
          <p:nvPr/>
        </p:nvSpPr>
        <p:spPr>
          <a:xfrm>
            <a:off x="749808" y="4937760"/>
            <a:ext cx="3127248" cy="393192"/>
          </a:xfrm>
          <a:prstGeom prst="roundRect">
            <a:avLst>
              <a:gd name="adj" fmla="val 20930"/>
            </a:avLst>
          </a:prstGeom>
          <a:solidFill>
            <a:srgbClr val="FF845E"/>
          </a:solidFill>
          <a:ln w="12700">
            <a:solidFill>
              <a:srgbClr val="FF845E"/>
            </a:solidFill>
            <a:prstDash val="solid"/>
          </a:ln>
        </p:spPr>
      </p:sp>
      <p:sp>
        <p:nvSpPr>
          <p:cNvPr id="15" name="Text 13">
            <a:hlinkClick r:id="rId2" tooltip="" action="ppaction://hlinksldjump"/>
          </p:cNvPr>
          <p:cNvSpPr/>
          <p:nvPr/>
        </p:nvSpPr>
        <p:spPr>
          <a:xfrm>
            <a:off x="822960" y="4965192"/>
            <a:ext cx="2980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进入  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6824" y="2148840"/>
            <a:ext cx="3602736" cy="3401568"/>
          </a:xfrm>
          <a:prstGeom prst="roundRect">
            <a:avLst>
              <a:gd name="adj" fmla="val 376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2404872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35424" y="301752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35424" y="369417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走向下一首音乐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35424" y="43799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 → 试听 → 挑战 → 接力</a:t>
            </a:r>
            <a:endParaRPr lang="en-US" sz="1270" dirty="0"/>
          </a:p>
        </p:txBody>
      </p:sp>
      <p:sp>
        <p:nvSpPr>
          <p:cNvPr id="21" name="Shape 19">
            <a:hlinkClick r:id="rId3" tooltip="" action="ppaction://hlinksldjump"/>
          </p:cNvPr>
          <p:cNvSpPr/>
          <p:nvPr/>
        </p:nvSpPr>
        <p:spPr>
          <a:xfrm>
            <a:off x="4535424" y="4937760"/>
            <a:ext cx="3127248" cy="393192"/>
          </a:xfrm>
          <a:prstGeom prst="roundRect">
            <a:avLst>
              <a:gd name="adj" fmla="val 20930"/>
            </a:avLst>
          </a:prstGeom>
          <a:solidFill>
            <a:srgbClr val="72E4D4"/>
          </a:solidFill>
          <a:ln w="12700">
            <a:solidFill>
              <a:srgbClr val="72E4D4"/>
            </a:solidFill>
            <a:prstDash val="solid"/>
          </a:ln>
        </p:spPr>
      </p:sp>
      <p:sp>
        <p:nvSpPr>
          <p:cNvPr id="22" name="Text 20">
            <a:hlinkClick r:id="rId4" tooltip="" action="ppaction://hlinksldjump"/>
          </p:cNvPr>
          <p:cNvSpPr/>
          <p:nvPr/>
        </p:nvSpPr>
        <p:spPr>
          <a:xfrm>
            <a:off x="4608576" y="4965192"/>
            <a:ext cx="2980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进入  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2148840"/>
            <a:ext cx="3602736" cy="3401568"/>
          </a:xfrm>
          <a:prstGeom prst="roundRect">
            <a:avLst>
              <a:gd name="adj" fmla="val 376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404872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BA7F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321040" y="301752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参赛决策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21040" y="369417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把得奖作为目标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8321040" y="43799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评审对照 → 风险 → 验证 → 推荐</a:t>
            </a:r>
            <a:endParaRPr lang="en-US" sz="1270" dirty="0"/>
          </a:p>
        </p:txBody>
      </p:sp>
      <p:sp>
        <p:nvSpPr>
          <p:cNvPr id="28" name="Shape 26">
            <a:hlinkClick r:id="rId5" tooltip="" action="ppaction://hlinksldjump"/>
          </p:cNvPr>
          <p:cNvSpPr/>
          <p:nvPr/>
        </p:nvSpPr>
        <p:spPr>
          <a:xfrm>
            <a:off x="8321040" y="4937760"/>
            <a:ext cx="3127248" cy="393192"/>
          </a:xfrm>
          <a:prstGeom prst="roundRect">
            <a:avLst>
              <a:gd name="adj" fmla="val 20930"/>
            </a:avLst>
          </a:prstGeom>
          <a:solidFill>
            <a:srgbClr val="BBA7F5"/>
          </a:solidFill>
          <a:ln w="12700">
            <a:solidFill>
              <a:srgbClr val="BBA7F5"/>
            </a:solidFill>
            <a:prstDash val="solid"/>
          </a:ln>
        </p:spPr>
      </p:sp>
      <p:sp>
        <p:nvSpPr>
          <p:cNvPr id="29" name="Text 27">
            <a:hlinkClick r:id="rId6" tooltip="" action="ppaction://hlinksldjump"/>
          </p:cNvPr>
          <p:cNvSpPr/>
          <p:nvPr/>
        </p:nvSpPr>
        <p:spPr>
          <a:xfrm>
            <a:off x="8394192" y="4965192"/>
            <a:ext cx="2980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进入  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8887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本原型不调用AI、不播放音频、不上传或发布内容；可点区域用于模拟核心流程。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DECISION IN ONE PAGE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以争奖为目标：先验证 Map，保留 Space 退路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这是方案竞争力判断，不是获奖概率；没有官方权重、对手名单或真实评委评分。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40864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主推方案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916936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04088" y="3831336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更容易让评委亲手发现音乐。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前提：关系可信、音乐可用、任务真的好玩。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4632" y="2121408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2340864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更稳的备选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5800" y="2916936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495800" y="3831336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个人素材即可成卡，基础链路依赖较少。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强项：个人表达、完成度、真实试点。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6344" y="2121408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7512" y="2340864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改变推荐的条件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87512" y="2916936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不是只看创意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287512" y="3831336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若Map数据/试听不通，或Space已有真实用户证据，优先完成度更高的一案。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5641848"/>
            <a:ext cx="11137392" cy="438912"/>
          </a:xfrm>
          <a:prstGeom prst="rect">
            <a:avLst/>
          </a:prstGeom>
          <a:solidFill>
            <a:srgbClr val="172B27"/>
          </a:solidFill>
          <a:ln w="8255">
            <a:solidFill>
              <a:srgbClr val="172B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57058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推荐的是“可玩的音乐发现”，不是“会转的关系球”。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A7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COMPETITION CHECK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先对齐比赛：用户价值、可行性、创新性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266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规则详情依据用户赛事截图；官方入口与高校通知用于核验赛事身份和公开日期。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CECB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971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971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[R01] [R02] [R03]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971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12064" y="2130552"/>
            <a:ext cx="11155680" cy="649224"/>
          </a:xfrm>
          <a:prstGeom prst="rect">
            <a:avLst/>
          </a:prstGeom>
          <a:solidFill>
            <a:srgbClr val="E5E2D9"/>
          </a:solidFill>
          <a:ln w="8255">
            <a:solidFill>
              <a:srgbClr val="E5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249424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评审标准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240280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三项维度；截图未给数值权重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5074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D6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不伪造官方分数，不拿视觉炫酷替代用户价值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694944" y="2962656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参赛范围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953512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两赛道二选一；团队不超过2人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6400800" y="2953512"/>
            <a:ext cx="5074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D6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本次按独立创新音乐产品准备，不拼接两案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512064" y="3557016"/>
            <a:ext cx="11155680" cy="649224"/>
          </a:xfrm>
          <a:prstGeom prst="rect">
            <a:avLst/>
          </a:prstGeom>
          <a:solidFill>
            <a:srgbClr val="E5E2D9"/>
          </a:solidFill>
          <a:ln w="8255">
            <a:solidFill>
              <a:srgbClr val="E5E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675888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主要交付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3666744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100—300字介绍 + 可访问在线Demo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6400800" y="3666744"/>
            <a:ext cx="5074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D6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PPT原型只是设计材料；正式参赛需开发可用网页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94944" y="4389120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AI与接口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4379976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允许AI Coding；初赛暂无官方API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6400800" y="4379976"/>
            <a:ext cx="5074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D6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不得把未来曲库、AI输出或蓝牙当成已有能力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12064" y="4983480"/>
            <a:ext cx="11155680" cy="649224"/>
          </a:xfrm>
          <a:prstGeom prst="rect">
            <a:avLst/>
          </a:prstGeom>
          <a:solidFill>
            <a:srgbClr val="E5E2D9"/>
          </a:solidFill>
          <a:ln w="8255">
            <a:solidFill>
              <a:srgbClr val="E5E2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510235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截止时间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5093208"/>
            <a:ext cx="4050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高校通知列出2026.10.09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6400800" y="5093208"/>
            <a:ext cx="5074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D64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具体时刻与所对应环节仍需官方确认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FAIR COMPARISON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两案比较同一个“可交付版本”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不拿Space的完整社区愿景，去对比Map的五个小按钮；也不把未来功能算进已完成度。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39496" y="2121408"/>
            <a:ext cx="5367528" cy="3255264"/>
          </a:xfrm>
          <a:prstGeom prst="roundRect">
            <a:avLst>
              <a:gd name="adj" fmla="val 280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91072" y="2121408"/>
            <a:ext cx="5367528" cy="3255264"/>
          </a:xfrm>
          <a:prstGeom prst="roundRect">
            <a:avLst>
              <a:gd name="adj" fmla="val 280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3591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10528" y="23591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58952" y="3026664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一场演出 · 一张现场卡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一条交换流程 · 一页私人档案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10528" y="3026664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一个专题图谱 · 一条试听链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一个可完成挑战 · 一张路线卡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44348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个人成卡独立成立。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不把陌生人社交作为进入门槛。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44348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个人漫游独立成立。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不假设全艺人覆盖或天然可用的API。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7784" y="5779008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共同假设：手机网页优先、两人小团队、现有代码与资源尚未核实、均要保留错误态。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VISUAL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两套审美，同样的产品完成度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核心排版、按钮和图形均为可编辑PPT元素；不以更多特效人为抬高某一方案。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548640" y="2185416"/>
            <a:ext cx="5212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SPACE / LIVE ARCHIVE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62072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摄影联系印样 × 演出票根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温暖、个人、值得留下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48640" y="4224528"/>
            <a:ext cx="1426464" cy="658368"/>
          </a:xfrm>
          <a:prstGeom prst="rect">
            <a:avLst/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383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#0E131B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76272" y="4224528"/>
            <a:ext cx="1426464" cy="658368"/>
          </a:xfrm>
          <a:prstGeom prst="rect">
            <a:avLst/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50383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#FF845E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4224528"/>
            <a:ext cx="1426464" cy="658368"/>
          </a:xfrm>
          <a:prstGeom prst="rect">
            <a:avLst/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50383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#F0EDE4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185416"/>
            <a:ext cx="5212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MAP / MUSIC EXPLORER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862072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关系轨道 × 轻量空间感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清晰、好奇、值得再走一步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6309360" y="4224528"/>
            <a:ext cx="1426464" cy="658368"/>
          </a:xfrm>
          <a:prstGeom prst="rect">
            <a:avLst/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50383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#0E131B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36992" y="4224528"/>
            <a:ext cx="1426464" cy="658368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6992" y="50383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#72E4D4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64624" y="4224528"/>
            <a:ext cx="1426464" cy="658368"/>
          </a:xfrm>
          <a:prstGeom prst="rect">
            <a:avLst/>
          </a:prstGeom>
          <a:solidFill>
            <a:srgbClr val="BBA7F5"/>
          </a:solidFill>
          <a:ln w="8255">
            <a:solidFill>
              <a:srgbClr val="BBA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64624" y="50383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#BBA7F5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579729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共同原则：单屏一个主要动作 / 文字对比清晰 / 不强制分享 / 示例身份与真实事实分开。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 / MUSIC SPACE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Space：把现场经历变成自己的作品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先创造单人价值，再提供同场交换；不是一打开就要找陌生人。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9776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我去过。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我记得。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我想留下。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76072" y="4828032"/>
            <a:ext cx="3931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核心体验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照片 → 可编辑现场卡 → 私人档案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可选体验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公开一张卡 → 双向交换另一种视角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4924044" y="2052828"/>
            <a:ext cx="1819656" cy="3842121"/>
          </a:xfrm>
          <a:prstGeom prst="roundRect">
            <a:avLst>
              <a:gd name="adj" fmla="val 10050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2093976"/>
            <a:ext cx="1737360" cy="3759825"/>
          </a:xfrm>
          <a:prstGeom prst="roundRect">
            <a:avLst>
              <a:gd name="adj" fmla="val 8421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3197" y="2156343"/>
            <a:ext cx="338562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56" dirty="0"/>
          </a:p>
        </p:txBody>
      </p:sp>
      <p:sp>
        <p:nvSpPr>
          <p:cNvPr id="14" name="Shape 12"/>
          <p:cNvSpPr/>
          <p:nvPr/>
        </p:nvSpPr>
        <p:spPr>
          <a:xfrm>
            <a:off x="5660136" y="2134069"/>
            <a:ext cx="347472" cy="8909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8444" y="2209800"/>
            <a:ext cx="13364" cy="2672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0718" y="2196436"/>
            <a:ext cx="13364" cy="4009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2992" y="2183071"/>
            <a:ext cx="13364" cy="5345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5266" y="2169707"/>
            <a:ext cx="13364" cy="6682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7633" y="2174162"/>
            <a:ext cx="98005" cy="4900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6542" y="2183071"/>
            <a:ext cx="66822" cy="3118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0092" y="2187526"/>
            <a:ext cx="8910" cy="2227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63197" y="2330079"/>
            <a:ext cx="115824" cy="15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087" dirty="0"/>
          </a:p>
        </p:txBody>
      </p:sp>
      <p:sp>
        <p:nvSpPr>
          <p:cNvPr id="23" name="Text 21"/>
          <p:cNvSpPr/>
          <p:nvPr/>
        </p:nvSpPr>
        <p:spPr>
          <a:xfrm>
            <a:off x="5241388" y="2338988"/>
            <a:ext cx="1176059" cy="13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你的这一晚</a:t>
            </a:r>
            <a:endParaRPr lang="en-US" sz="737" dirty="0"/>
          </a:p>
        </p:txBody>
      </p:sp>
      <p:sp>
        <p:nvSpPr>
          <p:cNvPr id="24" name="Shape 22"/>
          <p:cNvSpPr/>
          <p:nvPr/>
        </p:nvSpPr>
        <p:spPr>
          <a:xfrm>
            <a:off x="5076561" y="2597365"/>
            <a:ext cx="1514622" cy="2093742"/>
          </a:xfrm>
          <a:prstGeom prst="roundRect">
            <a:avLst>
              <a:gd name="adj" fmla="val 2059"/>
            </a:avLst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383" y="2650822"/>
            <a:ext cx="1380978" cy="80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1" b="1" dirty="0">
                <a:solidFill>
                  <a:srgbClr val="171B2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 /  LIVE CARD</a:t>
            </a:r>
            <a:endParaRPr lang="en-US" sz="351" dirty="0"/>
          </a:p>
        </p:txBody>
      </p:sp>
      <p:sp>
        <p:nvSpPr>
          <p:cNvPr id="26" name="Shape 24"/>
          <p:cNvSpPr/>
          <p:nvPr/>
        </p:nvSpPr>
        <p:spPr>
          <a:xfrm>
            <a:off x="5143383" y="2784465"/>
            <a:ext cx="1380978" cy="914"/>
          </a:xfrm>
          <a:prstGeom prst="line">
            <a:avLst/>
          </a:prstGeom>
          <a:noFill/>
          <a:ln w="3118">
            <a:solidFill>
              <a:srgbClr val="BBB7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2846832"/>
            <a:ext cx="1389888" cy="1004996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0119" y="2947332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0119" y="3010646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0119" y="3073961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0119" y="3137276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0119" y="3200591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50119" y="3263905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50119" y="3327220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0119" y="3390535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0119" y="3453850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0119" y="3517164"/>
            <a:ext cx="1139708" cy="16079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4378" y="2927232"/>
            <a:ext cx="569854" cy="569854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074" y="2967432"/>
            <a:ext cx="111191" cy="552748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08422" y="3751328"/>
            <a:ext cx="84783" cy="1005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44631" y="3645804"/>
            <a:ext cx="84783" cy="20602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0840" y="3675954"/>
            <a:ext cx="84783" cy="17587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17049" y="3706104"/>
            <a:ext cx="84783" cy="14572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53258" y="3736253"/>
            <a:ext cx="84783" cy="11557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9468" y="3630729"/>
            <a:ext cx="84783" cy="22109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25677" y="3660879"/>
            <a:ext cx="84783" cy="19094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61886" y="3691029"/>
            <a:ext cx="84783" cy="16079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98095" y="3721178"/>
            <a:ext cx="84783" cy="13064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34304" y="3751328"/>
            <a:ext cx="84783" cy="1005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0119" y="3057881"/>
            <a:ext cx="1000719" cy="582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2356" dirty="0"/>
          </a:p>
          <a:p>
            <a:pPr indent="0" marL="0">
              <a:buNone/>
            </a:pPr>
            <a:r>
              <a:rPr lang="en-US" sz="23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2356" dirty="0"/>
          </a:p>
        </p:txBody>
      </p:sp>
      <p:sp>
        <p:nvSpPr>
          <p:cNvPr id="51" name="Text 49"/>
          <p:cNvSpPr/>
          <p:nvPr/>
        </p:nvSpPr>
        <p:spPr>
          <a:xfrm>
            <a:off x="5152292" y="3916422"/>
            <a:ext cx="1363159" cy="15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7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947" dirty="0"/>
          </a:p>
        </p:txBody>
      </p:sp>
      <p:sp>
        <p:nvSpPr>
          <p:cNvPr id="52" name="Text 50"/>
          <p:cNvSpPr/>
          <p:nvPr/>
        </p:nvSpPr>
        <p:spPr>
          <a:xfrm>
            <a:off x="5152292" y="4125796"/>
            <a:ext cx="1363159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1" dirty="0">
                <a:solidFill>
                  <a:srgbClr val="6564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2026.09.12  /  广州</a:t>
            </a:r>
            <a:endParaRPr lang="en-US" sz="421" dirty="0"/>
          </a:p>
        </p:txBody>
      </p:sp>
      <p:sp>
        <p:nvSpPr>
          <p:cNvPr id="53" name="Text 51"/>
          <p:cNvSpPr/>
          <p:nvPr/>
        </p:nvSpPr>
        <p:spPr>
          <a:xfrm>
            <a:off x="5152292" y="4314233"/>
            <a:ext cx="136315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456" dirty="0"/>
          </a:p>
        </p:txBody>
      </p:sp>
      <p:sp>
        <p:nvSpPr>
          <p:cNvPr id="54" name="Shape 52"/>
          <p:cNvSpPr/>
          <p:nvPr/>
        </p:nvSpPr>
        <p:spPr>
          <a:xfrm>
            <a:off x="5152292" y="4460795"/>
            <a:ext cx="1363159" cy="914"/>
          </a:xfrm>
          <a:prstGeom prst="line">
            <a:avLst/>
          </a:prstGeom>
          <a:noFill/>
          <a:ln w="3118">
            <a:solidFill>
              <a:srgbClr val="B8B5A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52292" y="4523607"/>
            <a:ext cx="1363159" cy="7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1" dirty="0">
                <a:solidFill>
                  <a:srgbClr val="6261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  ·  今晚最佳：返场</a:t>
            </a:r>
            <a:endParaRPr lang="en-US" sz="351" dirty="0"/>
          </a:p>
        </p:txBody>
      </p:sp>
      <p:sp>
        <p:nvSpPr>
          <p:cNvPr id="56" name="Text 54"/>
          <p:cNvSpPr/>
          <p:nvPr/>
        </p:nvSpPr>
        <p:spPr>
          <a:xfrm>
            <a:off x="5081016" y="4789111"/>
            <a:ext cx="1505712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属于你的记录，不是官方到场凭证。</a:t>
            </a:r>
            <a:endParaRPr lang="en-US" sz="421" dirty="0"/>
          </a:p>
        </p:txBody>
      </p:sp>
      <p:sp>
        <p:nvSpPr>
          <p:cNvPr id="57" name="Shape 55"/>
          <p:cNvSpPr/>
          <p:nvPr/>
        </p:nvSpPr>
        <p:spPr>
          <a:xfrm>
            <a:off x="5072106" y="4985121"/>
            <a:ext cx="1523531" cy="222738"/>
          </a:xfrm>
          <a:prstGeom prst="roundRect">
            <a:avLst>
              <a:gd name="adj" fmla="val 2400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12199" y="4998486"/>
            <a:ext cx="1443345" cy="1960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保存到我的档案</a:t>
            </a:r>
            <a:endParaRPr lang="en-US" sz="631" dirty="0"/>
          </a:p>
        </p:txBody>
      </p:sp>
      <p:sp>
        <p:nvSpPr>
          <p:cNvPr id="59" name="Shape 57"/>
          <p:cNvSpPr/>
          <p:nvPr/>
        </p:nvSpPr>
        <p:spPr>
          <a:xfrm>
            <a:off x="5072106" y="5279136"/>
            <a:ext cx="1523531" cy="213829"/>
          </a:xfrm>
          <a:prstGeom prst="roundRect">
            <a:avLst>
              <a:gd name="adj" fmla="val 25000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12199" y="5292500"/>
            <a:ext cx="1443345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选择分享范围</a:t>
            </a:r>
            <a:endParaRPr lang="en-US" sz="631" dirty="0"/>
          </a:p>
        </p:txBody>
      </p:sp>
      <p:sp>
        <p:nvSpPr>
          <p:cNvPr id="61" name="Shape 59"/>
          <p:cNvSpPr/>
          <p:nvPr/>
        </p:nvSpPr>
        <p:spPr>
          <a:xfrm>
            <a:off x="7319772" y="2052828"/>
            <a:ext cx="1819656" cy="3842121"/>
          </a:xfrm>
          <a:prstGeom prst="roundRect">
            <a:avLst>
              <a:gd name="adj" fmla="val 10050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60920" y="2093976"/>
            <a:ext cx="1737360" cy="3759825"/>
          </a:xfrm>
          <a:prstGeom prst="roundRect">
            <a:avLst>
              <a:gd name="adj" fmla="val 8421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58925" y="2156343"/>
            <a:ext cx="338562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56" dirty="0"/>
          </a:p>
        </p:txBody>
      </p:sp>
      <p:sp>
        <p:nvSpPr>
          <p:cNvPr id="64" name="Shape 62"/>
          <p:cNvSpPr/>
          <p:nvPr/>
        </p:nvSpPr>
        <p:spPr>
          <a:xfrm>
            <a:off x="8055864" y="2134069"/>
            <a:ext cx="347472" cy="8909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64172" y="2209800"/>
            <a:ext cx="13364" cy="2672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86446" y="2196436"/>
            <a:ext cx="13364" cy="4009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08720" y="2183071"/>
            <a:ext cx="13364" cy="5345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30994" y="2169707"/>
            <a:ext cx="13364" cy="6682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93361" y="2174162"/>
            <a:ext cx="98005" cy="4900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02270" y="2183071"/>
            <a:ext cx="66822" cy="3118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95820" y="2187526"/>
            <a:ext cx="8910" cy="2227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58925" y="2330079"/>
            <a:ext cx="115824" cy="15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087" dirty="0"/>
          </a:p>
        </p:txBody>
      </p:sp>
      <p:sp>
        <p:nvSpPr>
          <p:cNvPr id="73" name="Text 71"/>
          <p:cNvSpPr/>
          <p:nvPr/>
        </p:nvSpPr>
        <p:spPr>
          <a:xfrm>
            <a:off x="7637116" y="2338988"/>
            <a:ext cx="1176059" cy="13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 · 同场</a:t>
            </a:r>
            <a:endParaRPr lang="en-US" sz="737" dirty="0"/>
          </a:p>
        </p:txBody>
      </p:sp>
      <p:sp>
        <p:nvSpPr>
          <p:cNvPr id="74" name="Text 72"/>
          <p:cNvSpPr/>
          <p:nvPr/>
        </p:nvSpPr>
        <p:spPr>
          <a:xfrm>
            <a:off x="7463380" y="2534998"/>
            <a:ext cx="1532441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先看见一个视角，再决定认识谁。</a:t>
            </a:r>
            <a:endParaRPr lang="en-US" sz="491" dirty="0"/>
          </a:p>
        </p:txBody>
      </p:sp>
      <p:sp>
        <p:nvSpPr>
          <p:cNvPr id="75" name="Shape 73"/>
          <p:cNvSpPr/>
          <p:nvPr/>
        </p:nvSpPr>
        <p:spPr>
          <a:xfrm>
            <a:off x="7467834" y="2713189"/>
            <a:ext cx="311834" cy="133643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90108" y="2726553"/>
            <a:ext cx="267286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返场</a:t>
            </a:r>
            <a:endParaRPr lang="en-US" sz="456" dirty="0"/>
          </a:p>
        </p:txBody>
      </p:sp>
      <p:sp>
        <p:nvSpPr>
          <p:cNvPr id="77" name="Shape 75"/>
          <p:cNvSpPr/>
          <p:nvPr/>
        </p:nvSpPr>
        <p:spPr>
          <a:xfrm>
            <a:off x="7846490" y="2713189"/>
            <a:ext cx="454386" cy="133643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68764" y="2726553"/>
            <a:ext cx="409839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全场合唱</a:t>
            </a:r>
            <a:endParaRPr lang="en-US" sz="456" dirty="0"/>
          </a:p>
        </p:txBody>
      </p:sp>
      <p:sp>
        <p:nvSpPr>
          <p:cNvPr id="79" name="Shape 77"/>
          <p:cNvSpPr/>
          <p:nvPr/>
        </p:nvSpPr>
        <p:spPr>
          <a:xfrm>
            <a:off x="8367698" y="2713189"/>
            <a:ext cx="311834" cy="133643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89972" y="2726553"/>
            <a:ext cx="267286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舞台</a:t>
            </a:r>
            <a:endParaRPr lang="en-US" sz="456" dirty="0"/>
          </a:p>
        </p:txBody>
      </p:sp>
      <p:sp>
        <p:nvSpPr>
          <p:cNvPr id="81" name="Shape 79"/>
          <p:cNvSpPr/>
          <p:nvPr/>
        </p:nvSpPr>
        <p:spPr>
          <a:xfrm>
            <a:off x="7467834" y="2949292"/>
            <a:ext cx="1523531" cy="1576988"/>
          </a:xfrm>
          <a:prstGeom prst="roundRect">
            <a:avLst>
              <a:gd name="adj" fmla="val 350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30201" y="3020568"/>
            <a:ext cx="1398798" cy="882044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42105" y="3108772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42105" y="3164341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42105" y="3219910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42105" y="3275479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42105" y="3331048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642105" y="3386616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42105" y="3442185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642105" y="3497754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642105" y="3553323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42105" y="3608892"/>
            <a:ext cx="1147014" cy="141127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59660" y="3091132"/>
            <a:ext cx="573507" cy="573507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01624" y="3126413"/>
            <a:ext cx="111904" cy="485124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00141" y="3814408"/>
            <a:ext cx="85327" cy="882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37223" y="3721793"/>
            <a:ext cx="85327" cy="18081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874305" y="3748255"/>
            <a:ext cx="85327" cy="15435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11388" y="3774716"/>
            <a:ext cx="85327" cy="12789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148470" y="3801177"/>
            <a:ext cx="85327" cy="10143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85552" y="3708563"/>
            <a:ext cx="85327" cy="19405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22634" y="3735024"/>
            <a:ext cx="85327" cy="16758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59716" y="3761485"/>
            <a:ext cx="85327" cy="14112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696798" y="3787947"/>
            <a:ext cx="85327" cy="11466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833881" y="3814408"/>
            <a:ext cx="85327" cy="882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42105" y="3205797"/>
            <a:ext cx="1007134" cy="511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71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2371" dirty="0"/>
          </a:p>
          <a:p>
            <a:pPr indent="0" marL="0">
              <a:buNone/>
            </a:pPr>
            <a:r>
              <a:rPr lang="en-US" sz="2371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2371" dirty="0"/>
          </a:p>
        </p:txBody>
      </p:sp>
      <p:sp>
        <p:nvSpPr>
          <p:cNvPr id="106" name="Text 104"/>
          <p:cNvSpPr/>
          <p:nvPr/>
        </p:nvSpPr>
        <p:spPr>
          <a:xfrm>
            <a:off x="7543566" y="3982798"/>
            <a:ext cx="1345340" cy="12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阿遥  /  我拍到的人海</a:t>
            </a:r>
            <a:endParaRPr lang="en-US" sz="666" dirty="0"/>
          </a:p>
        </p:txBody>
      </p:sp>
      <p:sp>
        <p:nvSpPr>
          <p:cNvPr id="107" name="Text 105"/>
          <p:cNvSpPr/>
          <p:nvPr/>
        </p:nvSpPr>
        <p:spPr>
          <a:xfrm>
            <a:off x="7543566" y="4165444"/>
            <a:ext cx="1354250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你们都把「返场」选成今晚最佳</a:t>
            </a:r>
            <a:endParaRPr lang="en-US" sz="456" dirty="0"/>
          </a:p>
        </p:txBody>
      </p:sp>
      <p:sp>
        <p:nvSpPr>
          <p:cNvPr id="108" name="Shape 106"/>
          <p:cNvSpPr/>
          <p:nvPr/>
        </p:nvSpPr>
        <p:spPr>
          <a:xfrm>
            <a:off x="7543566" y="4303542"/>
            <a:ext cx="1367614" cy="187100"/>
          </a:xfrm>
          <a:prstGeom prst="roundRect">
            <a:avLst>
              <a:gd name="adj" fmla="val 28571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583658" y="4316906"/>
            <a:ext cx="1287428" cy="16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我也在 · 交换这一晚</a:t>
            </a:r>
            <a:endParaRPr lang="en-US" sz="631" dirty="0"/>
          </a:p>
        </p:txBody>
      </p:sp>
      <p:sp>
        <p:nvSpPr>
          <p:cNvPr id="110" name="Shape 108"/>
          <p:cNvSpPr/>
          <p:nvPr/>
        </p:nvSpPr>
        <p:spPr>
          <a:xfrm>
            <a:off x="7467834" y="4606466"/>
            <a:ext cx="1523531" cy="547937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30201" y="4668833"/>
            <a:ext cx="392020" cy="418748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61563" y="4710707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61563" y="4737089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561563" y="4763470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561563" y="4789851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561563" y="4816232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561563" y="4842613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561563" y="4868994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561563" y="4895375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561563" y="4921757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561563" y="4948138"/>
            <a:ext cx="321456" cy="6700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706610" y="4702332"/>
            <a:ext cx="160728" cy="160728"/>
          </a:xfrm>
          <a:prstGeom prst="ellipse">
            <a:avLst/>
          </a:prstGeom>
          <a:solidFill>
            <a:srgbClr val="72E4D4">
              <a:alpha val="93000"/>
            </a:srgbClr>
          </a:solidFill>
          <a:ln w="12700">
            <a:solidFill>
              <a:srgbClr val="72E4D4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18371" y="4719082"/>
            <a:ext cx="31362" cy="230312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49802" y="5045706"/>
            <a:ext cx="23913" cy="4187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588220" y="5001738"/>
            <a:ext cx="23913" cy="8584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626638" y="5014300"/>
            <a:ext cx="23913" cy="7328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665056" y="5026862"/>
            <a:ext cx="23913" cy="6071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703474" y="5039425"/>
            <a:ext cx="23913" cy="4815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741892" y="4995456"/>
            <a:ext cx="23913" cy="9212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780310" y="5008019"/>
            <a:ext cx="23913" cy="7956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818728" y="5020581"/>
            <a:ext cx="23913" cy="670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857146" y="5033144"/>
            <a:ext cx="23913" cy="5443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895564" y="5045706"/>
            <a:ext cx="23913" cy="4187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561563" y="4756770"/>
            <a:ext cx="282254" cy="242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665" dirty="0"/>
          </a:p>
          <a:p>
            <a:pPr indent="0" marL="0">
              <a:buNone/>
            </a:pPr>
            <a:r>
              <a:rPr lang="en-US" sz="665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665" dirty="0"/>
          </a:p>
        </p:txBody>
      </p:sp>
      <p:sp>
        <p:nvSpPr>
          <p:cNvPr id="135" name="Text 133"/>
          <p:cNvSpPr/>
          <p:nvPr/>
        </p:nvSpPr>
        <p:spPr>
          <a:xfrm>
            <a:off x="8006862" y="4717835"/>
            <a:ext cx="890954" cy="115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北北的侧台视角</a:t>
            </a:r>
            <a:endParaRPr lang="en-US" sz="596" dirty="0"/>
          </a:p>
        </p:txBody>
      </p:sp>
      <p:sp>
        <p:nvSpPr>
          <p:cNvPr id="136" name="Text 134"/>
          <p:cNvSpPr/>
          <p:nvPr/>
        </p:nvSpPr>
        <p:spPr>
          <a:xfrm>
            <a:off x="8006862" y="4896026"/>
            <a:ext cx="890954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只分享照片，暂不交友</a:t>
            </a:r>
            <a:endParaRPr lang="en-US" sz="456" dirty="0"/>
          </a:p>
        </p:txBody>
      </p:sp>
      <p:sp>
        <p:nvSpPr>
          <p:cNvPr id="137" name="Text 135"/>
          <p:cNvSpPr/>
          <p:nvPr/>
        </p:nvSpPr>
        <p:spPr>
          <a:xfrm>
            <a:off x="7467834" y="5265772"/>
            <a:ext cx="1523531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1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虚构示例成员 · 不代表真实到场</a:t>
            </a:r>
            <a:endParaRPr lang="en-US" sz="421" dirty="0"/>
          </a:p>
        </p:txBody>
      </p:sp>
      <p:sp>
        <p:nvSpPr>
          <p:cNvPr id="138" name="Shape 136"/>
          <p:cNvSpPr/>
          <p:nvPr/>
        </p:nvSpPr>
        <p:spPr>
          <a:xfrm>
            <a:off x="7365375" y="5524148"/>
            <a:ext cx="1728450" cy="325198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450015" y="5524148"/>
            <a:ext cx="1559169" cy="914"/>
          </a:xfrm>
          <a:prstGeom prst="line">
            <a:avLst/>
          </a:prstGeom>
          <a:noFill/>
          <a:ln w="3118">
            <a:solidFill>
              <a:srgbClr val="323A4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654935" y="5599879"/>
            <a:ext cx="31183" cy="31183"/>
          </a:xfrm>
          <a:prstGeom prst="ellipse">
            <a:avLst/>
          </a:prstGeom>
          <a:solidFill>
            <a:srgbClr val="626C7C"/>
          </a:solidFill>
          <a:ln w="4455">
            <a:solidFill>
              <a:srgbClr val="626C7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458925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</a:t>
            </a:r>
            <a:endParaRPr lang="en-US" sz="491" dirty="0"/>
          </a:p>
        </p:txBody>
      </p:sp>
      <p:sp>
        <p:nvSpPr>
          <p:cNvPr id="142" name="Shape 140"/>
          <p:cNvSpPr/>
          <p:nvPr/>
        </p:nvSpPr>
        <p:spPr>
          <a:xfrm>
            <a:off x="8207326" y="5599879"/>
            <a:ext cx="31183" cy="31183"/>
          </a:xfrm>
          <a:prstGeom prst="ellipse">
            <a:avLst/>
          </a:prstGeom>
          <a:solidFill>
            <a:srgbClr val="FF845E"/>
          </a:solidFill>
          <a:ln w="4455">
            <a:solidFill>
              <a:srgbClr val="FF845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011316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同场</a:t>
            </a:r>
            <a:endParaRPr lang="en-US" sz="491" dirty="0"/>
          </a:p>
        </p:txBody>
      </p:sp>
      <p:sp>
        <p:nvSpPr>
          <p:cNvPr id="144" name="Shape 142"/>
          <p:cNvSpPr/>
          <p:nvPr/>
        </p:nvSpPr>
        <p:spPr>
          <a:xfrm>
            <a:off x="8759718" y="5599879"/>
            <a:ext cx="31183" cy="31183"/>
          </a:xfrm>
          <a:prstGeom prst="ellipse">
            <a:avLst/>
          </a:prstGeom>
          <a:solidFill>
            <a:srgbClr val="626C7C"/>
          </a:solidFill>
          <a:ln w="4455">
            <a:solidFill>
              <a:srgbClr val="626C7C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563708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</a:t>
            </a:r>
            <a:endParaRPr lang="en-US" sz="491" dirty="0"/>
          </a:p>
        </p:txBody>
      </p:sp>
      <p:sp>
        <p:nvSpPr>
          <p:cNvPr id="146" name="Shape 144"/>
          <p:cNvSpPr/>
          <p:nvPr/>
        </p:nvSpPr>
        <p:spPr>
          <a:xfrm>
            <a:off x="9715500" y="2052828"/>
            <a:ext cx="1819656" cy="3842121"/>
          </a:xfrm>
          <a:prstGeom prst="roundRect">
            <a:avLst>
              <a:gd name="adj" fmla="val 10050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756648" y="2093976"/>
            <a:ext cx="1737360" cy="3759825"/>
          </a:xfrm>
          <a:prstGeom prst="roundRect">
            <a:avLst>
              <a:gd name="adj" fmla="val 8421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854653" y="2156343"/>
            <a:ext cx="338562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56" dirty="0"/>
          </a:p>
        </p:txBody>
      </p:sp>
      <p:sp>
        <p:nvSpPr>
          <p:cNvPr id="149" name="Shape 147"/>
          <p:cNvSpPr/>
          <p:nvPr/>
        </p:nvSpPr>
        <p:spPr>
          <a:xfrm>
            <a:off x="10451592" y="2134069"/>
            <a:ext cx="347472" cy="8909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1159900" y="2209800"/>
            <a:ext cx="13364" cy="2672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1182174" y="2196436"/>
            <a:ext cx="13364" cy="4009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1204448" y="2183071"/>
            <a:ext cx="13364" cy="5345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1226722" y="2169707"/>
            <a:ext cx="13364" cy="6682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1289089" y="2174162"/>
            <a:ext cx="98005" cy="4900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1297998" y="2183071"/>
            <a:ext cx="66822" cy="3118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391548" y="2187526"/>
            <a:ext cx="8910" cy="2227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863562" y="2370172"/>
            <a:ext cx="1523531" cy="441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MY LIVE</a:t>
            </a:r>
            <a:endParaRPr lang="en-US" sz="1263" dirty="0"/>
          </a:p>
          <a:p>
            <a:pPr indent="0" marL="0">
              <a:buNone/>
            </a:pPr>
            <a:r>
              <a:rPr lang="en-US" sz="126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ARCHIVE</a:t>
            </a:r>
            <a:endParaRPr lang="en-US" sz="1263" dirty="0"/>
          </a:p>
        </p:txBody>
      </p:sp>
      <p:sp>
        <p:nvSpPr>
          <p:cNvPr id="158" name="Shape 156"/>
          <p:cNvSpPr/>
          <p:nvPr/>
        </p:nvSpPr>
        <p:spPr>
          <a:xfrm>
            <a:off x="9863562" y="2909199"/>
            <a:ext cx="583575" cy="133643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885836" y="2922563"/>
            <a:ext cx="539027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仅自己可见</a:t>
            </a:r>
            <a:endParaRPr lang="en-US" sz="456" dirty="0"/>
          </a:p>
        </p:txBody>
      </p:sp>
      <p:sp>
        <p:nvSpPr>
          <p:cNvPr id="160" name="Text 158"/>
          <p:cNvSpPr/>
          <p:nvPr/>
        </p:nvSpPr>
        <p:spPr>
          <a:xfrm>
            <a:off x="9863562" y="3167575"/>
            <a:ext cx="966685" cy="245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</a:t>
            </a:r>
            <a:endParaRPr lang="en-US" sz="1578" dirty="0"/>
          </a:p>
        </p:txBody>
      </p:sp>
      <p:sp>
        <p:nvSpPr>
          <p:cNvPr id="161" name="Text 159"/>
          <p:cNvSpPr/>
          <p:nvPr/>
        </p:nvSpPr>
        <p:spPr>
          <a:xfrm>
            <a:off x="9863562" y="3479409"/>
            <a:ext cx="1523531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个夜晚  /  示例记录</a:t>
            </a:r>
            <a:endParaRPr lang="en-US" sz="561" dirty="0"/>
          </a:p>
        </p:txBody>
      </p:sp>
      <p:sp>
        <p:nvSpPr>
          <p:cNvPr id="162" name="Shape 160"/>
          <p:cNvSpPr/>
          <p:nvPr/>
        </p:nvSpPr>
        <p:spPr>
          <a:xfrm>
            <a:off x="9863562" y="3693238"/>
            <a:ext cx="1523531" cy="0"/>
          </a:xfrm>
          <a:prstGeom prst="line">
            <a:avLst/>
          </a:prstGeom>
          <a:noFill/>
          <a:ln w="6350">
            <a:solidFill>
              <a:srgbClr val="323A47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868017" y="3800153"/>
            <a:ext cx="320743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1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09.12</a:t>
            </a:r>
            <a:endParaRPr lang="en-US" sz="631" dirty="0"/>
          </a:p>
        </p:txBody>
      </p:sp>
      <p:sp>
        <p:nvSpPr>
          <p:cNvPr id="164" name="Shape 162"/>
          <p:cNvSpPr/>
          <p:nvPr/>
        </p:nvSpPr>
        <p:spPr>
          <a:xfrm>
            <a:off x="10237763" y="3751150"/>
            <a:ext cx="316289" cy="383110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263066" y="3789461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63066" y="3813597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263066" y="3837733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263066" y="3861869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63066" y="3886005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263066" y="3910141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263066" y="3934277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263066" y="3958413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263066" y="3982549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263066" y="4006685"/>
            <a:ext cx="259357" cy="61298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380093" y="3781799"/>
            <a:ext cx="129678" cy="129678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389582" y="3797123"/>
            <a:ext cx="25303" cy="210711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53578" y="4095949"/>
            <a:ext cx="19294" cy="383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284574" y="4055723"/>
            <a:ext cx="19294" cy="7853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315570" y="4067216"/>
            <a:ext cx="19294" cy="670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346566" y="4078709"/>
            <a:ext cx="19294" cy="5555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377563" y="4090203"/>
            <a:ext cx="19294" cy="4405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408559" y="4049976"/>
            <a:ext cx="19294" cy="8428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439555" y="4061469"/>
            <a:ext cx="19294" cy="727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470551" y="4072963"/>
            <a:ext cx="19294" cy="6129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501548" y="4084456"/>
            <a:ext cx="19294" cy="498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532544" y="4095949"/>
            <a:ext cx="19294" cy="383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0263066" y="3831603"/>
            <a:ext cx="227728" cy="222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600" dirty="0"/>
          </a:p>
          <a:p>
            <a:pPr indent="0" marL="0">
              <a:buNone/>
            </a:pPr>
            <a:r>
              <a:rPr lang="en-US" sz="6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600" dirty="0"/>
          </a:p>
        </p:txBody>
      </p:sp>
      <p:sp>
        <p:nvSpPr>
          <p:cNvPr id="188" name="Text 186"/>
          <p:cNvSpPr/>
          <p:nvPr/>
        </p:nvSpPr>
        <p:spPr>
          <a:xfrm>
            <a:off x="10629783" y="3791243"/>
            <a:ext cx="757311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666" dirty="0"/>
          </a:p>
        </p:txBody>
      </p:sp>
      <p:sp>
        <p:nvSpPr>
          <p:cNvPr id="189" name="Text 187"/>
          <p:cNvSpPr/>
          <p:nvPr/>
        </p:nvSpPr>
        <p:spPr>
          <a:xfrm>
            <a:off x="10629783" y="3991708"/>
            <a:ext cx="712763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</a:t>
            </a:r>
            <a:endParaRPr lang="en-US" sz="456" dirty="0"/>
          </a:p>
        </p:txBody>
      </p:sp>
      <p:sp>
        <p:nvSpPr>
          <p:cNvPr id="190" name="Shape 188"/>
          <p:cNvSpPr/>
          <p:nvPr/>
        </p:nvSpPr>
        <p:spPr>
          <a:xfrm>
            <a:off x="9863562" y="4218901"/>
            <a:ext cx="1523531" cy="0"/>
          </a:xfrm>
          <a:prstGeom prst="line">
            <a:avLst/>
          </a:prstGeom>
          <a:noFill/>
          <a:ln w="6350">
            <a:solidFill>
              <a:srgbClr val="323A47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868017" y="4325815"/>
            <a:ext cx="320743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1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06.08</a:t>
            </a:r>
            <a:endParaRPr lang="en-US" sz="631" dirty="0"/>
          </a:p>
        </p:txBody>
      </p:sp>
      <p:sp>
        <p:nvSpPr>
          <p:cNvPr id="192" name="Shape 190"/>
          <p:cNvSpPr/>
          <p:nvPr/>
        </p:nvSpPr>
        <p:spPr>
          <a:xfrm>
            <a:off x="10237763" y="4276813"/>
            <a:ext cx="316289" cy="383110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263066" y="4315124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263066" y="4339260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263066" y="4363396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263066" y="4387532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263066" y="4411668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263066" y="4435804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263066" y="4459940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263066" y="4484076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263066" y="4508211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263066" y="4532347"/>
            <a:ext cx="259357" cy="61298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380093" y="4307462"/>
            <a:ext cx="129678" cy="129678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389582" y="4322786"/>
            <a:ext cx="25303" cy="210711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253578" y="4621612"/>
            <a:ext cx="19294" cy="383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284574" y="4581385"/>
            <a:ext cx="19294" cy="7853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315570" y="4592879"/>
            <a:ext cx="19294" cy="670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346566" y="4604372"/>
            <a:ext cx="19294" cy="5555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377563" y="4615865"/>
            <a:ext cx="19294" cy="4405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08559" y="4575639"/>
            <a:ext cx="19294" cy="8428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39555" y="4587132"/>
            <a:ext cx="19294" cy="727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70551" y="4598625"/>
            <a:ext cx="19294" cy="6129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501548" y="4610119"/>
            <a:ext cx="19294" cy="498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532544" y="4621612"/>
            <a:ext cx="19294" cy="383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263066" y="4357266"/>
            <a:ext cx="227728" cy="222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600" dirty="0"/>
          </a:p>
          <a:p>
            <a:pPr indent="0" marL="0">
              <a:buNone/>
            </a:pPr>
            <a:r>
              <a:rPr lang="en-US" sz="6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600" dirty="0"/>
          </a:p>
        </p:txBody>
      </p:sp>
      <p:sp>
        <p:nvSpPr>
          <p:cNvPr id="216" name="Text 214"/>
          <p:cNvSpPr/>
          <p:nvPr/>
        </p:nvSpPr>
        <p:spPr>
          <a:xfrm>
            <a:off x="10629783" y="4316906"/>
            <a:ext cx="757311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校园夏夜</a:t>
            </a:r>
            <a:endParaRPr lang="en-US" sz="666" dirty="0"/>
          </a:p>
        </p:txBody>
      </p:sp>
      <p:sp>
        <p:nvSpPr>
          <p:cNvPr id="217" name="Text 215"/>
          <p:cNvSpPr/>
          <p:nvPr/>
        </p:nvSpPr>
        <p:spPr>
          <a:xfrm>
            <a:off x="10629783" y="4517370"/>
            <a:ext cx="712763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</a:t>
            </a:r>
            <a:endParaRPr lang="en-US" sz="456" dirty="0"/>
          </a:p>
        </p:txBody>
      </p:sp>
      <p:sp>
        <p:nvSpPr>
          <p:cNvPr id="218" name="Shape 216"/>
          <p:cNvSpPr/>
          <p:nvPr/>
        </p:nvSpPr>
        <p:spPr>
          <a:xfrm>
            <a:off x="9863562" y="4744564"/>
            <a:ext cx="1523531" cy="0"/>
          </a:xfrm>
          <a:prstGeom prst="line">
            <a:avLst/>
          </a:prstGeom>
          <a:noFill/>
          <a:ln w="6350">
            <a:solidFill>
              <a:srgbClr val="323A47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868017" y="4851478"/>
            <a:ext cx="320743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1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04.21</a:t>
            </a:r>
            <a:endParaRPr lang="en-US" sz="631" dirty="0"/>
          </a:p>
        </p:txBody>
      </p:sp>
      <p:sp>
        <p:nvSpPr>
          <p:cNvPr id="220" name="Shape 218"/>
          <p:cNvSpPr/>
          <p:nvPr/>
        </p:nvSpPr>
        <p:spPr>
          <a:xfrm>
            <a:off x="10237763" y="4802476"/>
            <a:ext cx="316289" cy="383110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263066" y="4840787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263066" y="4864923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263066" y="4889059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263066" y="4913195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263066" y="4937330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263066" y="4961466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263066" y="4985602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263066" y="5009738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263066" y="5033874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263066" y="5058010"/>
            <a:ext cx="259357" cy="61298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380093" y="4833125"/>
            <a:ext cx="129678" cy="129678"/>
          </a:xfrm>
          <a:prstGeom prst="ellipse">
            <a:avLst/>
          </a:prstGeom>
          <a:solidFill>
            <a:srgbClr val="72E4D4">
              <a:alpha val="93000"/>
            </a:srgbClr>
          </a:solidFill>
          <a:ln w="12700">
            <a:solidFill>
              <a:srgbClr val="72E4D4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389582" y="4848449"/>
            <a:ext cx="25303" cy="210711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253578" y="5147275"/>
            <a:ext cx="19294" cy="383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284574" y="5107048"/>
            <a:ext cx="19294" cy="7853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315570" y="5118542"/>
            <a:ext cx="19294" cy="670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346566" y="5130035"/>
            <a:ext cx="19294" cy="5555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377563" y="5141528"/>
            <a:ext cx="19294" cy="4405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408559" y="5101302"/>
            <a:ext cx="19294" cy="8428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439555" y="5112795"/>
            <a:ext cx="19294" cy="727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470551" y="5124288"/>
            <a:ext cx="19294" cy="6129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501548" y="5135782"/>
            <a:ext cx="19294" cy="498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532544" y="5147275"/>
            <a:ext cx="19294" cy="383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0263066" y="4882929"/>
            <a:ext cx="227728" cy="222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600" dirty="0"/>
          </a:p>
          <a:p>
            <a:pPr indent="0" marL="0">
              <a:buNone/>
            </a:pPr>
            <a:r>
              <a:rPr lang="en-US" sz="6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600" dirty="0"/>
          </a:p>
        </p:txBody>
      </p:sp>
      <p:sp>
        <p:nvSpPr>
          <p:cNvPr id="244" name="Text 242"/>
          <p:cNvSpPr/>
          <p:nvPr/>
        </p:nvSpPr>
        <p:spPr>
          <a:xfrm>
            <a:off x="10629783" y="4842569"/>
            <a:ext cx="757311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夜色合奏</a:t>
            </a:r>
            <a:endParaRPr lang="en-US" sz="666" dirty="0"/>
          </a:p>
        </p:txBody>
      </p:sp>
      <p:sp>
        <p:nvSpPr>
          <p:cNvPr id="245" name="Text 243"/>
          <p:cNvSpPr/>
          <p:nvPr/>
        </p:nvSpPr>
        <p:spPr>
          <a:xfrm>
            <a:off x="10629783" y="5043033"/>
            <a:ext cx="712763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深圳</a:t>
            </a:r>
            <a:endParaRPr lang="en-US" sz="456" dirty="0"/>
          </a:p>
        </p:txBody>
      </p:sp>
      <p:sp>
        <p:nvSpPr>
          <p:cNvPr id="246" name="Shape 244"/>
          <p:cNvSpPr/>
          <p:nvPr/>
        </p:nvSpPr>
        <p:spPr>
          <a:xfrm>
            <a:off x="9761103" y="5524148"/>
            <a:ext cx="1728450" cy="325198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845743" y="5524148"/>
            <a:ext cx="1559169" cy="914"/>
          </a:xfrm>
          <a:prstGeom prst="line">
            <a:avLst/>
          </a:prstGeom>
          <a:noFill/>
          <a:ln w="3118">
            <a:solidFill>
              <a:srgbClr val="323A47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0050663" y="5599879"/>
            <a:ext cx="31183" cy="31183"/>
          </a:xfrm>
          <a:prstGeom prst="ellipse">
            <a:avLst/>
          </a:prstGeom>
          <a:solidFill>
            <a:srgbClr val="626C7C"/>
          </a:solidFill>
          <a:ln w="4455">
            <a:solidFill>
              <a:srgbClr val="626C7C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9854653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</a:t>
            </a:r>
            <a:endParaRPr lang="en-US" sz="491" dirty="0"/>
          </a:p>
        </p:txBody>
      </p:sp>
      <p:sp>
        <p:nvSpPr>
          <p:cNvPr id="250" name="Shape 248"/>
          <p:cNvSpPr/>
          <p:nvPr/>
        </p:nvSpPr>
        <p:spPr>
          <a:xfrm>
            <a:off x="10603054" y="5599879"/>
            <a:ext cx="31183" cy="31183"/>
          </a:xfrm>
          <a:prstGeom prst="ellipse">
            <a:avLst/>
          </a:prstGeom>
          <a:solidFill>
            <a:srgbClr val="626C7C"/>
          </a:solidFill>
          <a:ln w="4455">
            <a:solidFill>
              <a:srgbClr val="626C7C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10407044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同场</a:t>
            </a:r>
            <a:endParaRPr lang="en-US" sz="491" dirty="0"/>
          </a:p>
        </p:txBody>
      </p:sp>
      <p:sp>
        <p:nvSpPr>
          <p:cNvPr id="252" name="Shape 250"/>
          <p:cNvSpPr/>
          <p:nvPr/>
        </p:nvSpPr>
        <p:spPr>
          <a:xfrm>
            <a:off x="11155446" y="5599879"/>
            <a:ext cx="31183" cy="31183"/>
          </a:xfrm>
          <a:prstGeom prst="ellipse">
            <a:avLst/>
          </a:prstGeom>
          <a:solidFill>
            <a:srgbClr val="FF845E"/>
          </a:solidFill>
          <a:ln w="4455">
            <a:solidFill>
              <a:srgbClr val="FF845E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10959436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</a:t>
            </a:r>
            <a:endParaRPr lang="en-US" sz="49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S01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先让人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留下这一晚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“我想有一份属于自己的现场记录，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不想先注册一个新社交平台。”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点击“制作我的现场卡”，进入素材页；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点击底部“档案”，查看私人记录。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2796" y="824367"/>
            <a:ext cx="1828800" cy="5908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4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</a:t>
            </a:r>
            <a:endParaRPr lang="en-US" sz="2049" dirty="0"/>
          </a:p>
          <a:p>
            <a:pPr indent="0" marL="0">
              <a:buNone/>
            </a:pPr>
            <a:r>
              <a:rPr lang="en-US" sz="204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SPACE</a:t>
            </a:r>
            <a:endParaRPr lang="en-US" sz="2049" dirty="0"/>
          </a:p>
        </p:txBody>
      </p:sp>
      <p:sp>
        <p:nvSpPr>
          <p:cNvPr id="22" name="Shape 20"/>
          <p:cNvSpPr/>
          <p:nvPr/>
        </p:nvSpPr>
        <p:spPr>
          <a:xfrm>
            <a:off x="6343122" y="852502"/>
            <a:ext cx="675249" cy="211015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8292" y="873604"/>
            <a:ext cx="604911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我的现场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612796" y="1555887"/>
            <a:ext cx="2398542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9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把今晚，留给未来。</a:t>
            </a:r>
            <a:endParaRPr lang="en-US" sz="1329" dirty="0"/>
          </a:p>
        </p:txBody>
      </p:sp>
      <p:sp>
        <p:nvSpPr>
          <p:cNvPr id="25" name="Shape 23"/>
          <p:cNvSpPr/>
          <p:nvPr/>
        </p:nvSpPr>
        <p:spPr>
          <a:xfrm>
            <a:off x="4612796" y="1956816"/>
            <a:ext cx="2405575" cy="2067951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5242" y="2163611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5242" y="2293892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5242" y="2424173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5242" y="2554454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5242" y="2684735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5242" y="2815016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5242" y="2945296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5242" y="3075577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5242" y="3205858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5242" y="3336139"/>
            <a:ext cx="1972572" cy="330872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95305" y="2122252"/>
            <a:ext cx="986286" cy="986286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7472" y="2204970"/>
            <a:ext cx="192446" cy="1137373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33075" y="3817972"/>
            <a:ext cx="146740" cy="20679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68821" y="3600837"/>
            <a:ext cx="146740" cy="42393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04568" y="3662875"/>
            <a:ext cx="146740" cy="3618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40314" y="3724914"/>
            <a:ext cx="146740" cy="29985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76061" y="3786952"/>
            <a:ext cx="146740" cy="23781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11807" y="3569818"/>
            <a:ext cx="146740" cy="45494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47553" y="3631856"/>
            <a:ext cx="146740" cy="3929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83300" y="3693895"/>
            <a:ext cx="146740" cy="33087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19046" y="3755933"/>
            <a:ext cx="146740" cy="26883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4793" y="3817972"/>
            <a:ext cx="146740" cy="20679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5242" y="2391086"/>
            <a:ext cx="1732014" cy="119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4725338" y="3553499"/>
            <a:ext cx="1913206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385" dirty="0"/>
          </a:p>
        </p:txBody>
      </p:sp>
      <p:sp>
        <p:nvSpPr>
          <p:cNvPr id="50" name="Text 48"/>
          <p:cNvSpPr/>
          <p:nvPr/>
        </p:nvSpPr>
        <p:spPr>
          <a:xfrm>
            <a:off x="4725338" y="3799684"/>
            <a:ext cx="2039815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09.12  /  广州  ·  示例演出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4612796" y="4193579"/>
            <a:ext cx="2405575" cy="365760"/>
          </a:xfrm>
          <a:prstGeom prst="roundRect">
            <a:avLst>
              <a:gd name="adj" fmla="val 23077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76101" y="4214681"/>
            <a:ext cx="2278966" cy="323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 制作我的现场卡</a:t>
            </a:r>
            <a:endParaRPr lang="en-US" sz="997" dirty="0"/>
          </a:p>
        </p:txBody>
      </p:sp>
      <p:sp>
        <p:nvSpPr>
          <p:cNvPr id="53" name="Shape 51">
            <a:hlinkClick r:id="rId3" tooltip="＋ 制作我的现场卡" action="ppaction://hlinksldjump"/>
          </p:cNvPr>
          <p:cNvSpPr/>
          <p:nvPr/>
        </p:nvSpPr>
        <p:spPr>
          <a:xfrm>
            <a:off x="4612796" y="4193579"/>
            <a:ext cx="2405575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2796" y="4784422"/>
            <a:ext cx="1828800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我的最近记录</a:t>
            </a:r>
            <a:endParaRPr lang="en-US" sz="1052" dirty="0"/>
          </a:p>
        </p:txBody>
      </p:sp>
      <p:sp>
        <p:nvSpPr>
          <p:cNvPr id="55" name="Shape 53"/>
          <p:cNvSpPr/>
          <p:nvPr/>
        </p:nvSpPr>
        <p:spPr>
          <a:xfrm>
            <a:off x="4612796" y="5093911"/>
            <a:ext cx="2405575" cy="471268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25338" y="5171284"/>
            <a:ext cx="407963" cy="260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1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551" dirty="0"/>
          </a:p>
        </p:txBody>
      </p:sp>
      <p:sp>
        <p:nvSpPr>
          <p:cNvPr id="57" name="Text 55"/>
          <p:cNvSpPr/>
          <p:nvPr/>
        </p:nvSpPr>
        <p:spPr>
          <a:xfrm>
            <a:off x="5231775" y="5171284"/>
            <a:ext cx="1526345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这一年的三个夜晚</a:t>
            </a:r>
            <a:endParaRPr lang="en-US" sz="886" dirty="0"/>
          </a:p>
        </p:txBody>
      </p:sp>
      <p:sp>
        <p:nvSpPr>
          <p:cNvPr id="58" name="Text 56"/>
          <p:cNvSpPr/>
          <p:nvPr/>
        </p:nvSpPr>
        <p:spPr>
          <a:xfrm>
            <a:off x="5231775" y="5382299"/>
            <a:ext cx="152634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查看我的私人档案  ›</a:t>
            </a:r>
            <a:endParaRPr lang="en-US" sz="665" dirty="0"/>
          </a:p>
        </p:txBody>
      </p:sp>
      <p:sp>
        <p:nvSpPr>
          <p:cNvPr id="59" name="Shape 57">
            <a:hlinkClick r:id="rId4" tooltip="打开私人档案" action="ppaction://hlinksldjump"/>
          </p:cNvPr>
          <p:cNvSpPr/>
          <p:nvPr/>
        </p:nvSpPr>
        <p:spPr>
          <a:xfrm>
            <a:off x="4612796" y="5093911"/>
            <a:ext cx="2405575" cy="4712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51018" y="5818398"/>
            <a:ext cx="2729132" cy="513471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84661" y="5818398"/>
            <a:ext cx="2461846" cy="914"/>
          </a:xfrm>
          <a:prstGeom prst="line">
            <a:avLst/>
          </a:prstGeom>
          <a:noFill/>
          <a:ln w="4924">
            <a:solidFill>
              <a:srgbClr val="323A4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08218" y="5937973"/>
            <a:ext cx="49237" cy="49237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98729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</a:t>
            </a:r>
            <a:endParaRPr lang="en-US" sz="775" dirty="0"/>
          </a:p>
        </p:txBody>
      </p:sp>
      <p:sp>
        <p:nvSpPr>
          <p:cNvPr id="64" name="Shape 62">
            <a:hlinkClick r:id="rId5" tooltip="今晚" action="ppaction://hlinksldjump"/>
          </p:cNvPr>
          <p:cNvSpPr/>
          <p:nvPr/>
        </p:nvSpPr>
        <p:spPr>
          <a:xfrm>
            <a:off x="4598729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80415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70926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同场</a:t>
            </a:r>
            <a:endParaRPr lang="en-US" sz="775" dirty="0"/>
          </a:p>
        </p:txBody>
      </p:sp>
      <p:sp>
        <p:nvSpPr>
          <p:cNvPr id="67" name="Shape 65">
            <a:hlinkClick r:id="rId6" tooltip="同场" action="ppaction://hlinksldjump"/>
          </p:cNvPr>
          <p:cNvSpPr/>
          <p:nvPr/>
        </p:nvSpPr>
        <p:spPr>
          <a:xfrm>
            <a:off x="5470926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52612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43122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</a:t>
            </a:r>
            <a:endParaRPr lang="en-US" sz="775" dirty="0"/>
          </a:p>
        </p:txBody>
      </p:sp>
      <p:sp>
        <p:nvSpPr>
          <p:cNvPr id="70" name="Shape 68">
            <a:hlinkClick r:id="rId7" tooltip="档案" action="ppaction://hlinksldjump"/>
          </p:cNvPr>
          <p:cNvSpPr/>
          <p:nvPr/>
        </p:nvSpPr>
        <p:spPr>
          <a:xfrm>
            <a:off x="6343122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73" name="Text 71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价值先出现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首页直接展示产出样式，不先推交友或长注册。</a:t>
            </a:r>
            <a:endParaRPr lang="en-US" sz="1240" dirty="0"/>
          </a:p>
        </p:txBody>
      </p:sp>
      <p:sp>
        <p:nvSpPr>
          <p:cNvPr id="75" name="Shape 73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77" name="Text 75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单人也成立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自己带来照片，就能完成一张卡和私人记录。</a:t>
            </a:r>
            <a:endParaRPr lang="en-US" sz="1240" dirty="0"/>
          </a:p>
        </p:txBody>
      </p:sp>
      <p:sp>
        <p:nvSpPr>
          <p:cNvPr id="79" name="Shape 77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81" name="Text 79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减少进入成本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预设示例用于试用；正式上传、账号及恢复需开发。</a:t>
            </a:r>
            <a:endParaRPr lang="en-US" sz="1240" dirty="0"/>
          </a:p>
        </p:txBody>
      </p:sp>
      <p:sp>
        <p:nvSpPr>
          <p:cNvPr id="83" name="Text 81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86" name="Text 84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 / 44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S02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选素材，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确认现场信息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“照片是我的，演出信息也由我确认。”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点击“下一步”，进入现场卡编辑。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上传和更换照片在此为界面示意。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留下这一晚</a:t>
            </a:r>
            <a:endParaRPr lang="en-US" sz="1163" dirty="0"/>
          </a:p>
        </p:txBody>
      </p:sp>
      <p:sp>
        <p:nvSpPr>
          <p:cNvPr id="24" name="Text 22"/>
          <p:cNvSpPr/>
          <p:nvPr/>
        </p:nvSpPr>
        <p:spPr>
          <a:xfrm>
            <a:off x="4605762" y="1098687"/>
            <a:ext cx="2419643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素材    /    2 排版    /    3 公开范围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4612796" y="1429278"/>
            <a:ext cx="2405575" cy="808892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5338" y="1541819"/>
            <a:ext cx="2145323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演出信息 · 由你确认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725338" y="1788004"/>
            <a:ext cx="2110154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218" dirty="0"/>
          </a:p>
        </p:txBody>
      </p:sp>
      <p:sp>
        <p:nvSpPr>
          <p:cNvPr id="28" name="Text 26"/>
          <p:cNvSpPr/>
          <p:nvPr/>
        </p:nvSpPr>
        <p:spPr>
          <a:xfrm>
            <a:off x="4725338" y="2034188"/>
            <a:ext cx="2110154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2026.09.12  /  广州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612796" y="2421050"/>
            <a:ext cx="2405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1—3 张照片</a:t>
            </a:r>
            <a:endParaRPr lang="en-US" sz="1108" dirty="0"/>
          </a:p>
        </p:txBody>
      </p:sp>
      <p:sp>
        <p:nvSpPr>
          <p:cNvPr id="30" name="Shape 28"/>
          <p:cNvSpPr/>
          <p:nvPr/>
        </p:nvSpPr>
        <p:spPr>
          <a:xfrm>
            <a:off x="4612796" y="2744607"/>
            <a:ext cx="766689" cy="1090246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4131" y="2853631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74131" y="2922317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74131" y="2991002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4131" y="3059688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4131" y="3128373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74131" y="3197059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74131" y="3265744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74131" y="3334430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74131" y="3403115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74131" y="3471801"/>
            <a:ext cx="628685" cy="174439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57806" y="2831826"/>
            <a:ext cx="314343" cy="314343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80807" y="2875436"/>
            <a:ext cx="61335" cy="599635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51131" y="3725828"/>
            <a:ext cx="46768" cy="10902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6266" y="3611352"/>
            <a:ext cx="46768" cy="2235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1402" y="3644060"/>
            <a:ext cx="46768" cy="19079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76537" y="3676767"/>
            <a:ext cx="46768" cy="1580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51673" y="3709475"/>
            <a:ext cx="46768" cy="12537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6808" y="3594999"/>
            <a:ext cx="46768" cy="23985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01944" y="3627706"/>
            <a:ext cx="46768" cy="20714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77080" y="3660414"/>
            <a:ext cx="46768" cy="17443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52215" y="3693121"/>
            <a:ext cx="46768" cy="14173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27351" y="3725828"/>
            <a:ext cx="46768" cy="10902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131" y="2973558"/>
            <a:ext cx="552016" cy="63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175504" y="3637905"/>
            <a:ext cx="154745" cy="154745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82538" y="3630871"/>
            <a:ext cx="140677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428722" y="2744607"/>
            <a:ext cx="766689" cy="1090246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90058" y="2853631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90058" y="2922317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90058" y="2991002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90058" y="3059688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90058" y="3128373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90058" y="3197059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90058" y="3265744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90058" y="3334430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90058" y="3403115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90058" y="3471801"/>
            <a:ext cx="628685" cy="174439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73733" y="2831826"/>
            <a:ext cx="314343" cy="314343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96733" y="2875436"/>
            <a:ext cx="61335" cy="599635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67057" y="3725828"/>
            <a:ext cx="46768" cy="10902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42192" y="3611352"/>
            <a:ext cx="46768" cy="2235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17328" y="3644060"/>
            <a:ext cx="46768" cy="19079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92464" y="3676767"/>
            <a:ext cx="46768" cy="1580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67599" y="3709475"/>
            <a:ext cx="46768" cy="12537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42735" y="3594999"/>
            <a:ext cx="46768" cy="23985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17870" y="3627706"/>
            <a:ext cx="46768" cy="20714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93006" y="3660414"/>
            <a:ext cx="46768" cy="17443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68141" y="3693121"/>
            <a:ext cx="46768" cy="14173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43277" y="3725828"/>
            <a:ext cx="46768" cy="10902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90058" y="2973558"/>
            <a:ext cx="552016" cy="63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991430" y="3637905"/>
            <a:ext cx="154745" cy="154745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98464" y="3630871"/>
            <a:ext cx="140677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6244649" y="2744607"/>
            <a:ext cx="766689" cy="1090246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5984" y="2853631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05984" y="2922317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05984" y="2991002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05984" y="3059688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05984" y="3128373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05984" y="3197059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05984" y="3265744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05984" y="3334430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05984" y="3403115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05984" y="3471801"/>
            <a:ext cx="628685" cy="17443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89659" y="2831826"/>
            <a:ext cx="314343" cy="314343"/>
          </a:xfrm>
          <a:prstGeom prst="ellipse">
            <a:avLst/>
          </a:prstGeom>
          <a:solidFill>
            <a:srgbClr val="72E4D4">
              <a:alpha val="93000"/>
            </a:srgbClr>
          </a:solidFill>
          <a:ln w="12700">
            <a:solidFill>
              <a:srgbClr val="72E4D4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12659" y="2875436"/>
            <a:ext cx="61335" cy="599635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82983" y="3725828"/>
            <a:ext cx="46768" cy="10902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58119" y="3611352"/>
            <a:ext cx="46768" cy="2235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33254" y="3644060"/>
            <a:ext cx="46768" cy="19079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08390" y="3676767"/>
            <a:ext cx="46768" cy="1580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83525" y="3709475"/>
            <a:ext cx="46768" cy="12537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58661" y="3594999"/>
            <a:ext cx="46768" cy="23985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33796" y="3627706"/>
            <a:ext cx="46768" cy="20714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08932" y="3660414"/>
            <a:ext cx="46768" cy="17443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84067" y="3693121"/>
            <a:ext cx="46768" cy="14173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59203" y="3725828"/>
            <a:ext cx="46768" cy="10902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05984" y="2973558"/>
            <a:ext cx="552016" cy="63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6807356" y="3637905"/>
            <a:ext cx="154745" cy="154745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14390" y="3630871"/>
            <a:ext cx="140677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4612796" y="3996631"/>
            <a:ext cx="2405575" cy="499403"/>
          </a:xfrm>
          <a:prstGeom prst="roundRect">
            <a:avLst>
              <a:gd name="adj" fmla="val 14085"/>
            </a:avLst>
          </a:prstGeom>
          <a:solidFill>
            <a:srgbClr val="1C252C"/>
          </a:solidFill>
          <a:ln w="8255">
            <a:solidFill>
              <a:srgbClr val="43505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18304" y="4116207"/>
            <a:ext cx="2145323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 更换照片</a:t>
            </a:r>
            <a:endParaRPr lang="en-US" sz="942" dirty="0"/>
          </a:p>
        </p:txBody>
      </p:sp>
      <p:sp>
        <p:nvSpPr>
          <p:cNvPr id="110" name="Text 108"/>
          <p:cNvSpPr/>
          <p:nvPr/>
        </p:nvSpPr>
        <p:spPr>
          <a:xfrm>
            <a:off x="4612796" y="4622644"/>
            <a:ext cx="2405575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照片图形仅为占位示意</a:t>
            </a:r>
            <a:endParaRPr lang="en-US" sz="720" dirty="0"/>
          </a:p>
        </p:txBody>
      </p:sp>
      <p:sp>
        <p:nvSpPr>
          <p:cNvPr id="111" name="Text 109"/>
          <p:cNvSpPr/>
          <p:nvPr/>
        </p:nvSpPr>
        <p:spPr>
          <a:xfrm>
            <a:off x="4612796" y="4882896"/>
            <a:ext cx="2405575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只处理本次选择的素材，不读取完整相册。</a:t>
            </a:r>
            <a:endParaRPr lang="en-US" sz="775" dirty="0"/>
          </a:p>
        </p:txBody>
      </p:sp>
      <p:sp>
        <p:nvSpPr>
          <p:cNvPr id="112" name="Shape 110"/>
          <p:cNvSpPr/>
          <p:nvPr/>
        </p:nvSpPr>
        <p:spPr>
          <a:xfrm>
            <a:off x="4612796" y="5396367"/>
            <a:ext cx="2405575" cy="351692"/>
          </a:xfrm>
          <a:prstGeom prst="roundRect">
            <a:avLst>
              <a:gd name="adj" fmla="val 2400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76101" y="5417468"/>
            <a:ext cx="2278966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下一步：设计我的卡</a:t>
            </a:r>
            <a:endParaRPr lang="en-US" sz="997" dirty="0"/>
          </a:p>
        </p:txBody>
      </p:sp>
      <p:sp>
        <p:nvSpPr>
          <p:cNvPr id="114" name="Shape 112">
            <a:hlinkClick r:id="rId4" tooltip="下一步：设计我的卡" action="ppaction://hlinksldjump"/>
          </p:cNvPr>
          <p:cNvSpPr/>
          <p:nvPr/>
        </p:nvSpPr>
        <p:spPr>
          <a:xfrm>
            <a:off x="4612796" y="5396367"/>
            <a:ext cx="2405575" cy="3516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17" name="Text 115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三步清晰</a:t>
            </a:r>
            <a:endParaRPr lang="en-US" sz="1600" dirty="0"/>
          </a:p>
        </p:txBody>
      </p:sp>
      <p:sp>
        <p:nvSpPr>
          <p:cNvPr id="118" name="Text 116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素材、排版、公开范围分开，避免一次填太多。</a:t>
            </a:r>
            <a:endParaRPr lang="en-US" sz="1240" dirty="0"/>
          </a:p>
        </p:txBody>
      </p:sp>
      <p:sp>
        <p:nvSpPr>
          <p:cNvPr id="119" name="Shape 117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21" name="Text 119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事实由人确认</a:t>
            </a:r>
            <a:endParaRPr lang="en-US" sz="1600" dirty="0"/>
          </a:p>
        </p:txBody>
      </p:sp>
      <p:sp>
        <p:nvSpPr>
          <p:cNvPr id="122" name="Text 120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演出名称、日期、城市不交给模型自由猜测。</a:t>
            </a:r>
            <a:endParaRPr lang="en-US" sz="1240" dirty="0"/>
          </a:p>
        </p:txBody>
      </p:sp>
      <p:sp>
        <p:nvSpPr>
          <p:cNvPr id="123" name="Shape 121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25" name="Text 123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最小数据输入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只处理被主动选择的照片；不扫描完整相册。</a:t>
            </a:r>
            <a:endParaRPr lang="en-US" sz="1240" dirty="0"/>
          </a:p>
        </p:txBody>
      </p:sp>
      <p:sp>
        <p:nvSpPr>
          <p:cNvPr id="127" name="Text 125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30" name="Text 128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31" name="Text 129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 / 44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S03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AI给建议，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我来定稿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“我不是来写提示词的，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我要一张像我、又好看的卡。”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点击“预览现场卡”进入成卡页。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模板切换与文本输入为设计控件。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设计我的现场卡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858981" y="1204194"/>
            <a:ext cx="1913206" cy="2468880"/>
          </a:xfrm>
          <a:prstGeom prst="roundRect">
            <a:avLst>
              <a:gd name="adj" fmla="val 2574"/>
            </a:avLst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4489" y="1288601"/>
            <a:ext cx="1702191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b="1" dirty="0">
                <a:solidFill>
                  <a:srgbClr val="171B2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 /  LIVE CARD</a:t>
            </a:r>
            <a:endParaRPr lang="en-US" sz="554" dirty="0"/>
          </a:p>
        </p:txBody>
      </p:sp>
      <p:sp>
        <p:nvSpPr>
          <p:cNvPr id="26" name="Shape 24"/>
          <p:cNvSpPr/>
          <p:nvPr/>
        </p:nvSpPr>
        <p:spPr>
          <a:xfrm>
            <a:off x="4964489" y="1499616"/>
            <a:ext cx="1702191" cy="914"/>
          </a:xfrm>
          <a:prstGeom prst="line">
            <a:avLst/>
          </a:prstGeom>
          <a:noFill/>
          <a:ln w="4924">
            <a:solidFill>
              <a:srgbClr val="BBB7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57455" y="1598090"/>
            <a:ext cx="1716258" cy="1185062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94755" y="1716596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94755" y="1791255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94755" y="1865914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94755" y="1940573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4755" y="2015232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94755" y="2089891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94755" y="2164550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4755" y="2239209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94755" y="2313868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94755" y="2388526"/>
            <a:ext cx="1407332" cy="189610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29771" y="1692895"/>
            <a:ext cx="703666" cy="703666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81259" y="1740297"/>
            <a:ext cx="137301" cy="651784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43268" y="2664646"/>
            <a:ext cx="104692" cy="11850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1461" y="2540214"/>
            <a:ext cx="104692" cy="24293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79654" y="2575766"/>
            <a:ext cx="104692" cy="2073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47848" y="2611318"/>
            <a:ext cx="104692" cy="17183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16041" y="2646870"/>
            <a:ext cx="104692" cy="13628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4234" y="2522439"/>
            <a:ext cx="104692" cy="26071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52428" y="2557990"/>
            <a:ext cx="104692" cy="22516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20621" y="2593542"/>
            <a:ext cx="104692" cy="18961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88814" y="2629094"/>
            <a:ext cx="104692" cy="15405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57008" y="2664646"/>
            <a:ext cx="104692" cy="11850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94755" y="1846953"/>
            <a:ext cx="1235706" cy="68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2909" dirty="0"/>
          </a:p>
          <a:p>
            <a:pPr indent="0" marL="0">
              <a:buNone/>
            </a:pPr>
            <a:r>
              <a:rPr lang="en-US" sz="290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2909" dirty="0"/>
          </a:p>
        </p:txBody>
      </p:sp>
      <p:sp>
        <p:nvSpPr>
          <p:cNvPr id="51" name="Text 49"/>
          <p:cNvSpPr/>
          <p:nvPr/>
        </p:nvSpPr>
        <p:spPr>
          <a:xfrm>
            <a:off x="4978556" y="2759589"/>
            <a:ext cx="1674055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5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495" dirty="0"/>
          </a:p>
        </p:txBody>
      </p:sp>
      <p:sp>
        <p:nvSpPr>
          <p:cNvPr id="52" name="Text 50"/>
          <p:cNvSpPr/>
          <p:nvPr/>
        </p:nvSpPr>
        <p:spPr>
          <a:xfrm>
            <a:off x="4978556" y="3006477"/>
            <a:ext cx="1674055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6564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2026.09.12  /  广州</a:t>
            </a:r>
            <a:endParaRPr lang="en-US" sz="665" dirty="0"/>
          </a:p>
        </p:txBody>
      </p:sp>
      <p:sp>
        <p:nvSpPr>
          <p:cNvPr id="53" name="Text 51"/>
          <p:cNvSpPr/>
          <p:nvPr/>
        </p:nvSpPr>
        <p:spPr>
          <a:xfrm>
            <a:off x="4978556" y="3228676"/>
            <a:ext cx="1674055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978556" y="3401498"/>
            <a:ext cx="1674055" cy="914"/>
          </a:xfrm>
          <a:prstGeom prst="line">
            <a:avLst/>
          </a:prstGeom>
          <a:noFill/>
          <a:ln w="4924">
            <a:solidFill>
              <a:srgbClr val="B8B5A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78556" y="3475564"/>
            <a:ext cx="1674055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dirty="0">
                <a:solidFill>
                  <a:srgbClr val="6261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  ·  今晚最佳：返场</a:t>
            </a:r>
            <a:endParaRPr lang="en-US" sz="554" dirty="0"/>
          </a:p>
        </p:txBody>
      </p:sp>
      <p:sp>
        <p:nvSpPr>
          <p:cNvPr id="56" name="Shape 54"/>
          <p:cNvSpPr/>
          <p:nvPr/>
        </p:nvSpPr>
        <p:spPr>
          <a:xfrm>
            <a:off x="4612796" y="3855954"/>
            <a:ext cx="717452" cy="211015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7966" y="3877056"/>
            <a:ext cx="647114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票根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5456858" y="3855954"/>
            <a:ext cx="717452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92027" y="3877056"/>
            <a:ext cx="647114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胶片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6300919" y="3855954"/>
            <a:ext cx="717452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6089" y="3877056"/>
            <a:ext cx="647114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大字海报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4612796" y="4242816"/>
            <a:ext cx="2405575" cy="492369"/>
          </a:xfrm>
          <a:prstGeom prst="roundRect">
            <a:avLst>
              <a:gd name="adj" fmla="val 14286"/>
            </a:avLst>
          </a:prstGeom>
          <a:solidFill>
            <a:srgbClr val="33251F"/>
          </a:solidFill>
          <a:ln w="8255">
            <a:solidFill>
              <a:srgbClr val="5D3A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5338" y="4306121"/>
            <a:ext cx="2180492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建议 · 你来决定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4725338" y="4524170"/>
            <a:ext cx="2180492" cy="133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保留暖色主视觉，让返场成为标题。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4612796" y="4868828"/>
            <a:ext cx="2405575" cy="372794"/>
          </a:xfrm>
          <a:prstGeom prst="rect">
            <a:avLst/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1270" y="4974336"/>
            <a:ext cx="2208628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775" dirty="0"/>
          </a:p>
        </p:txBody>
      </p:sp>
      <p:sp>
        <p:nvSpPr>
          <p:cNvPr id="67" name="Shape 65"/>
          <p:cNvSpPr/>
          <p:nvPr/>
        </p:nvSpPr>
        <p:spPr>
          <a:xfrm>
            <a:off x="4612796" y="5396367"/>
            <a:ext cx="2405575" cy="351692"/>
          </a:xfrm>
          <a:prstGeom prst="roundRect">
            <a:avLst>
              <a:gd name="adj" fmla="val 2400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76101" y="5417468"/>
            <a:ext cx="2278966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预览现场卡</a:t>
            </a:r>
            <a:endParaRPr lang="en-US" sz="997" dirty="0"/>
          </a:p>
        </p:txBody>
      </p:sp>
      <p:sp>
        <p:nvSpPr>
          <p:cNvPr id="69" name="Shape 67">
            <a:hlinkClick r:id="rId4" tooltip="预览现场卡" action="ppaction://hlinksldjump"/>
          </p:cNvPr>
          <p:cNvSpPr/>
          <p:nvPr/>
        </p:nvSpPr>
        <p:spPr>
          <a:xfrm>
            <a:off x="4612796" y="5396367"/>
            <a:ext cx="2405575" cy="3516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72" name="Text 70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先有稳定模板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不用生成整张不可编辑图片；卡片文字与素材独立。</a:t>
            </a:r>
            <a:endParaRPr lang="en-US" sz="1240" dirty="0"/>
          </a:p>
        </p:txBody>
      </p:sp>
      <p:sp>
        <p:nvSpPr>
          <p:cNvPr id="74" name="Shape 72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76" name="Text 74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AI不伪造经历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建议封面、配色与短句，原始照片与活动事实保持不变。</a:t>
            </a:r>
            <a:endParaRPr lang="en-US" sz="1240" dirty="0"/>
          </a:p>
        </p:txBody>
      </p:sp>
      <p:sp>
        <p:nvSpPr>
          <p:cNvPr id="78" name="Shape 76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80" name="Text 78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保留拒绝权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用户能修改、拒绝建议；模型超时也不阻断成卡。</a:t>
            </a:r>
            <a:endParaRPr lang="en-US" sz="1240" dirty="0"/>
          </a:p>
        </p:txBody>
      </p:sp>
      <p:sp>
        <p:nvSpPr>
          <p:cNvPr id="82" name="Text 80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85" name="Text 83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 / 44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S04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产出本身，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值得保存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“声音结束以后，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我还想留下这一晚。”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保存到档案 → S09；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选择分享范围 → S05。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你的这一晚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619830" y="1197161"/>
            <a:ext cx="2391508" cy="3305908"/>
          </a:xfrm>
          <a:prstGeom prst="roundRect">
            <a:avLst>
              <a:gd name="adj" fmla="val 2059"/>
            </a:avLst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5338" y="1281567"/>
            <a:ext cx="2180492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b="1" dirty="0">
                <a:solidFill>
                  <a:srgbClr val="171B2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 /  LIVE CARD</a:t>
            </a:r>
            <a:endParaRPr lang="en-US" sz="554" dirty="0"/>
          </a:p>
        </p:txBody>
      </p:sp>
      <p:sp>
        <p:nvSpPr>
          <p:cNvPr id="26" name="Shape 24"/>
          <p:cNvSpPr/>
          <p:nvPr/>
        </p:nvSpPr>
        <p:spPr>
          <a:xfrm>
            <a:off x="4725338" y="1492582"/>
            <a:ext cx="2180492" cy="914"/>
          </a:xfrm>
          <a:prstGeom prst="line">
            <a:avLst/>
          </a:prstGeom>
          <a:noFill/>
          <a:ln w="4924">
            <a:solidFill>
              <a:srgbClr val="BBB7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1591056"/>
            <a:ext cx="2194560" cy="1586836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3869" y="1749740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3869" y="1849710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3869" y="1949681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3869" y="2049652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3869" y="2149622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3869" y="2249593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3869" y="2349563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3869" y="2449534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3869" y="2549505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3869" y="2649475"/>
            <a:ext cx="1799539" cy="253894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05856" y="1718003"/>
            <a:ext cx="899770" cy="899770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71693" y="1781476"/>
            <a:ext cx="175565" cy="872760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3019208"/>
            <a:ext cx="133868" cy="15868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43099" y="2852590"/>
            <a:ext cx="133868" cy="32530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58166" y="2900195"/>
            <a:ext cx="133868" cy="27769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73233" y="2947801"/>
            <a:ext cx="133868" cy="2300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88300" y="2995406"/>
            <a:ext cx="133868" cy="1824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03366" y="2828788"/>
            <a:ext cx="133868" cy="3491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18433" y="2876393"/>
            <a:ext cx="133868" cy="30149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33500" y="2923998"/>
            <a:ext cx="133868" cy="25389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48567" y="2971603"/>
            <a:ext cx="133868" cy="20628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3634" y="3019208"/>
            <a:ext cx="133868" cy="15868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3869" y="1924291"/>
            <a:ext cx="1580083" cy="92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4739406" y="3279882"/>
            <a:ext cx="2152357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5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495" dirty="0"/>
          </a:p>
        </p:txBody>
      </p:sp>
      <p:sp>
        <p:nvSpPr>
          <p:cNvPr id="52" name="Text 50"/>
          <p:cNvSpPr/>
          <p:nvPr/>
        </p:nvSpPr>
        <p:spPr>
          <a:xfrm>
            <a:off x="4739406" y="3610473"/>
            <a:ext cx="2152357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6564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2026.09.12  /  广州</a:t>
            </a:r>
            <a:endParaRPr lang="en-US" sz="665" dirty="0"/>
          </a:p>
        </p:txBody>
      </p:sp>
      <p:sp>
        <p:nvSpPr>
          <p:cNvPr id="53" name="Text 51"/>
          <p:cNvSpPr/>
          <p:nvPr/>
        </p:nvSpPr>
        <p:spPr>
          <a:xfrm>
            <a:off x="4739406" y="3908005"/>
            <a:ext cx="2152357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739406" y="4139418"/>
            <a:ext cx="2152357" cy="914"/>
          </a:xfrm>
          <a:prstGeom prst="line">
            <a:avLst/>
          </a:prstGeom>
          <a:noFill/>
          <a:ln w="4924">
            <a:solidFill>
              <a:srgbClr val="B8B5A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9406" y="4238596"/>
            <a:ext cx="2152357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dirty="0">
                <a:solidFill>
                  <a:srgbClr val="6261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  ·  今晚最佳：返场</a:t>
            </a:r>
            <a:endParaRPr lang="en-US" sz="554" dirty="0"/>
          </a:p>
        </p:txBody>
      </p:sp>
      <p:sp>
        <p:nvSpPr>
          <p:cNvPr id="56" name="Text 54"/>
          <p:cNvSpPr/>
          <p:nvPr/>
        </p:nvSpPr>
        <p:spPr>
          <a:xfrm>
            <a:off x="4626864" y="4657813"/>
            <a:ext cx="237744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属于你的记录，不是官方到场凭证。</a:t>
            </a:r>
            <a:endParaRPr lang="en-US" sz="665" dirty="0"/>
          </a:p>
        </p:txBody>
      </p:sp>
      <p:sp>
        <p:nvSpPr>
          <p:cNvPr id="57" name="Shape 55"/>
          <p:cNvSpPr/>
          <p:nvPr/>
        </p:nvSpPr>
        <p:spPr>
          <a:xfrm>
            <a:off x="4612796" y="4967302"/>
            <a:ext cx="2405575" cy="351692"/>
          </a:xfrm>
          <a:prstGeom prst="roundRect">
            <a:avLst>
              <a:gd name="adj" fmla="val 2400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6101" y="4988404"/>
            <a:ext cx="2278966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保存到我的档案</a:t>
            </a:r>
            <a:endParaRPr lang="en-US" sz="997" dirty="0"/>
          </a:p>
        </p:txBody>
      </p:sp>
      <p:sp>
        <p:nvSpPr>
          <p:cNvPr id="59" name="Shape 57">
            <a:hlinkClick r:id="rId4" tooltip="保存到我的档案" action="ppaction://hlinksldjump"/>
          </p:cNvPr>
          <p:cNvSpPr/>
          <p:nvPr/>
        </p:nvSpPr>
        <p:spPr>
          <a:xfrm>
            <a:off x="4612796" y="4967302"/>
            <a:ext cx="2405575" cy="3516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2796" y="5431536"/>
            <a:ext cx="2405575" cy="337625"/>
          </a:xfrm>
          <a:prstGeom prst="roundRect">
            <a:avLst>
              <a:gd name="adj" fmla="val 25000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76101" y="5452638"/>
            <a:ext cx="2278966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选择分享范围</a:t>
            </a:r>
            <a:endParaRPr lang="en-US" sz="997" dirty="0"/>
          </a:p>
        </p:txBody>
      </p:sp>
      <p:sp>
        <p:nvSpPr>
          <p:cNvPr id="62" name="Shape 60">
            <a:hlinkClick r:id="rId5" tooltip="选择分享范围" action="ppaction://hlinksldjump"/>
          </p:cNvPr>
          <p:cNvSpPr/>
          <p:nvPr/>
        </p:nvSpPr>
        <p:spPr>
          <a:xfrm>
            <a:off x="4612796" y="5431536"/>
            <a:ext cx="2405575" cy="33762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65" name="Text 63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主产出是现场卡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演出信息、照片和个人选择形成完整对象，不只是一句文案。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音乐是组织方式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今晚最佳、歌曲或环节让它区别于一般活动模板。</a:t>
            </a:r>
            <a:endParaRPr lang="en-US" sz="1240" dirty="0"/>
          </a:p>
        </p:txBody>
      </p:sp>
      <p:sp>
        <p:nvSpPr>
          <p:cNvPr id="71" name="Shape 69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73" name="Text 71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不冒充到场证据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卡号只是作品标识；没有核验，不加VERIFIED标章。</a:t>
            </a:r>
            <a:endParaRPr lang="en-US" sz="1240" dirty="0"/>
          </a:p>
        </p:txBody>
      </p:sp>
      <p:sp>
        <p:nvSpPr>
          <p:cNvPr id="75" name="Text 73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8" name="Text 76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 / 44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S05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分享要轻，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权限要清楚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“我愿意发这张卡，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但不公开全部生活档案。”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确认公开 → 同场页面。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本原型不会真的发布任何内容。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分享之前，你来决定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612796" y="1274533"/>
            <a:ext cx="2405575" cy="1090246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6439" y="1429278"/>
            <a:ext cx="19343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只公开这一张卡</a:t>
            </a:r>
            <a:endParaRPr lang="en-US" sz="1163" dirty="0"/>
          </a:p>
        </p:txBody>
      </p:sp>
      <p:sp>
        <p:nvSpPr>
          <p:cNvPr id="26" name="Text 24"/>
          <p:cNvSpPr/>
          <p:nvPr/>
        </p:nvSpPr>
        <p:spPr>
          <a:xfrm>
            <a:off x="4746439" y="1738767"/>
            <a:ext cx="2124222" cy="43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私人档案、联系方式和其他照片</a:t>
            </a:r>
            <a:endParaRPr lang="en-US" sz="831" dirty="0"/>
          </a:p>
          <a:p>
            <a:pPr indent="0" marL="0">
              <a:buNone/>
            </a:pPr>
            <a:r>
              <a:rPr lang="en-US" sz="83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不会随这张卡公开。</a:t>
            </a:r>
            <a:endParaRPr lang="en-US" sz="831" dirty="0"/>
          </a:p>
        </p:txBody>
      </p:sp>
      <p:sp>
        <p:nvSpPr>
          <p:cNvPr id="27" name="Shape 25"/>
          <p:cNvSpPr/>
          <p:nvPr/>
        </p:nvSpPr>
        <p:spPr>
          <a:xfrm>
            <a:off x="4612796" y="2540625"/>
            <a:ext cx="2405575" cy="710418"/>
          </a:xfrm>
          <a:prstGeom prst="roundRect">
            <a:avLst>
              <a:gd name="adj" fmla="val 11881"/>
            </a:avLst>
          </a:prstGeom>
          <a:solidFill>
            <a:srgbClr val="33251F"/>
          </a:solidFill>
          <a:ln w="8255">
            <a:solidFill>
              <a:srgbClr val="7951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9406" y="2772742"/>
            <a:ext cx="175846" cy="175846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6439" y="2758674"/>
            <a:ext cx="161778" cy="17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42" dirty="0"/>
          </a:p>
        </p:txBody>
      </p:sp>
      <p:sp>
        <p:nvSpPr>
          <p:cNvPr id="30" name="Text 28"/>
          <p:cNvSpPr/>
          <p:nvPr/>
        </p:nvSpPr>
        <p:spPr>
          <a:xfrm>
            <a:off x="5062962" y="2695370"/>
            <a:ext cx="1723292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公开到本场</a:t>
            </a:r>
            <a:endParaRPr lang="en-US" sz="1108" dirty="0"/>
          </a:p>
        </p:txBody>
      </p:sp>
      <p:sp>
        <p:nvSpPr>
          <p:cNvPr id="31" name="Text 29"/>
          <p:cNvSpPr/>
          <p:nvPr/>
        </p:nvSpPr>
        <p:spPr>
          <a:xfrm>
            <a:off x="5062962" y="2962656"/>
            <a:ext cx="1730326" cy="133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让同场的人看到我的卡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612796" y="3405788"/>
            <a:ext cx="2405575" cy="654148"/>
          </a:xfrm>
          <a:prstGeom prst="roundRect">
            <a:avLst>
              <a:gd name="adj" fmla="val 1290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39406" y="3630871"/>
            <a:ext cx="168812" cy="168812"/>
          </a:xfrm>
          <a:prstGeom prst="ellipse">
            <a:avLst/>
          </a:prstGeom>
          <a:solidFill>
            <a:srgbClr val="171C24"/>
          </a:solidFill>
          <a:ln w="7034">
            <a:solidFill>
              <a:srgbClr val="A1A8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2962" y="3567567"/>
            <a:ext cx="1723292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仅自己保存</a:t>
            </a:r>
            <a:endParaRPr lang="en-US" sz="1108" dirty="0"/>
          </a:p>
        </p:txBody>
      </p:sp>
      <p:sp>
        <p:nvSpPr>
          <p:cNvPr id="35" name="Text 33"/>
          <p:cNvSpPr/>
          <p:nvPr/>
        </p:nvSpPr>
        <p:spPr>
          <a:xfrm>
            <a:off x="5062962" y="3813751"/>
            <a:ext cx="1723292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依然可以使用全部私人档案功能</a:t>
            </a:r>
            <a:endParaRPr lang="en-US" sz="665" dirty="0"/>
          </a:p>
        </p:txBody>
      </p:sp>
      <p:sp>
        <p:nvSpPr>
          <p:cNvPr id="36" name="Text 34"/>
          <p:cNvSpPr/>
          <p:nvPr/>
        </p:nvSpPr>
        <p:spPr>
          <a:xfrm>
            <a:off x="4626864" y="4313154"/>
            <a:ext cx="2377440" cy="47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公开后可以撤回站内分享；</a:t>
            </a:r>
            <a:endParaRPr lang="en-US" sz="775" dirty="0"/>
          </a:p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已被他人保存的图片无法远程收回。</a:t>
            </a:r>
            <a:endParaRPr lang="en-US" sz="775" dirty="0"/>
          </a:p>
        </p:txBody>
      </p:sp>
      <p:sp>
        <p:nvSpPr>
          <p:cNvPr id="37" name="Shape 35"/>
          <p:cNvSpPr/>
          <p:nvPr/>
        </p:nvSpPr>
        <p:spPr>
          <a:xfrm>
            <a:off x="4612796" y="5178318"/>
            <a:ext cx="2405575" cy="365760"/>
          </a:xfrm>
          <a:prstGeom prst="roundRect">
            <a:avLst>
              <a:gd name="adj" fmla="val 23077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6101" y="5199419"/>
            <a:ext cx="2278966" cy="323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确认公开这张卡</a:t>
            </a:r>
            <a:endParaRPr lang="en-US" sz="997" dirty="0"/>
          </a:p>
        </p:txBody>
      </p:sp>
      <p:sp>
        <p:nvSpPr>
          <p:cNvPr id="39" name="Shape 37">
            <a:hlinkClick r:id="rId4" tooltip="确认公开这张卡" action="ppaction://hlinksldjump"/>
          </p:cNvPr>
          <p:cNvSpPr/>
          <p:nvPr/>
        </p:nvSpPr>
        <p:spPr>
          <a:xfrm>
            <a:off x="4612796" y="5178318"/>
            <a:ext cx="2405575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2796" y="5656619"/>
            <a:ext cx="2405575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这是状态演示，不会真的发布内容。</a:t>
            </a:r>
            <a:endParaRPr lang="en-US" sz="665" dirty="0"/>
          </a:p>
        </p:txBody>
      </p:sp>
      <p:sp>
        <p:nvSpPr>
          <p:cNvPr id="41" name="Shape 39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单张授权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公开对象仅为卡片快照，不顺带开放私人档案。</a:t>
            </a:r>
            <a:endParaRPr lang="en-US" sz="1240" dirty="0"/>
          </a:p>
        </p:txBody>
      </p:sp>
      <p:sp>
        <p:nvSpPr>
          <p:cNvPr id="45" name="Shape 43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保存不强制社交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选择仅自己保存，仍能使用核心功能。</a:t>
            </a:r>
            <a:endParaRPr lang="en-US" sz="1240" dirty="0"/>
          </a:p>
        </p:txBody>
      </p:sp>
      <p:sp>
        <p:nvSpPr>
          <p:cNvPr id="49" name="Shape 47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51" name="Text 49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撤回边界明确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站内撤回可以控制；他人已导出的图片无法远程召回。</a:t>
            </a:r>
            <a:endParaRPr lang="en-US" sz="1240" dirty="0"/>
          </a:p>
        </p:txBody>
      </p:sp>
      <p:sp>
        <p:nvSpPr>
          <p:cNvPr id="53" name="Text 51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56" name="Text 54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 / 44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S06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先遇见照片，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再遇见一个人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“原来你也拍到了这一刻。”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点击阿遥卡片下的“交换这一晚”，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进入双向交换说明页。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 · 同场</a:t>
            </a:r>
            <a:endParaRPr lang="en-US" sz="1163" dirty="0"/>
          </a:p>
        </p:txBody>
      </p:sp>
      <p:sp>
        <p:nvSpPr>
          <p:cNvPr id="24" name="Text 22"/>
          <p:cNvSpPr/>
          <p:nvPr/>
        </p:nvSpPr>
        <p:spPr>
          <a:xfrm>
            <a:off x="4605762" y="1098687"/>
            <a:ext cx="2419643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先看见一个视角，再决定认识谁。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4612796" y="1380041"/>
            <a:ext cx="492369" cy="211015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7966" y="1401142"/>
            <a:ext cx="422031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返场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210673" y="1380041"/>
            <a:ext cx="717452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5842" y="1401142"/>
            <a:ext cx="647114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全场合唱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6033633" y="1380041"/>
            <a:ext cx="492369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8802" y="1401142"/>
            <a:ext cx="422031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舞台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612796" y="1752834"/>
            <a:ext cx="2405575" cy="2489982"/>
          </a:xfrm>
          <a:prstGeom prst="roundRect">
            <a:avLst>
              <a:gd name="adj" fmla="val 350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1270" y="1865376"/>
            <a:ext cx="2208628" cy="1392702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87960" y="2004646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7960" y="2092386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87960" y="2180127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87960" y="2267867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7960" y="2355607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87960" y="2443347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87960" y="2531087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87960" y="2618828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87960" y="2706568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87960" y="2794308"/>
            <a:ext cx="1811075" cy="222832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05153" y="1976792"/>
            <a:ext cx="905537" cy="905537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71411" y="2032500"/>
            <a:ext cx="176690" cy="765986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1702" y="3118807"/>
            <a:ext cx="134726" cy="13927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38147" y="2972574"/>
            <a:ext cx="134726" cy="2855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4593" y="3014355"/>
            <a:ext cx="134726" cy="24372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71038" y="3056136"/>
            <a:ext cx="134726" cy="20194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87484" y="3097917"/>
            <a:ext cx="134726" cy="16016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03929" y="2951683"/>
            <a:ext cx="134726" cy="30639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0375" y="2993464"/>
            <a:ext cx="134726" cy="26461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6820" y="3035245"/>
            <a:ext cx="134726" cy="22283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53266" y="3077026"/>
            <a:ext cx="134726" cy="18105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9711" y="3118807"/>
            <a:ext cx="134726" cy="13927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7960" y="2157843"/>
            <a:ext cx="1590212" cy="807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4732372" y="3384687"/>
            <a:ext cx="2124222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阿遥  /  我拍到的人海</a:t>
            </a:r>
            <a:endParaRPr lang="en-US" sz="1052" dirty="0"/>
          </a:p>
        </p:txBody>
      </p:sp>
      <p:sp>
        <p:nvSpPr>
          <p:cNvPr id="57" name="Text 55"/>
          <p:cNvSpPr/>
          <p:nvPr/>
        </p:nvSpPr>
        <p:spPr>
          <a:xfrm>
            <a:off x="4732372" y="3673074"/>
            <a:ext cx="2138289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你们都把「返场」选成今晚最佳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732372" y="3891124"/>
            <a:ext cx="2159391" cy="295422"/>
          </a:xfrm>
          <a:prstGeom prst="roundRect">
            <a:avLst>
              <a:gd name="adj" fmla="val 28571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5676" y="3912225"/>
            <a:ext cx="2032782" cy="2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我也在 · 交换这一晚</a:t>
            </a:r>
            <a:endParaRPr lang="en-US" sz="997" dirty="0"/>
          </a:p>
        </p:txBody>
      </p:sp>
      <p:sp>
        <p:nvSpPr>
          <p:cNvPr id="60" name="Shape 58">
            <a:hlinkClick r:id="rId4" tooltip="我也在 · 交换这一晚" action="ppaction://hlinksldjump"/>
          </p:cNvPr>
          <p:cNvSpPr/>
          <p:nvPr/>
        </p:nvSpPr>
        <p:spPr>
          <a:xfrm>
            <a:off x="4732372" y="3891124"/>
            <a:ext cx="2159391" cy="2954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12796" y="4369425"/>
            <a:ext cx="2405575" cy="865163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11270" y="4467899"/>
            <a:ext cx="618978" cy="661182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60788" y="4534017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60788" y="4575672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60788" y="4617326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60788" y="4658981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60788" y="4700635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60788" y="4742289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60788" y="4783944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60788" y="4825598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0788" y="4867253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60788" y="4908907"/>
            <a:ext cx="507562" cy="105789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89810" y="4520794"/>
            <a:ext cx="253781" cy="253781"/>
          </a:xfrm>
          <a:prstGeom prst="ellipse">
            <a:avLst/>
          </a:prstGeom>
          <a:solidFill>
            <a:srgbClr val="72E4D4">
              <a:alpha val="93000"/>
            </a:srgbClr>
          </a:solidFill>
          <a:ln w="12700">
            <a:solidFill>
              <a:srgbClr val="72E4D4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08380" y="4547241"/>
            <a:ext cx="49518" cy="363650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42219" y="5062962"/>
            <a:ext cx="37758" cy="6611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02879" y="4993538"/>
            <a:ext cx="37758" cy="13554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63539" y="5013374"/>
            <a:ext cx="37758" cy="11570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24199" y="5033209"/>
            <a:ext cx="37758" cy="9587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84859" y="5053045"/>
            <a:ext cx="37758" cy="7603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045519" y="4983621"/>
            <a:ext cx="37758" cy="14546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106178" y="5003456"/>
            <a:ext cx="37758" cy="12562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66838" y="5023292"/>
            <a:ext cx="37758" cy="10578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27498" y="5043127"/>
            <a:ext cx="37758" cy="8595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88158" y="5062962"/>
            <a:ext cx="37758" cy="6611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60788" y="4606747"/>
            <a:ext cx="445664" cy="3834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1049" dirty="0"/>
          </a:p>
          <a:p>
            <a:pPr indent="0" marL="0">
              <a:buNone/>
            </a:pPr>
            <a:r>
              <a:rPr lang="en-US" sz="1049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1049" dirty="0"/>
          </a:p>
        </p:txBody>
      </p:sp>
      <p:sp>
        <p:nvSpPr>
          <p:cNvPr id="86" name="Text 84"/>
          <p:cNvSpPr/>
          <p:nvPr/>
        </p:nvSpPr>
        <p:spPr>
          <a:xfrm>
            <a:off x="5463892" y="4545271"/>
            <a:ext cx="14067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北北的侧台视角</a:t>
            </a:r>
            <a:endParaRPr lang="en-US" sz="942" dirty="0"/>
          </a:p>
        </p:txBody>
      </p:sp>
      <p:sp>
        <p:nvSpPr>
          <p:cNvPr id="87" name="Text 85"/>
          <p:cNvSpPr/>
          <p:nvPr/>
        </p:nvSpPr>
        <p:spPr>
          <a:xfrm>
            <a:off x="5463892" y="4826625"/>
            <a:ext cx="1406769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只分享照片，暂不交友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612796" y="5410434"/>
            <a:ext cx="2405575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虚构示例成员 · 不代表真实到场</a:t>
            </a:r>
            <a:endParaRPr lang="en-US" sz="665" dirty="0"/>
          </a:p>
        </p:txBody>
      </p:sp>
      <p:sp>
        <p:nvSpPr>
          <p:cNvPr id="89" name="Shape 87"/>
          <p:cNvSpPr/>
          <p:nvPr/>
        </p:nvSpPr>
        <p:spPr>
          <a:xfrm>
            <a:off x="4451018" y="5818398"/>
            <a:ext cx="2729132" cy="513471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84661" y="5818398"/>
            <a:ext cx="2461846" cy="914"/>
          </a:xfrm>
          <a:prstGeom prst="line">
            <a:avLst/>
          </a:prstGeom>
          <a:noFill/>
          <a:ln w="4924">
            <a:solidFill>
              <a:srgbClr val="323A4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08218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98729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</a:t>
            </a:r>
            <a:endParaRPr lang="en-US" sz="775" dirty="0"/>
          </a:p>
        </p:txBody>
      </p:sp>
      <p:sp>
        <p:nvSpPr>
          <p:cNvPr id="93" name="Shape 91">
            <a:hlinkClick r:id="rId5" tooltip="今晚" action="ppaction://hlinksldjump"/>
          </p:cNvPr>
          <p:cNvSpPr/>
          <p:nvPr/>
        </p:nvSpPr>
        <p:spPr>
          <a:xfrm>
            <a:off x="4598729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780415" y="5937973"/>
            <a:ext cx="49237" cy="49237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70926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同场</a:t>
            </a:r>
            <a:endParaRPr lang="en-US" sz="775" dirty="0"/>
          </a:p>
        </p:txBody>
      </p:sp>
      <p:sp>
        <p:nvSpPr>
          <p:cNvPr id="96" name="Shape 94">
            <a:hlinkClick r:id="rId6" tooltip="同场" action="ppaction://hlinksldjump"/>
          </p:cNvPr>
          <p:cNvSpPr/>
          <p:nvPr/>
        </p:nvSpPr>
        <p:spPr>
          <a:xfrm>
            <a:off x="5470926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52612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43122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</a:t>
            </a:r>
            <a:endParaRPr lang="en-US" sz="775" dirty="0"/>
          </a:p>
        </p:txBody>
      </p:sp>
      <p:sp>
        <p:nvSpPr>
          <p:cNvPr id="99" name="Shape 97">
            <a:hlinkClick r:id="rId7" tooltip="档案" action="ppaction://hlinksldjump"/>
          </p:cNvPr>
          <p:cNvSpPr/>
          <p:nvPr/>
        </p:nvSpPr>
        <p:spPr>
          <a:xfrm>
            <a:off x="6343122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02" name="Text 100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具体交流理由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共同歌曲与同一演出环节，比泛泛匹配分数更可解释。</a:t>
            </a:r>
            <a:endParaRPr lang="en-US" sz="1240" dirty="0"/>
          </a:p>
        </p:txBody>
      </p:sp>
      <p:sp>
        <p:nvSpPr>
          <p:cNvPr id="104" name="Shape 102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06" name="Text 104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内容先行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没有社交意愿的人，也能浏览与保留自己的记录。</a:t>
            </a:r>
            <a:endParaRPr lang="en-US" sz="1240" dirty="0"/>
          </a:p>
        </p:txBody>
      </p:sp>
      <p:sp>
        <p:nvSpPr>
          <p:cNvPr id="108" name="Shape 106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10" name="Text 108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人数不造假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示例成员不得包装成真实在线观众或现场到场人数。</a:t>
            </a:r>
            <a:endParaRPr lang="en-US" sz="1240" dirty="0"/>
          </a:p>
        </p:txBody>
      </p:sp>
      <p:sp>
        <p:nvSpPr>
          <p:cNvPr id="112" name="Text 110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15" name="Text 113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 / 44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S07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交换的是现场，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不是默认好友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“我愿意交换一张卡，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还没决定把联系方式给你。”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点击发送，跳到“双方同意”的成功示意。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真实产品必须等待对方独立确认。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交换今晚的现场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851947" y="1387074"/>
            <a:ext cx="611945" cy="611945"/>
          </a:xfrm>
          <a:prstGeom prst="ellipse">
            <a:avLst/>
          </a:prstGeom>
          <a:solidFill>
            <a:srgbClr val="5C3E32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4489" y="1478514"/>
            <a:ext cx="386862" cy="39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3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</a:t>
            </a:r>
            <a:endParaRPr lang="en-US" sz="1938" dirty="0"/>
          </a:p>
        </p:txBody>
      </p:sp>
      <p:sp>
        <p:nvSpPr>
          <p:cNvPr id="26" name="Shape 24"/>
          <p:cNvSpPr/>
          <p:nvPr/>
        </p:nvSpPr>
        <p:spPr>
          <a:xfrm>
            <a:off x="6174310" y="1387074"/>
            <a:ext cx="611945" cy="611945"/>
          </a:xfrm>
          <a:prstGeom prst="ellipse">
            <a:avLst/>
          </a:prstGeom>
          <a:solidFill>
            <a:srgbClr val="413752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9818" y="1478514"/>
            <a:ext cx="386862" cy="39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3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</a:t>
            </a:r>
            <a:endParaRPr lang="en-US" sz="1938" dirty="0"/>
          </a:p>
        </p:txBody>
      </p:sp>
      <p:sp>
        <p:nvSpPr>
          <p:cNvPr id="28" name="Shape 26"/>
          <p:cNvSpPr/>
          <p:nvPr/>
        </p:nvSpPr>
        <p:spPr>
          <a:xfrm>
            <a:off x="5590501" y="1689530"/>
            <a:ext cx="443132" cy="914"/>
          </a:xfrm>
          <a:prstGeom prst="line">
            <a:avLst/>
          </a:prstGeom>
          <a:noFill/>
          <a:ln w="11254">
            <a:solidFill>
              <a:srgbClr val="FF84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2372" y="2125628"/>
            <a:ext cx="82296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</a:t>
            </a:r>
            <a:endParaRPr lang="en-US" sz="942" dirty="0"/>
          </a:p>
        </p:txBody>
      </p:sp>
      <p:sp>
        <p:nvSpPr>
          <p:cNvPr id="30" name="Text 28"/>
          <p:cNvSpPr/>
          <p:nvPr/>
        </p:nvSpPr>
        <p:spPr>
          <a:xfrm>
            <a:off x="6040667" y="2125628"/>
            <a:ext cx="851095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阿遥</a:t>
            </a:r>
            <a:endParaRPr lang="en-US" sz="942" dirty="0"/>
          </a:p>
        </p:txBody>
      </p:sp>
      <p:sp>
        <p:nvSpPr>
          <p:cNvPr id="31" name="Shape 29"/>
          <p:cNvSpPr/>
          <p:nvPr/>
        </p:nvSpPr>
        <p:spPr>
          <a:xfrm>
            <a:off x="4612796" y="2519524"/>
            <a:ext cx="2405575" cy="1167618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6439" y="2660201"/>
            <a:ext cx="2131255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共同点，不是匹配分数</a:t>
            </a:r>
            <a:endParaRPr lang="en-US" sz="1163" dirty="0"/>
          </a:p>
        </p:txBody>
      </p:sp>
      <p:sp>
        <p:nvSpPr>
          <p:cNvPr id="33" name="Text 31"/>
          <p:cNvSpPr/>
          <p:nvPr/>
        </p:nvSpPr>
        <p:spPr>
          <a:xfrm>
            <a:off x="4746439" y="2983758"/>
            <a:ext cx="2131255" cy="534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同一场：回声之夜</a:t>
            </a:r>
            <a:endParaRPr lang="en-US" sz="831" dirty="0"/>
          </a:p>
          <a:p>
            <a:pPr indent="0" marL="0">
              <a:buNone/>
            </a:pPr>
            <a:r>
              <a:rPr lang="en-US" sz="83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同一刻：返场合唱</a:t>
            </a:r>
            <a:endParaRPr lang="en-US" sz="831" dirty="0"/>
          </a:p>
          <a:p>
            <a:pPr indent="0" marL="0">
              <a:buNone/>
            </a:pPr>
            <a:r>
              <a:rPr lang="en-US" sz="83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邀请：交换各自的一张现场卡</a:t>
            </a:r>
            <a:endParaRPr lang="en-US" sz="831" dirty="0"/>
          </a:p>
        </p:txBody>
      </p:sp>
      <p:sp>
        <p:nvSpPr>
          <p:cNvPr id="34" name="Shape 32"/>
          <p:cNvSpPr/>
          <p:nvPr/>
        </p:nvSpPr>
        <p:spPr>
          <a:xfrm>
            <a:off x="4612796" y="3855954"/>
            <a:ext cx="2405575" cy="682283"/>
          </a:xfrm>
          <a:prstGeom prst="rect">
            <a:avLst/>
          </a:prstGeom>
          <a:solidFill>
            <a:srgbClr val="242A32"/>
          </a:solidFill>
          <a:ln w="8255">
            <a:solidFill>
              <a:srgbClr val="242A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2372" y="4024767"/>
            <a:ext cx="2159391" cy="330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“你拍到的这一刻，我也记得。”</a:t>
            </a:r>
            <a:endParaRPr lang="en-US" sz="942" dirty="0"/>
          </a:p>
        </p:txBody>
      </p:sp>
      <p:sp>
        <p:nvSpPr>
          <p:cNvPr id="36" name="Text 34"/>
          <p:cNvSpPr/>
          <p:nvPr/>
        </p:nvSpPr>
        <p:spPr>
          <a:xfrm>
            <a:off x="4619830" y="4735185"/>
            <a:ext cx="2391508" cy="400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接受邀请只交换卡片。</a:t>
            </a:r>
            <a:endParaRPr lang="en-US" sz="775" dirty="0"/>
          </a:p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不自动加好友，不公开联系方式。</a:t>
            </a:r>
            <a:endParaRPr lang="en-US" sz="775" dirty="0"/>
          </a:p>
        </p:txBody>
      </p:sp>
      <p:sp>
        <p:nvSpPr>
          <p:cNvPr id="37" name="Shape 35"/>
          <p:cNvSpPr/>
          <p:nvPr/>
        </p:nvSpPr>
        <p:spPr>
          <a:xfrm>
            <a:off x="4612796" y="5396367"/>
            <a:ext cx="2405575" cy="351692"/>
          </a:xfrm>
          <a:prstGeom prst="roundRect">
            <a:avLst>
              <a:gd name="adj" fmla="val 2400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6101" y="5417468"/>
            <a:ext cx="2278966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发送交换请求</a:t>
            </a:r>
            <a:endParaRPr lang="en-US" sz="997" dirty="0"/>
          </a:p>
        </p:txBody>
      </p:sp>
      <p:sp>
        <p:nvSpPr>
          <p:cNvPr id="39" name="Shape 37">
            <a:hlinkClick r:id="rId4" tooltip="发送交换请求" action="ppaction://hlinksldjump"/>
          </p:cNvPr>
          <p:cNvSpPr/>
          <p:nvPr/>
        </p:nvSpPr>
        <p:spPr>
          <a:xfrm>
            <a:off x="4612796" y="5396367"/>
            <a:ext cx="2405575" cy="3516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低压力邀请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邀请围绕具体照片和共同环节展开。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两个同意分开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同意换卡，不等于同意公开联系方式或建立好友关系。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必须防骚扰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正式版需要频率限制、撤回、拒绝与屏蔽。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55" name="Text 53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 / 44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S08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你的舞台，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补上我的人海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“一张我拍的，一张你拍的，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才更像完整的一晚。”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收进档案 → S09；继续看同场 → S06。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成功状态是模拟，不是实际多端同步。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这一晚，多了一个视角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5611602" y="1232330"/>
            <a:ext cx="414997" cy="414997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1941" y="1281567"/>
            <a:ext cx="28135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8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828" dirty="0"/>
          </a:p>
        </p:txBody>
      </p:sp>
      <p:sp>
        <p:nvSpPr>
          <p:cNvPr id="26" name="Text 24"/>
          <p:cNvSpPr/>
          <p:nvPr/>
        </p:nvSpPr>
        <p:spPr>
          <a:xfrm>
            <a:off x="4612796" y="1802071"/>
            <a:ext cx="2405575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1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交换成功</a:t>
            </a:r>
            <a:endParaRPr lang="en-US" sz="1717" dirty="0"/>
          </a:p>
        </p:txBody>
      </p:sp>
      <p:sp>
        <p:nvSpPr>
          <p:cNvPr id="27" name="Text 25"/>
          <p:cNvSpPr/>
          <p:nvPr/>
        </p:nvSpPr>
        <p:spPr>
          <a:xfrm>
            <a:off x="4612796" y="2181899"/>
            <a:ext cx="2405575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演示状态：双方均已确认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633898" y="2568761"/>
            <a:ext cx="1153551" cy="1807698"/>
          </a:xfrm>
          <a:prstGeom prst="roundRect">
            <a:avLst>
              <a:gd name="adj" fmla="val 4268"/>
            </a:avLst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9406" y="2653167"/>
            <a:ext cx="94253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b="1" dirty="0">
                <a:solidFill>
                  <a:srgbClr val="171B2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 /  LIVE CARD</a:t>
            </a:r>
            <a:endParaRPr lang="en-US" sz="554" dirty="0"/>
          </a:p>
        </p:txBody>
      </p:sp>
      <p:sp>
        <p:nvSpPr>
          <p:cNvPr id="30" name="Shape 28"/>
          <p:cNvSpPr/>
          <p:nvPr/>
        </p:nvSpPr>
        <p:spPr>
          <a:xfrm>
            <a:off x="4739406" y="2864182"/>
            <a:ext cx="942535" cy="914"/>
          </a:xfrm>
          <a:prstGeom prst="line">
            <a:avLst/>
          </a:prstGeom>
          <a:noFill/>
          <a:ln w="4924">
            <a:solidFill>
              <a:srgbClr val="BBB7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2372" y="2962656"/>
            <a:ext cx="956603" cy="867695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8900" y="3049426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8900" y="3104090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8900" y="3158755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8900" y="3213420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8900" y="3268085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8900" y="3322750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8900" y="3377414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8900" y="3432079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8900" y="3486744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8900" y="3541409"/>
            <a:ext cx="784415" cy="1388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2843" y="3032072"/>
            <a:ext cx="392207" cy="392207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91541" y="3066779"/>
            <a:ext cx="76528" cy="477232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80202" y="3743582"/>
            <a:ext cx="58353" cy="8677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73949" y="3652474"/>
            <a:ext cx="58353" cy="17787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67696" y="3678505"/>
            <a:ext cx="58353" cy="15184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61443" y="3704535"/>
            <a:ext cx="58353" cy="12581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55190" y="3730566"/>
            <a:ext cx="58353" cy="9978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48937" y="3639458"/>
            <a:ext cx="58353" cy="19089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42684" y="3665489"/>
            <a:ext cx="58353" cy="16486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36432" y="3691520"/>
            <a:ext cx="58353" cy="13883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30179" y="3717551"/>
            <a:ext cx="58353" cy="1128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23926" y="3743582"/>
            <a:ext cx="58353" cy="8677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8900" y="3144872"/>
            <a:ext cx="688754" cy="50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2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1622" dirty="0"/>
          </a:p>
          <a:p>
            <a:pPr indent="0" marL="0">
              <a:buNone/>
            </a:pPr>
            <a:r>
              <a:rPr lang="en-US" sz="1622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1622" dirty="0"/>
          </a:p>
        </p:txBody>
      </p:sp>
      <p:sp>
        <p:nvSpPr>
          <p:cNvPr id="55" name="Text 53"/>
          <p:cNvSpPr/>
          <p:nvPr/>
        </p:nvSpPr>
        <p:spPr>
          <a:xfrm>
            <a:off x="4753473" y="3707611"/>
            <a:ext cx="91440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5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495" dirty="0"/>
          </a:p>
        </p:txBody>
      </p:sp>
      <p:sp>
        <p:nvSpPr>
          <p:cNvPr id="56" name="Text 54"/>
          <p:cNvSpPr/>
          <p:nvPr/>
        </p:nvSpPr>
        <p:spPr>
          <a:xfrm>
            <a:off x="4753473" y="3888380"/>
            <a:ext cx="914400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6564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2026.09.12  /  广州</a:t>
            </a:r>
            <a:endParaRPr lang="en-US" sz="665" dirty="0"/>
          </a:p>
        </p:txBody>
      </p:sp>
      <p:sp>
        <p:nvSpPr>
          <p:cNvPr id="57" name="Text 55"/>
          <p:cNvSpPr/>
          <p:nvPr/>
        </p:nvSpPr>
        <p:spPr>
          <a:xfrm>
            <a:off x="4753473" y="4051073"/>
            <a:ext cx="91440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753473" y="4177612"/>
            <a:ext cx="914400" cy="914"/>
          </a:xfrm>
          <a:prstGeom prst="line">
            <a:avLst/>
          </a:prstGeom>
          <a:noFill/>
          <a:ln w="4924">
            <a:solidFill>
              <a:srgbClr val="B8B5A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3473" y="4231843"/>
            <a:ext cx="914400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dirty="0">
                <a:solidFill>
                  <a:srgbClr val="6261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  ·  今晚最佳：返场</a:t>
            </a:r>
            <a:endParaRPr lang="en-US" sz="554" dirty="0"/>
          </a:p>
        </p:txBody>
      </p:sp>
      <p:sp>
        <p:nvSpPr>
          <p:cNvPr id="60" name="Shape 58"/>
          <p:cNvSpPr/>
          <p:nvPr/>
        </p:nvSpPr>
        <p:spPr>
          <a:xfrm>
            <a:off x="5864821" y="2568761"/>
            <a:ext cx="1153551" cy="1807698"/>
          </a:xfrm>
          <a:prstGeom prst="roundRect">
            <a:avLst>
              <a:gd name="adj" fmla="val 4268"/>
            </a:avLst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70329" y="2653167"/>
            <a:ext cx="94253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b="1" dirty="0">
                <a:solidFill>
                  <a:srgbClr val="171B2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 /  LIVE CARD</a:t>
            </a:r>
            <a:endParaRPr lang="en-US" sz="554" dirty="0"/>
          </a:p>
        </p:txBody>
      </p:sp>
      <p:sp>
        <p:nvSpPr>
          <p:cNvPr id="62" name="Shape 60"/>
          <p:cNvSpPr/>
          <p:nvPr/>
        </p:nvSpPr>
        <p:spPr>
          <a:xfrm>
            <a:off x="5970329" y="2864182"/>
            <a:ext cx="942535" cy="914"/>
          </a:xfrm>
          <a:prstGeom prst="line">
            <a:avLst/>
          </a:prstGeom>
          <a:noFill/>
          <a:ln w="4924">
            <a:solidFill>
              <a:srgbClr val="BBB7A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63295" y="2962656"/>
            <a:ext cx="956603" cy="867695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39823" y="3049426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9823" y="3104090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9823" y="3158755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9823" y="3213420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39823" y="3268085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39823" y="3322750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9823" y="3377414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39823" y="3432079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39823" y="3486744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39823" y="3541409"/>
            <a:ext cx="784415" cy="138831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93766" y="3032072"/>
            <a:ext cx="392207" cy="392207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22464" y="3066779"/>
            <a:ext cx="76528" cy="477232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11125" y="3743582"/>
            <a:ext cx="58353" cy="8677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04872" y="3652474"/>
            <a:ext cx="58353" cy="17787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98619" y="3678505"/>
            <a:ext cx="58353" cy="15184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92366" y="3704535"/>
            <a:ext cx="58353" cy="12581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86113" y="3730566"/>
            <a:ext cx="58353" cy="9978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79860" y="3639458"/>
            <a:ext cx="58353" cy="19089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73608" y="3665489"/>
            <a:ext cx="58353" cy="16486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67355" y="3691520"/>
            <a:ext cx="58353" cy="13883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61102" y="3717551"/>
            <a:ext cx="58353" cy="11280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54849" y="3743582"/>
            <a:ext cx="58353" cy="8677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39823" y="3144872"/>
            <a:ext cx="688754" cy="50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2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1622" dirty="0"/>
          </a:p>
          <a:p>
            <a:pPr indent="0" marL="0">
              <a:buNone/>
            </a:pPr>
            <a:r>
              <a:rPr lang="en-US" sz="1622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1622" dirty="0"/>
          </a:p>
        </p:txBody>
      </p:sp>
      <p:sp>
        <p:nvSpPr>
          <p:cNvPr id="87" name="Text 85"/>
          <p:cNvSpPr/>
          <p:nvPr/>
        </p:nvSpPr>
        <p:spPr>
          <a:xfrm>
            <a:off x="5984396" y="3707611"/>
            <a:ext cx="91440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5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495" dirty="0"/>
          </a:p>
        </p:txBody>
      </p:sp>
      <p:sp>
        <p:nvSpPr>
          <p:cNvPr id="88" name="Text 86"/>
          <p:cNvSpPr/>
          <p:nvPr/>
        </p:nvSpPr>
        <p:spPr>
          <a:xfrm>
            <a:off x="5984396" y="3888380"/>
            <a:ext cx="914400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6564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2026.09.12  /  广州</a:t>
            </a:r>
            <a:endParaRPr lang="en-US" sz="665" dirty="0"/>
          </a:p>
        </p:txBody>
      </p:sp>
      <p:sp>
        <p:nvSpPr>
          <p:cNvPr id="89" name="Text 87"/>
          <p:cNvSpPr/>
          <p:nvPr/>
        </p:nvSpPr>
        <p:spPr>
          <a:xfrm>
            <a:off x="5984396" y="4051073"/>
            <a:ext cx="91440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5984396" y="4177612"/>
            <a:ext cx="914400" cy="914"/>
          </a:xfrm>
          <a:prstGeom prst="line">
            <a:avLst/>
          </a:prstGeom>
          <a:noFill/>
          <a:ln w="4924">
            <a:solidFill>
              <a:srgbClr val="B8B5A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84396" y="4231843"/>
            <a:ext cx="914400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dirty="0">
                <a:solidFill>
                  <a:srgbClr val="6261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  ·  今晚最佳：返场</a:t>
            </a:r>
            <a:endParaRPr lang="en-US" sz="554" dirty="0"/>
          </a:p>
        </p:txBody>
      </p:sp>
      <p:sp>
        <p:nvSpPr>
          <p:cNvPr id="92" name="Text 90"/>
          <p:cNvSpPr/>
          <p:nvPr/>
        </p:nvSpPr>
        <p:spPr>
          <a:xfrm>
            <a:off x="4633898" y="4489001"/>
            <a:ext cx="1153551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你的舞台</a:t>
            </a:r>
            <a:endParaRPr lang="en-US" sz="886" dirty="0"/>
          </a:p>
        </p:txBody>
      </p:sp>
      <p:sp>
        <p:nvSpPr>
          <p:cNvPr id="93" name="Text 91"/>
          <p:cNvSpPr/>
          <p:nvPr/>
        </p:nvSpPr>
        <p:spPr>
          <a:xfrm>
            <a:off x="5864821" y="4489001"/>
            <a:ext cx="1153551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阿遥的人海</a:t>
            </a:r>
            <a:endParaRPr lang="en-US" sz="886" dirty="0"/>
          </a:p>
        </p:txBody>
      </p:sp>
      <p:sp>
        <p:nvSpPr>
          <p:cNvPr id="94" name="Text 92"/>
          <p:cNvSpPr/>
          <p:nvPr/>
        </p:nvSpPr>
        <p:spPr>
          <a:xfrm>
            <a:off x="4612796" y="4812558"/>
            <a:ext cx="2405575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交换不代表允许再次公开对方照片。</a:t>
            </a:r>
            <a:endParaRPr lang="en-US" sz="665" dirty="0"/>
          </a:p>
        </p:txBody>
      </p:sp>
      <p:sp>
        <p:nvSpPr>
          <p:cNvPr id="95" name="Shape 93"/>
          <p:cNvSpPr/>
          <p:nvPr/>
        </p:nvSpPr>
        <p:spPr>
          <a:xfrm>
            <a:off x="4612796" y="5143148"/>
            <a:ext cx="2405575" cy="344658"/>
          </a:xfrm>
          <a:prstGeom prst="roundRect">
            <a:avLst>
              <a:gd name="adj" fmla="val 2449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76101" y="5164250"/>
            <a:ext cx="2278966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收进我的档案</a:t>
            </a:r>
            <a:endParaRPr lang="en-US" sz="997" dirty="0"/>
          </a:p>
        </p:txBody>
      </p:sp>
      <p:sp>
        <p:nvSpPr>
          <p:cNvPr id="97" name="Shape 95">
            <a:hlinkClick r:id="rId4" tooltip="收进我的档案" action="ppaction://hlinksldjump"/>
          </p:cNvPr>
          <p:cNvSpPr/>
          <p:nvPr/>
        </p:nvSpPr>
        <p:spPr>
          <a:xfrm>
            <a:off x="4612796" y="5143148"/>
            <a:ext cx="2405575" cy="344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612796" y="5572213"/>
            <a:ext cx="2405575" cy="281354"/>
          </a:xfrm>
          <a:prstGeom prst="roundRect">
            <a:avLst>
              <a:gd name="adj" fmla="val 30000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76101" y="5593314"/>
            <a:ext cx="2278966" cy="2391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继续看同场</a:t>
            </a:r>
            <a:endParaRPr lang="en-US" sz="997" dirty="0"/>
          </a:p>
        </p:txBody>
      </p:sp>
      <p:sp>
        <p:nvSpPr>
          <p:cNvPr id="100" name="Shape 98">
            <a:hlinkClick r:id="rId5" tooltip="继续看同场" action="ppaction://hlinksldjump"/>
          </p:cNvPr>
          <p:cNvSpPr/>
          <p:nvPr/>
        </p:nvSpPr>
        <p:spPr>
          <a:xfrm>
            <a:off x="4612796" y="5572213"/>
            <a:ext cx="2405575" cy="28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03" name="Text 101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交换后有结果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两张不同视角并列呈现，让连接产生明确价值。</a:t>
            </a:r>
            <a:endParaRPr lang="en-US" sz="1240" dirty="0"/>
          </a:p>
        </p:txBody>
      </p:sp>
      <p:sp>
        <p:nvSpPr>
          <p:cNvPr id="105" name="Shape 103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07" name="Text 105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不绑架关系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没有匹配评分，也不要求接着聊天。</a:t>
            </a:r>
            <a:endParaRPr lang="en-US" sz="1240" dirty="0"/>
          </a:p>
        </p:txBody>
      </p:sp>
      <p:sp>
        <p:nvSpPr>
          <p:cNvPr id="109" name="Shape 107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11" name="Text 109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二次使用需授权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收到卡片，不自动获得再次公开对方照片的权利。</a:t>
            </a:r>
            <a:endParaRPr lang="en-US" sz="1240" dirty="0"/>
          </a:p>
        </p:txBody>
      </p:sp>
      <p:sp>
        <p:nvSpPr>
          <p:cNvPr id="113" name="Text 111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16" name="Text 114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17" name="Text 115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 / 44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S09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不是打卡数量，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是自己的记忆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“一年以后再打开，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我想知道那几个夜晚发生了什么。”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点击任意记录，进入私人详情。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页内数量与日期为虚构示例。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2796" y="838434"/>
            <a:ext cx="2405575" cy="696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94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MY LIVE</a:t>
            </a:r>
            <a:endParaRPr lang="en-US" sz="1994" dirty="0"/>
          </a:p>
          <a:p>
            <a:pPr indent="0" marL="0">
              <a:buNone/>
            </a:pPr>
            <a:r>
              <a:rPr lang="en-US" sz="1994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ARCHIVE</a:t>
            </a:r>
            <a:endParaRPr lang="en-US" sz="1994" dirty="0"/>
          </a:p>
        </p:txBody>
      </p:sp>
      <p:sp>
        <p:nvSpPr>
          <p:cNvPr id="22" name="Shape 20"/>
          <p:cNvSpPr/>
          <p:nvPr/>
        </p:nvSpPr>
        <p:spPr>
          <a:xfrm>
            <a:off x="4612796" y="1689530"/>
            <a:ext cx="921434" cy="211015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7966" y="1710631"/>
            <a:ext cx="85109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仅自己可见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612796" y="2097493"/>
            <a:ext cx="1526345" cy="386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92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</a:t>
            </a:r>
            <a:endParaRPr lang="en-US" sz="2492" dirty="0"/>
          </a:p>
        </p:txBody>
      </p:sp>
      <p:sp>
        <p:nvSpPr>
          <p:cNvPr id="25" name="Text 23"/>
          <p:cNvSpPr/>
          <p:nvPr/>
        </p:nvSpPr>
        <p:spPr>
          <a:xfrm>
            <a:off x="4612796" y="2589862"/>
            <a:ext cx="240557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个夜晚  /  示例记录</a:t>
            </a:r>
            <a:endParaRPr lang="en-US" sz="886" dirty="0"/>
          </a:p>
        </p:txBody>
      </p:sp>
      <p:sp>
        <p:nvSpPr>
          <p:cNvPr id="26" name="Shape 24"/>
          <p:cNvSpPr/>
          <p:nvPr/>
        </p:nvSpPr>
        <p:spPr>
          <a:xfrm>
            <a:off x="4612796" y="2927487"/>
            <a:ext cx="2405575" cy="0"/>
          </a:xfrm>
          <a:prstGeom prst="line">
            <a:avLst/>
          </a:prstGeom>
          <a:noFill/>
          <a:ln w="6350">
            <a:solidFill>
              <a:srgbClr val="323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9830" y="3096299"/>
            <a:ext cx="506437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7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09.12</a:t>
            </a:r>
            <a:endParaRPr lang="en-US" sz="997" dirty="0"/>
          </a:p>
        </p:txBody>
      </p:sp>
      <p:sp>
        <p:nvSpPr>
          <p:cNvPr id="28" name="Shape 26"/>
          <p:cNvSpPr/>
          <p:nvPr/>
        </p:nvSpPr>
        <p:spPr>
          <a:xfrm>
            <a:off x="5203639" y="3018927"/>
            <a:ext cx="499403" cy="604911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43592" y="3079418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43592" y="3117527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43592" y="3155637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3592" y="3193746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3592" y="3231855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43592" y="3269965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43592" y="3308074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43592" y="3346183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43592" y="3384293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3592" y="3422402"/>
            <a:ext cx="409511" cy="96786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28371" y="3067320"/>
            <a:ext cx="204755" cy="204755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43353" y="3091516"/>
            <a:ext cx="39952" cy="332701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28610" y="3563346"/>
            <a:ext cx="30464" cy="604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77551" y="3499831"/>
            <a:ext cx="30464" cy="12400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26493" y="3517978"/>
            <a:ext cx="30464" cy="10585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5434" y="3536125"/>
            <a:ext cx="30464" cy="8771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24376" y="3554273"/>
            <a:ext cx="30464" cy="6956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73317" y="3490757"/>
            <a:ext cx="30464" cy="13308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22259" y="3508904"/>
            <a:ext cx="30464" cy="11493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1200" y="3527052"/>
            <a:ext cx="30464" cy="967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20142" y="3545199"/>
            <a:ext cx="30464" cy="7863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083" y="3563346"/>
            <a:ext cx="30464" cy="604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43592" y="3145958"/>
            <a:ext cx="359570" cy="35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7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847" dirty="0"/>
          </a:p>
          <a:p>
            <a:pPr indent="0" marL="0">
              <a:buNone/>
            </a:pPr>
            <a:r>
              <a:rPr lang="en-US" sz="847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847" dirty="0"/>
          </a:p>
        </p:txBody>
      </p:sp>
      <p:sp>
        <p:nvSpPr>
          <p:cNvPr id="52" name="Text 50"/>
          <p:cNvSpPr/>
          <p:nvPr/>
        </p:nvSpPr>
        <p:spPr>
          <a:xfrm>
            <a:off x="5822618" y="3082231"/>
            <a:ext cx="1195754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052" dirty="0"/>
          </a:p>
        </p:txBody>
      </p:sp>
      <p:sp>
        <p:nvSpPr>
          <p:cNvPr id="53" name="Text 51"/>
          <p:cNvSpPr/>
          <p:nvPr/>
        </p:nvSpPr>
        <p:spPr>
          <a:xfrm>
            <a:off x="5822618" y="3398754"/>
            <a:ext cx="1125415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</a:t>
            </a:r>
            <a:endParaRPr lang="en-US" sz="720" dirty="0"/>
          </a:p>
        </p:txBody>
      </p:sp>
      <p:sp>
        <p:nvSpPr>
          <p:cNvPr id="54" name="Shape 52">
            <a:hlinkClick r:id="rId3" tooltip="查看私人记录" action="ppaction://hlinksldjump"/>
          </p:cNvPr>
          <p:cNvSpPr/>
          <p:nvPr/>
        </p:nvSpPr>
        <p:spPr>
          <a:xfrm>
            <a:off x="4612796" y="2983758"/>
            <a:ext cx="2405575" cy="6963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2796" y="3757481"/>
            <a:ext cx="2405575" cy="0"/>
          </a:xfrm>
          <a:prstGeom prst="line">
            <a:avLst/>
          </a:prstGeom>
          <a:noFill/>
          <a:ln w="6350">
            <a:solidFill>
              <a:srgbClr val="323A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9830" y="3926293"/>
            <a:ext cx="506437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7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06.08</a:t>
            </a:r>
            <a:endParaRPr lang="en-US" sz="997" dirty="0"/>
          </a:p>
        </p:txBody>
      </p:sp>
      <p:sp>
        <p:nvSpPr>
          <p:cNvPr id="57" name="Shape 55"/>
          <p:cNvSpPr/>
          <p:nvPr/>
        </p:nvSpPr>
        <p:spPr>
          <a:xfrm>
            <a:off x="5203639" y="3848921"/>
            <a:ext cx="499403" cy="604911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43592" y="3909412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43592" y="3947521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43592" y="3985630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43592" y="4023740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43592" y="4061849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43592" y="4099959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43592" y="4138068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43592" y="4176177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43592" y="4214287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43592" y="4252396"/>
            <a:ext cx="409511" cy="96786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28371" y="3897313"/>
            <a:ext cx="204755" cy="204755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3353" y="3921510"/>
            <a:ext cx="39952" cy="332701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28610" y="4393340"/>
            <a:ext cx="30464" cy="604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77551" y="4329825"/>
            <a:ext cx="30464" cy="12400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26493" y="4347972"/>
            <a:ext cx="30464" cy="10585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75434" y="4366119"/>
            <a:ext cx="30464" cy="8771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24376" y="4384267"/>
            <a:ext cx="30464" cy="6956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73317" y="4320751"/>
            <a:ext cx="30464" cy="13308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522259" y="4338898"/>
            <a:ext cx="30464" cy="11493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71200" y="4357046"/>
            <a:ext cx="30464" cy="967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20142" y="4375193"/>
            <a:ext cx="30464" cy="7863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083" y="4393340"/>
            <a:ext cx="30464" cy="604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43592" y="3975952"/>
            <a:ext cx="359570" cy="35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7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847" dirty="0"/>
          </a:p>
          <a:p>
            <a:pPr indent="0" marL="0">
              <a:buNone/>
            </a:pPr>
            <a:r>
              <a:rPr lang="en-US" sz="847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847" dirty="0"/>
          </a:p>
        </p:txBody>
      </p:sp>
      <p:sp>
        <p:nvSpPr>
          <p:cNvPr id="81" name="Text 79"/>
          <p:cNvSpPr/>
          <p:nvPr/>
        </p:nvSpPr>
        <p:spPr>
          <a:xfrm>
            <a:off x="5822618" y="3912225"/>
            <a:ext cx="1195754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校园夏夜</a:t>
            </a:r>
            <a:endParaRPr lang="en-US" sz="1052" dirty="0"/>
          </a:p>
        </p:txBody>
      </p:sp>
      <p:sp>
        <p:nvSpPr>
          <p:cNvPr id="82" name="Text 80"/>
          <p:cNvSpPr/>
          <p:nvPr/>
        </p:nvSpPr>
        <p:spPr>
          <a:xfrm>
            <a:off x="5822618" y="4228748"/>
            <a:ext cx="1125415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</a:t>
            </a:r>
            <a:endParaRPr lang="en-US" sz="720" dirty="0"/>
          </a:p>
        </p:txBody>
      </p:sp>
      <p:sp>
        <p:nvSpPr>
          <p:cNvPr id="83" name="Shape 81">
            <a:hlinkClick r:id="rId4" tooltip="查看私人记录" action="ppaction://hlinksldjump"/>
          </p:cNvPr>
          <p:cNvSpPr/>
          <p:nvPr/>
        </p:nvSpPr>
        <p:spPr>
          <a:xfrm>
            <a:off x="4612796" y="3813751"/>
            <a:ext cx="2405575" cy="6963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612796" y="4587474"/>
            <a:ext cx="2405575" cy="0"/>
          </a:xfrm>
          <a:prstGeom prst="line">
            <a:avLst/>
          </a:prstGeom>
          <a:noFill/>
          <a:ln w="6350">
            <a:solidFill>
              <a:srgbClr val="323A4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19830" y="4756287"/>
            <a:ext cx="506437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7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04.21</a:t>
            </a:r>
            <a:endParaRPr lang="en-US" sz="997" dirty="0"/>
          </a:p>
        </p:txBody>
      </p:sp>
      <p:sp>
        <p:nvSpPr>
          <p:cNvPr id="86" name="Shape 84"/>
          <p:cNvSpPr/>
          <p:nvPr/>
        </p:nvSpPr>
        <p:spPr>
          <a:xfrm>
            <a:off x="5203639" y="4678914"/>
            <a:ext cx="499403" cy="604911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43592" y="4739406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243592" y="4777515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243592" y="4815624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43592" y="4853734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43592" y="4891843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243592" y="4929952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243592" y="4968062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43592" y="5006171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243592" y="5044281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243592" y="5082390"/>
            <a:ext cx="409511" cy="96786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28371" y="4727307"/>
            <a:ext cx="204755" cy="204755"/>
          </a:xfrm>
          <a:prstGeom prst="ellipse">
            <a:avLst/>
          </a:prstGeom>
          <a:solidFill>
            <a:srgbClr val="72E4D4">
              <a:alpha val="93000"/>
            </a:srgbClr>
          </a:solidFill>
          <a:ln w="12700">
            <a:solidFill>
              <a:srgbClr val="72E4D4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43353" y="4751504"/>
            <a:ext cx="39952" cy="332701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28610" y="5223334"/>
            <a:ext cx="30464" cy="604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277551" y="5159819"/>
            <a:ext cx="30464" cy="12400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326493" y="5177966"/>
            <a:ext cx="30464" cy="10585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375434" y="5196113"/>
            <a:ext cx="30464" cy="8771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424376" y="5214260"/>
            <a:ext cx="30464" cy="6956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473317" y="5150745"/>
            <a:ext cx="30464" cy="13308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22259" y="5168892"/>
            <a:ext cx="30464" cy="11493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571200" y="5187040"/>
            <a:ext cx="30464" cy="9678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20142" y="5205187"/>
            <a:ext cx="30464" cy="7863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669083" y="5223334"/>
            <a:ext cx="30464" cy="6049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243592" y="4805946"/>
            <a:ext cx="359570" cy="35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7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847" dirty="0"/>
          </a:p>
          <a:p>
            <a:pPr indent="0" marL="0">
              <a:buNone/>
            </a:pPr>
            <a:r>
              <a:rPr lang="en-US" sz="847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847" dirty="0"/>
          </a:p>
        </p:txBody>
      </p:sp>
      <p:sp>
        <p:nvSpPr>
          <p:cNvPr id="110" name="Text 108"/>
          <p:cNvSpPr/>
          <p:nvPr/>
        </p:nvSpPr>
        <p:spPr>
          <a:xfrm>
            <a:off x="5822618" y="4742219"/>
            <a:ext cx="1195754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夜色合奏</a:t>
            </a:r>
            <a:endParaRPr lang="en-US" sz="1052" dirty="0"/>
          </a:p>
        </p:txBody>
      </p:sp>
      <p:sp>
        <p:nvSpPr>
          <p:cNvPr id="111" name="Text 109"/>
          <p:cNvSpPr/>
          <p:nvPr/>
        </p:nvSpPr>
        <p:spPr>
          <a:xfrm>
            <a:off x="5822618" y="5058742"/>
            <a:ext cx="1125415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深圳</a:t>
            </a:r>
            <a:endParaRPr lang="en-US" sz="720" dirty="0"/>
          </a:p>
        </p:txBody>
      </p:sp>
      <p:sp>
        <p:nvSpPr>
          <p:cNvPr id="112" name="Shape 110">
            <a:hlinkClick r:id="rId5" tooltip="查看私人记录" action="ppaction://hlinksldjump"/>
          </p:cNvPr>
          <p:cNvSpPr/>
          <p:nvPr/>
        </p:nvSpPr>
        <p:spPr>
          <a:xfrm>
            <a:off x="4612796" y="4643745"/>
            <a:ext cx="2405575" cy="6963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51018" y="5818398"/>
            <a:ext cx="2729132" cy="513471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84661" y="5818398"/>
            <a:ext cx="2461846" cy="914"/>
          </a:xfrm>
          <a:prstGeom prst="line">
            <a:avLst/>
          </a:prstGeom>
          <a:noFill/>
          <a:ln w="4924">
            <a:solidFill>
              <a:srgbClr val="323A4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908218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598729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</a:t>
            </a:r>
            <a:endParaRPr lang="en-US" sz="775" dirty="0"/>
          </a:p>
        </p:txBody>
      </p:sp>
      <p:sp>
        <p:nvSpPr>
          <p:cNvPr id="117" name="Shape 115">
            <a:hlinkClick r:id="rId6" tooltip="今晚" action="ppaction://hlinksldjump"/>
          </p:cNvPr>
          <p:cNvSpPr/>
          <p:nvPr/>
        </p:nvSpPr>
        <p:spPr>
          <a:xfrm>
            <a:off x="4598729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80415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470926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同场</a:t>
            </a:r>
            <a:endParaRPr lang="en-US" sz="775" dirty="0"/>
          </a:p>
        </p:txBody>
      </p:sp>
      <p:sp>
        <p:nvSpPr>
          <p:cNvPr id="120" name="Shape 118">
            <a:hlinkClick r:id="rId7" tooltip="同场" action="ppaction://hlinksldjump"/>
          </p:cNvPr>
          <p:cNvSpPr/>
          <p:nvPr/>
        </p:nvSpPr>
        <p:spPr>
          <a:xfrm>
            <a:off x="5470926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52612" y="5937973"/>
            <a:ext cx="49237" cy="49237"/>
          </a:xfrm>
          <a:prstGeom prst="ellipse">
            <a:avLst/>
          </a:prstGeom>
          <a:solidFill>
            <a:srgbClr val="FF845E"/>
          </a:solidFill>
          <a:ln w="7034">
            <a:solidFill>
              <a:srgbClr val="FF845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343122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</a:t>
            </a:r>
            <a:endParaRPr lang="en-US" sz="775" dirty="0"/>
          </a:p>
        </p:txBody>
      </p:sp>
      <p:sp>
        <p:nvSpPr>
          <p:cNvPr id="123" name="Shape 121">
            <a:hlinkClick r:id="rId8" tooltip="档案" action="ppaction://hlinksldjump"/>
          </p:cNvPr>
          <p:cNvSpPr/>
          <p:nvPr/>
        </p:nvSpPr>
        <p:spPr>
          <a:xfrm>
            <a:off x="6343122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26" name="Text 124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私人档案为默认</a:t>
            </a:r>
            <a:endParaRPr lang="en-US" sz="1600" dirty="0"/>
          </a:p>
        </p:txBody>
      </p:sp>
      <p:sp>
        <p:nvSpPr>
          <p:cNvPr id="127" name="Text 125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公开一张卡和保存个人历史，是两套独立权限。</a:t>
            </a:r>
            <a:endParaRPr lang="en-US" sz="1240" dirty="0"/>
          </a:p>
        </p:txBody>
      </p:sp>
      <p:sp>
        <p:nvSpPr>
          <p:cNvPr id="128" name="Shape 126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30" name="Text 128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不急着做人格</a:t>
            </a:r>
            <a:endParaRPr lang="en-US" sz="1600" dirty="0"/>
          </a:p>
        </p:txBody>
      </p:sp>
      <p:sp>
        <p:nvSpPr>
          <p:cNvPr id="131" name="Text 129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先把记录保存、恢复、修改与删除做好。</a:t>
            </a:r>
            <a:endParaRPr lang="en-US" sz="1240" dirty="0"/>
          </a:p>
        </p:txBody>
      </p:sp>
      <p:sp>
        <p:nvSpPr>
          <p:cNvPr id="132" name="Shape 130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34" name="Text 132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真实留存待验证</a:t>
            </a:r>
            <a:endParaRPr lang="en-US" sz="1600" dirty="0"/>
          </a:p>
        </p:txBody>
      </p:sp>
      <p:sp>
        <p:nvSpPr>
          <p:cNvPr id="135" name="Text 133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跨场次积累是设想；不能据此声称用户已经持续使用。</a:t>
            </a:r>
            <a:endParaRPr lang="en-US" sz="1240" dirty="0"/>
          </a:p>
        </p:txBody>
      </p:sp>
      <p:sp>
        <p:nvSpPr>
          <p:cNvPr id="136" name="Text 134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39" name="Text 137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 / 44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  /  S10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保存、展示、交流，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由我选择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“这张卡可以属于我自己，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也可以成为分享的开始。”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为这张卡设置分享 → S05；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 → S09。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私人记录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612796" y="1218262"/>
            <a:ext cx="900332" cy="211015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7966" y="1239364"/>
            <a:ext cx="829994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仅本人可见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823812" y="1640293"/>
            <a:ext cx="1983545" cy="2567354"/>
          </a:xfrm>
          <a:prstGeom prst="roundRect">
            <a:avLst>
              <a:gd name="adj" fmla="val 2482"/>
            </a:avLst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9319" y="1724699"/>
            <a:ext cx="1772529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b="1" dirty="0">
                <a:solidFill>
                  <a:srgbClr val="171B2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 /  LIVE CARD</a:t>
            </a:r>
            <a:endParaRPr lang="en-US" sz="554" dirty="0"/>
          </a:p>
        </p:txBody>
      </p:sp>
      <p:sp>
        <p:nvSpPr>
          <p:cNvPr id="28" name="Shape 26"/>
          <p:cNvSpPr/>
          <p:nvPr/>
        </p:nvSpPr>
        <p:spPr>
          <a:xfrm>
            <a:off x="4929319" y="1935714"/>
            <a:ext cx="1772529" cy="914"/>
          </a:xfrm>
          <a:prstGeom prst="line">
            <a:avLst/>
          </a:prstGeom>
          <a:noFill/>
          <a:ln w="4924">
            <a:solidFill>
              <a:srgbClr val="BBB7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22286" y="2034188"/>
            <a:ext cx="1786597" cy="1232330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65213" y="2157421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65213" y="2235058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65213" y="2312695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65213" y="2390332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65213" y="2467968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65213" y="2545605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65213" y="2623242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65213" y="2700879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65213" y="2778516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65213" y="2856152"/>
            <a:ext cx="1465009" cy="197173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26254" y="2132775"/>
            <a:ext cx="732505" cy="732505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9852" y="2182068"/>
            <a:ext cx="142928" cy="677781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11615" y="3143285"/>
            <a:ext cx="108982" cy="12323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86702" y="3013891"/>
            <a:ext cx="108982" cy="25262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61788" y="3050860"/>
            <a:ext cx="108982" cy="21565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36875" y="3087830"/>
            <a:ext cx="108982" cy="17868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11961" y="3124800"/>
            <a:ext cx="108982" cy="14171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87048" y="2995406"/>
            <a:ext cx="108982" cy="27111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62134" y="3032375"/>
            <a:ext cx="108982" cy="23414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37221" y="3069345"/>
            <a:ext cx="108982" cy="19717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2307" y="3106315"/>
            <a:ext cx="108982" cy="16020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7394" y="3143285"/>
            <a:ext cx="108982" cy="12323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65213" y="2292978"/>
            <a:ext cx="1286350" cy="71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2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3028" dirty="0"/>
          </a:p>
          <a:p>
            <a:pPr indent="0" marL="0">
              <a:buNone/>
            </a:pPr>
            <a:r>
              <a:rPr lang="en-US" sz="302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3028" dirty="0"/>
          </a:p>
        </p:txBody>
      </p:sp>
      <p:sp>
        <p:nvSpPr>
          <p:cNvPr id="53" name="Text 51"/>
          <p:cNvSpPr/>
          <p:nvPr/>
        </p:nvSpPr>
        <p:spPr>
          <a:xfrm>
            <a:off x="4943387" y="3257726"/>
            <a:ext cx="1744394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5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1495" dirty="0"/>
          </a:p>
        </p:txBody>
      </p:sp>
      <p:sp>
        <p:nvSpPr>
          <p:cNvPr id="54" name="Text 52"/>
          <p:cNvSpPr/>
          <p:nvPr/>
        </p:nvSpPr>
        <p:spPr>
          <a:xfrm>
            <a:off x="4943387" y="3514461"/>
            <a:ext cx="1744394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6564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2026.09.12  /  广州</a:t>
            </a:r>
            <a:endParaRPr lang="en-US" sz="665" dirty="0"/>
          </a:p>
        </p:txBody>
      </p:sp>
      <p:sp>
        <p:nvSpPr>
          <p:cNvPr id="55" name="Text 53"/>
          <p:cNvSpPr/>
          <p:nvPr/>
        </p:nvSpPr>
        <p:spPr>
          <a:xfrm>
            <a:off x="4943387" y="3745523"/>
            <a:ext cx="174439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4943387" y="3925238"/>
            <a:ext cx="1744394" cy="914"/>
          </a:xfrm>
          <a:prstGeom prst="line">
            <a:avLst/>
          </a:prstGeom>
          <a:noFill/>
          <a:ln w="4924">
            <a:solidFill>
              <a:srgbClr val="B8B5A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43387" y="4002258"/>
            <a:ext cx="1744394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4" dirty="0">
                <a:solidFill>
                  <a:srgbClr val="6261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  ·  今晚最佳：返场</a:t>
            </a:r>
            <a:endParaRPr lang="en-US" sz="554" dirty="0"/>
          </a:p>
        </p:txBody>
      </p:sp>
      <p:sp>
        <p:nvSpPr>
          <p:cNvPr id="58" name="Shape 56"/>
          <p:cNvSpPr/>
          <p:nvPr/>
        </p:nvSpPr>
        <p:spPr>
          <a:xfrm>
            <a:off x="4612796" y="4397561"/>
            <a:ext cx="2405575" cy="731520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9406" y="4503068"/>
            <a:ext cx="2173458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保存的是经历，不是社交压力</a:t>
            </a:r>
            <a:endParaRPr lang="en-US" sz="1052" dirty="0"/>
          </a:p>
        </p:txBody>
      </p:sp>
      <p:sp>
        <p:nvSpPr>
          <p:cNvPr id="60" name="Text 58"/>
          <p:cNvSpPr/>
          <p:nvPr/>
        </p:nvSpPr>
        <p:spPr>
          <a:xfrm>
            <a:off x="4739406" y="4805524"/>
            <a:ext cx="2173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我上传的照片  3 张</a:t>
            </a:r>
            <a:endParaRPr lang="en-US" sz="775" dirty="0"/>
          </a:p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我收到的现场卡  1 张（示例）</a:t>
            </a:r>
            <a:endParaRPr lang="en-US" sz="775" dirty="0"/>
          </a:p>
        </p:txBody>
      </p:sp>
      <p:sp>
        <p:nvSpPr>
          <p:cNvPr id="61" name="Shape 59"/>
          <p:cNvSpPr/>
          <p:nvPr/>
        </p:nvSpPr>
        <p:spPr>
          <a:xfrm>
            <a:off x="4612796" y="5347130"/>
            <a:ext cx="2405575" cy="344658"/>
          </a:xfrm>
          <a:prstGeom prst="roundRect">
            <a:avLst>
              <a:gd name="adj" fmla="val 2449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76101" y="5368231"/>
            <a:ext cx="2278966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为这张卡设置分享</a:t>
            </a:r>
            <a:endParaRPr lang="en-US" sz="997" dirty="0"/>
          </a:p>
        </p:txBody>
      </p:sp>
      <p:sp>
        <p:nvSpPr>
          <p:cNvPr id="63" name="Shape 61">
            <a:hlinkClick r:id="rId4" tooltip="为这张卡设置分享" action="ppaction://hlinksldjump"/>
          </p:cNvPr>
          <p:cNvSpPr/>
          <p:nvPr/>
        </p:nvSpPr>
        <p:spPr>
          <a:xfrm>
            <a:off x="4612796" y="5347130"/>
            <a:ext cx="2405575" cy="344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2796" y="5797296"/>
            <a:ext cx="2405575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9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支持编辑 / 删除 / 导出：正式版本验收项</a:t>
            </a:r>
            <a:endParaRPr lang="en-US" sz="609" dirty="0"/>
          </a:p>
        </p:txBody>
      </p:sp>
      <p:sp>
        <p:nvSpPr>
          <p:cNvPr id="65" name="Shape 63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67" name="Text 65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清楚说明素材来源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区分自己上传与交换收到的内容。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71" name="Text 69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记录和房间分离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临时同场空间关闭，不应误删用户获准保存的私人记录。</a:t>
            </a:r>
            <a:endParaRPr lang="en-US" sz="1240" dirty="0"/>
          </a:p>
        </p:txBody>
      </p:sp>
      <p:sp>
        <p:nvSpPr>
          <p:cNvPr id="73" name="Shape 71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75" name="Text 73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停止线明确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首版不做蓝牙雷达、全场自动匹配或完整私聊。</a:t>
            </a:r>
            <a:endParaRPr lang="en-US" sz="1240" dirty="0"/>
          </a:p>
        </p:txBody>
      </p:sp>
      <p:sp>
        <p:nvSpPr>
          <p:cNvPr id="77" name="Text 75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80" name="Text 78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 / 44</a:t>
            </a:r>
            <a:endParaRPr lang="en-US" sz="8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SPACE / EDGE STATES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Space的关键异常：失败也能留下作品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视觉好看只是开始；正式Demo要让失败路径同样清楚。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59152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素材问题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935224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上传失败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04088" y="3849624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保留本次选择与编辑内容。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允许重试、换图或稍后补传。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不把处理失败误说成已成功上传。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4632" y="2139696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2359152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没有同场内容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5800" y="2935224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一个人也能用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495800" y="3849624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用自己的照片完成卡片。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不伪造在线人数和回应。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不拿邀请好友当保存门槛。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6344" y="2139696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7512" y="2359152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AI或权限问题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87512" y="2935224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建议不是阻断项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287512" y="3849624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AI失败仍能套用固定模板。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未获准的他人照片不可公开导出。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不因拒绝社交限制私人功能。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9496" y="5669280"/>
            <a:ext cx="11119104" cy="393192"/>
          </a:xfrm>
          <a:prstGeom prst="rect">
            <a:avLst/>
          </a:prstGeom>
          <a:solidFill>
            <a:srgbClr val="432923"/>
          </a:solidFill>
          <a:ln w="8255">
            <a:solidFill>
              <a:srgbClr val="4329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715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P0验收：实际成卡与导出、删除与权限、多设备交换状态，优先于新增模板。</a:t>
            </a:r>
            <a:endParaRPr lang="en-US" sz="14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SPACE / AWARD CASE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Space怎样才有争奖竞争力？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不能只证明“模板很漂亮”，要证明它更好地组织了音乐现场经历。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95728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要证明的变化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971800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普通照片 → 音乐作品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04088" y="3886200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让歌曲、返场和不同视角参与结构；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不仅把活动标题贴在照片上。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4632" y="2176272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2395728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最有力的证据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5800" y="2971800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真实素材，真实保存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495800" y="3886200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找实际看演出的用户，比较普通模板与Space；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观察主动保存、修改、分享与下一场使用意愿。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6344" y="2176272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7512" y="2395728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被记住的一刻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87512" y="2971800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我的一晚被补全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287512" y="3886200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一人上传 → 一人回应 → 双向交换 → 私人档案；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整条链路真实工作。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77900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参赛风险：若评委只记住“又一个AI海报工具”，需要重做音乐专属价值，而不只是加特效。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 / MUSIC 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Map：让找歌变成自己选择的路线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每一步能解释，每一步可以听；挑战和分享必须回到音乐发现。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99592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不只看关系。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沿着作品，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走到下一首。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76072" y="4882896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核心体验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艺人 → 关系作品 → 试听 → 新艺人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扩展玩法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起终点挑战 → 路线卡 → 朋友接力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4924044" y="2052828"/>
            <a:ext cx="1819656" cy="3842121"/>
          </a:xfrm>
          <a:prstGeom prst="roundRect">
            <a:avLst>
              <a:gd name="adj" fmla="val 10050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2093976"/>
            <a:ext cx="1737360" cy="3759825"/>
          </a:xfrm>
          <a:prstGeom prst="roundRect">
            <a:avLst>
              <a:gd name="adj" fmla="val 8421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3197" y="2156343"/>
            <a:ext cx="338562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56" dirty="0"/>
          </a:p>
        </p:txBody>
      </p:sp>
      <p:sp>
        <p:nvSpPr>
          <p:cNvPr id="14" name="Shape 12"/>
          <p:cNvSpPr/>
          <p:nvPr/>
        </p:nvSpPr>
        <p:spPr>
          <a:xfrm>
            <a:off x="5660136" y="2134069"/>
            <a:ext cx="347472" cy="8909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8444" y="2209800"/>
            <a:ext cx="13364" cy="2672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0718" y="2196436"/>
            <a:ext cx="13364" cy="4009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2992" y="2183071"/>
            <a:ext cx="13364" cy="5345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5266" y="2169707"/>
            <a:ext cx="13364" cy="6682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7633" y="2174162"/>
            <a:ext cx="98005" cy="4900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6542" y="2183071"/>
            <a:ext cx="66822" cy="3118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0092" y="2187526"/>
            <a:ext cx="8910" cy="2227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63197" y="2330079"/>
            <a:ext cx="115824" cy="15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087" dirty="0"/>
          </a:p>
        </p:txBody>
      </p:sp>
      <p:sp>
        <p:nvSpPr>
          <p:cNvPr id="23" name="Text 21"/>
          <p:cNvSpPr/>
          <p:nvPr/>
        </p:nvSpPr>
        <p:spPr>
          <a:xfrm>
            <a:off x="5241388" y="2338988"/>
            <a:ext cx="1176059" cy="13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自由漫游</a:t>
            </a:r>
            <a:endParaRPr lang="en-US" sz="737" dirty="0"/>
          </a:p>
        </p:txBody>
      </p:sp>
      <p:sp>
        <p:nvSpPr>
          <p:cNvPr id="24" name="Text 22"/>
          <p:cNvSpPr/>
          <p:nvPr/>
        </p:nvSpPr>
        <p:spPr>
          <a:xfrm>
            <a:off x="5067652" y="2534998"/>
            <a:ext cx="1532441" cy="12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从熟悉的名字，走向下一首。</a:t>
            </a:r>
            <a:endParaRPr lang="en-US" sz="491" dirty="0"/>
          </a:p>
        </p:txBody>
      </p:sp>
      <p:sp>
        <p:nvSpPr>
          <p:cNvPr id="25" name="Shape 23"/>
          <p:cNvSpPr/>
          <p:nvPr/>
        </p:nvSpPr>
        <p:spPr>
          <a:xfrm>
            <a:off x="5072106" y="2726553"/>
            <a:ext cx="445477" cy="133643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4380" y="2739918"/>
            <a:ext cx="400929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作品合作</a:t>
            </a:r>
            <a:endParaRPr lang="en-US" sz="456" dirty="0"/>
          </a:p>
        </p:txBody>
      </p:sp>
      <p:sp>
        <p:nvSpPr>
          <p:cNvPr id="27" name="Shape 25"/>
          <p:cNvSpPr/>
          <p:nvPr/>
        </p:nvSpPr>
        <p:spPr>
          <a:xfrm>
            <a:off x="5571041" y="2726553"/>
            <a:ext cx="316289" cy="133643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3314" y="2739918"/>
            <a:ext cx="271741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456" dirty="0"/>
          </a:p>
        </p:txBody>
      </p:sp>
      <p:sp>
        <p:nvSpPr>
          <p:cNvPr id="29" name="Shape 27"/>
          <p:cNvSpPr/>
          <p:nvPr/>
        </p:nvSpPr>
        <p:spPr>
          <a:xfrm>
            <a:off x="5940786" y="2726553"/>
            <a:ext cx="316289" cy="133643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3060" y="2739918"/>
            <a:ext cx="271741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456" dirty="0"/>
          </a:p>
        </p:txBody>
      </p:sp>
      <p:sp>
        <p:nvSpPr>
          <p:cNvPr id="31" name="Shape 29"/>
          <p:cNvSpPr/>
          <p:nvPr/>
        </p:nvSpPr>
        <p:spPr>
          <a:xfrm>
            <a:off x="5116654" y="2958201"/>
            <a:ext cx="1443345" cy="1576988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77026" y="3082935"/>
            <a:ext cx="1122602" cy="1331976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37398" y="3207668"/>
            <a:ext cx="801858" cy="1086964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2106" y="2869106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70576" y="3265580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046" y="3662055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67515" y="4058529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5985" y="4455004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4454" y="3033932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43847" y="3430407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42317" y="3826881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0786" y="4223356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39256" y="4619830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726" y="3198759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17119" y="3595233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15588" y="3991708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14058" y="4388182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2527" y="2967111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10997" y="3363585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90390" y="3760060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88860" y="4156534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87329" y="4553009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85799" y="3131937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84268" y="3528412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63662" y="3924886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62131" y="4321361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60601" y="2900289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59070" y="3296764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57540" y="3693238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6933" y="4089713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35402" y="4486187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33872" y="3065116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32342" y="3461590"/>
            <a:ext cx="6682" cy="6682"/>
          </a:xfrm>
          <a:prstGeom prst="ellipse">
            <a:avLst/>
          </a:prstGeom>
          <a:solidFill>
            <a:srgbClr val="426169"/>
          </a:solidFill>
          <a:ln w="4455">
            <a:solidFill>
              <a:srgbClr val="4261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5833872" y="3163121"/>
            <a:ext cx="441022" cy="516753"/>
          </a:xfrm>
          <a:prstGeom prst="line">
            <a:avLst/>
          </a:prstGeom>
          <a:noFill/>
          <a:ln w="4455">
            <a:solidFill>
              <a:srgbClr val="72E4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5357212" y="3065116"/>
            <a:ext cx="476660" cy="614758"/>
          </a:xfrm>
          <a:prstGeom prst="line">
            <a:avLst/>
          </a:prstGeom>
          <a:noFill/>
          <a:ln w="4455">
            <a:solidFill>
              <a:srgbClr val="BBA7F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33872" y="3679874"/>
            <a:ext cx="610303" cy="138098"/>
          </a:xfrm>
          <a:prstGeom prst="line">
            <a:avLst/>
          </a:prstGeom>
          <a:noFill/>
          <a:ln w="4455">
            <a:solidFill>
              <a:srgbClr val="727B8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5241388" y="3679874"/>
            <a:ext cx="592484" cy="169281"/>
          </a:xfrm>
          <a:prstGeom prst="line">
            <a:avLst/>
          </a:prstGeom>
          <a:noFill/>
          <a:ln w="4455">
            <a:solidFill>
              <a:srgbClr val="72E4D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5455217" y="3679874"/>
            <a:ext cx="378655" cy="708308"/>
          </a:xfrm>
          <a:prstGeom prst="line">
            <a:avLst/>
          </a:prstGeom>
          <a:noFill/>
          <a:ln w="4455">
            <a:solidFill>
              <a:srgbClr val="BBA7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33872" y="3679874"/>
            <a:ext cx="365291" cy="721673"/>
          </a:xfrm>
          <a:prstGeom prst="line">
            <a:avLst/>
          </a:prstGeom>
          <a:noFill/>
          <a:ln w="4455">
            <a:solidFill>
              <a:srgbClr val="727B8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76889" y="3065116"/>
            <a:ext cx="196010" cy="196010"/>
          </a:xfrm>
          <a:prstGeom prst="ellipse">
            <a:avLst/>
          </a:prstGeom>
          <a:solidFill>
            <a:srgbClr val="16312F"/>
          </a:solidFill>
          <a:ln w="4455">
            <a:solidFill>
              <a:srgbClr val="458A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99163" y="3096299"/>
            <a:ext cx="151462" cy="12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</a:t>
            </a:r>
            <a:endParaRPr lang="en-US" sz="666" dirty="0"/>
          </a:p>
        </p:txBody>
      </p:sp>
      <p:sp>
        <p:nvSpPr>
          <p:cNvPr id="72" name="Text 70"/>
          <p:cNvSpPr/>
          <p:nvPr/>
        </p:nvSpPr>
        <p:spPr>
          <a:xfrm>
            <a:off x="6069975" y="3301218"/>
            <a:ext cx="40983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491" dirty="0"/>
          </a:p>
        </p:txBody>
      </p:sp>
      <p:sp>
        <p:nvSpPr>
          <p:cNvPr id="73" name="Shape 71"/>
          <p:cNvSpPr/>
          <p:nvPr/>
        </p:nvSpPr>
        <p:spPr>
          <a:xfrm>
            <a:off x="5259207" y="2967111"/>
            <a:ext cx="196010" cy="196010"/>
          </a:xfrm>
          <a:prstGeom prst="ellipse">
            <a:avLst/>
          </a:prstGeom>
          <a:solidFill>
            <a:srgbClr val="302844"/>
          </a:solidFill>
          <a:ln w="4455">
            <a:solidFill>
              <a:srgbClr val="BBA7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81481" y="2998294"/>
            <a:ext cx="151462" cy="12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</a:t>
            </a:r>
            <a:endParaRPr lang="en-US" sz="666" dirty="0"/>
          </a:p>
        </p:txBody>
      </p:sp>
      <p:sp>
        <p:nvSpPr>
          <p:cNvPr id="75" name="Text 73"/>
          <p:cNvSpPr/>
          <p:nvPr/>
        </p:nvSpPr>
        <p:spPr>
          <a:xfrm>
            <a:off x="5152292" y="3203214"/>
            <a:ext cx="40983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青屿</a:t>
            </a:r>
            <a:endParaRPr lang="en-US" sz="491" dirty="0"/>
          </a:p>
        </p:txBody>
      </p:sp>
      <p:sp>
        <p:nvSpPr>
          <p:cNvPr id="76" name="Shape 74"/>
          <p:cNvSpPr/>
          <p:nvPr/>
        </p:nvSpPr>
        <p:spPr>
          <a:xfrm>
            <a:off x="6346170" y="3719967"/>
            <a:ext cx="196010" cy="196010"/>
          </a:xfrm>
          <a:prstGeom prst="ellipse">
            <a:avLst/>
          </a:prstGeom>
          <a:solidFill>
            <a:srgbClr val="16312F"/>
          </a:solidFill>
          <a:ln w="4455">
            <a:solidFill>
              <a:srgbClr val="458A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68444" y="3751150"/>
            <a:ext cx="151462" cy="12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</a:t>
            </a:r>
            <a:endParaRPr lang="en-US" sz="666" dirty="0"/>
          </a:p>
        </p:txBody>
      </p:sp>
      <p:sp>
        <p:nvSpPr>
          <p:cNvPr id="78" name="Text 76"/>
          <p:cNvSpPr/>
          <p:nvPr/>
        </p:nvSpPr>
        <p:spPr>
          <a:xfrm>
            <a:off x="6239256" y="3956070"/>
            <a:ext cx="40983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南汐</a:t>
            </a:r>
            <a:endParaRPr lang="en-US" sz="491" dirty="0"/>
          </a:p>
        </p:txBody>
      </p:sp>
      <p:sp>
        <p:nvSpPr>
          <p:cNvPr id="79" name="Shape 77"/>
          <p:cNvSpPr/>
          <p:nvPr/>
        </p:nvSpPr>
        <p:spPr>
          <a:xfrm>
            <a:off x="5143383" y="3751150"/>
            <a:ext cx="196010" cy="196010"/>
          </a:xfrm>
          <a:prstGeom prst="ellipse">
            <a:avLst/>
          </a:prstGeom>
          <a:solidFill>
            <a:srgbClr val="16312F"/>
          </a:solidFill>
          <a:ln w="4455">
            <a:solidFill>
              <a:srgbClr val="458A8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65657" y="3782334"/>
            <a:ext cx="151462" cy="12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</a:t>
            </a:r>
            <a:endParaRPr lang="en-US" sz="666" dirty="0"/>
          </a:p>
        </p:txBody>
      </p:sp>
      <p:sp>
        <p:nvSpPr>
          <p:cNvPr id="81" name="Text 79"/>
          <p:cNvSpPr/>
          <p:nvPr/>
        </p:nvSpPr>
        <p:spPr>
          <a:xfrm>
            <a:off x="5036468" y="3987253"/>
            <a:ext cx="40983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白河</a:t>
            </a:r>
            <a:endParaRPr lang="en-US" sz="491" dirty="0"/>
          </a:p>
        </p:txBody>
      </p:sp>
      <p:sp>
        <p:nvSpPr>
          <p:cNvPr id="82" name="Shape 80"/>
          <p:cNvSpPr/>
          <p:nvPr/>
        </p:nvSpPr>
        <p:spPr>
          <a:xfrm>
            <a:off x="5357212" y="4290177"/>
            <a:ext cx="196010" cy="196010"/>
          </a:xfrm>
          <a:prstGeom prst="ellipse">
            <a:avLst/>
          </a:prstGeom>
          <a:solidFill>
            <a:srgbClr val="302844"/>
          </a:solidFill>
          <a:ln w="4455">
            <a:solidFill>
              <a:srgbClr val="BBA7F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79486" y="4321361"/>
            <a:ext cx="151462" cy="12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</a:t>
            </a:r>
            <a:endParaRPr lang="en-US" sz="666" dirty="0"/>
          </a:p>
        </p:txBody>
      </p:sp>
      <p:sp>
        <p:nvSpPr>
          <p:cNvPr id="84" name="Text 82"/>
          <p:cNvSpPr/>
          <p:nvPr/>
        </p:nvSpPr>
        <p:spPr>
          <a:xfrm>
            <a:off x="5250297" y="4526280"/>
            <a:ext cx="40983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漫游者</a:t>
            </a:r>
            <a:endParaRPr lang="en-US" sz="491" dirty="0"/>
          </a:p>
        </p:txBody>
      </p:sp>
      <p:sp>
        <p:nvSpPr>
          <p:cNvPr id="85" name="Shape 83"/>
          <p:cNvSpPr/>
          <p:nvPr/>
        </p:nvSpPr>
        <p:spPr>
          <a:xfrm>
            <a:off x="6101158" y="4303542"/>
            <a:ext cx="196010" cy="196010"/>
          </a:xfrm>
          <a:prstGeom prst="ellipse">
            <a:avLst/>
          </a:prstGeom>
          <a:solidFill>
            <a:srgbClr val="16312F"/>
          </a:solidFill>
          <a:ln w="4455">
            <a:solidFill>
              <a:srgbClr val="458A8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23432" y="4334725"/>
            <a:ext cx="151462" cy="12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</a:t>
            </a:r>
            <a:endParaRPr lang="en-US" sz="666" dirty="0"/>
          </a:p>
        </p:txBody>
      </p:sp>
      <p:sp>
        <p:nvSpPr>
          <p:cNvPr id="87" name="Text 85"/>
          <p:cNvSpPr/>
          <p:nvPr/>
        </p:nvSpPr>
        <p:spPr>
          <a:xfrm>
            <a:off x="5994244" y="4539644"/>
            <a:ext cx="40983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霓虹列车</a:t>
            </a:r>
            <a:endParaRPr lang="en-US" sz="491" dirty="0"/>
          </a:p>
        </p:txBody>
      </p:sp>
      <p:sp>
        <p:nvSpPr>
          <p:cNvPr id="88" name="Shape 86"/>
          <p:cNvSpPr/>
          <p:nvPr/>
        </p:nvSpPr>
        <p:spPr>
          <a:xfrm>
            <a:off x="5597769" y="3443771"/>
            <a:ext cx="472206" cy="472206"/>
          </a:xfrm>
          <a:prstGeom prst="ellipse">
            <a:avLst/>
          </a:prstGeom>
          <a:solidFill>
            <a:srgbClr val="102520"/>
          </a:solidFill>
          <a:ln w="5346">
            <a:solidFill>
              <a:srgbClr val="72E4D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42317" y="3488319"/>
            <a:ext cx="383110" cy="383110"/>
          </a:xfrm>
          <a:prstGeom prst="ellipse">
            <a:avLst/>
          </a:prstGeom>
          <a:solidFill>
            <a:srgbClr val="286054"/>
          </a:solidFill>
          <a:ln w="4455">
            <a:solidFill>
              <a:srgbClr val="28605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09138" y="3532866"/>
            <a:ext cx="249467" cy="271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</a:t>
            </a:r>
            <a:endParaRPr lang="en-US" sz="1368" dirty="0"/>
          </a:p>
        </p:txBody>
      </p:sp>
      <p:sp>
        <p:nvSpPr>
          <p:cNvPr id="91" name="Text 89"/>
          <p:cNvSpPr/>
          <p:nvPr/>
        </p:nvSpPr>
        <p:spPr>
          <a:xfrm>
            <a:off x="5579950" y="3960524"/>
            <a:ext cx="507844" cy="1470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807" dirty="0"/>
          </a:p>
        </p:txBody>
      </p:sp>
      <p:sp>
        <p:nvSpPr>
          <p:cNvPr id="92" name="Shape 90"/>
          <p:cNvSpPr/>
          <p:nvPr/>
        </p:nvSpPr>
        <p:spPr>
          <a:xfrm>
            <a:off x="6012063" y="3368040"/>
            <a:ext cx="249467" cy="133643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34337" y="3381404"/>
            <a:ext cx="204919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合唱</a:t>
            </a:r>
            <a:endParaRPr lang="en-US" sz="456" dirty="0"/>
          </a:p>
        </p:txBody>
      </p:sp>
      <p:sp>
        <p:nvSpPr>
          <p:cNvPr id="94" name="Text 92"/>
          <p:cNvSpPr/>
          <p:nvPr/>
        </p:nvSpPr>
        <p:spPr>
          <a:xfrm>
            <a:off x="5317119" y="3372495"/>
            <a:ext cx="245012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1" dirty="0">
                <a:solidFill>
                  <a:srgbClr val="BBA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421" dirty="0"/>
          </a:p>
        </p:txBody>
      </p:sp>
      <p:sp>
        <p:nvSpPr>
          <p:cNvPr id="95" name="Text 93"/>
          <p:cNvSpPr/>
          <p:nvPr/>
        </p:nvSpPr>
        <p:spPr>
          <a:xfrm>
            <a:off x="6083339" y="4085258"/>
            <a:ext cx="289560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421" dirty="0"/>
          </a:p>
        </p:txBody>
      </p:sp>
      <p:sp>
        <p:nvSpPr>
          <p:cNvPr id="96" name="Text 94"/>
          <p:cNvSpPr/>
          <p:nvPr/>
        </p:nvSpPr>
        <p:spPr>
          <a:xfrm>
            <a:off x="5072106" y="4766838"/>
            <a:ext cx="1523531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 /  你的起点</a:t>
            </a:r>
            <a:endParaRPr lang="en-US" sz="561" dirty="0"/>
          </a:p>
        </p:txBody>
      </p:sp>
      <p:sp>
        <p:nvSpPr>
          <p:cNvPr id="97" name="Shape 95"/>
          <p:cNvSpPr/>
          <p:nvPr/>
        </p:nvSpPr>
        <p:spPr>
          <a:xfrm>
            <a:off x="5072106" y="5002940"/>
            <a:ext cx="1523531" cy="325198"/>
          </a:xfrm>
          <a:prstGeom prst="roundRect">
            <a:avLst>
              <a:gd name="adj" fmla="val 16438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43383" y="5065307"/>
            <a:ext cx="191555" cy="191555"/>
          </a:xfrm>
          <a:prstGeom prst="ellipse">
            <a:avLst/>
          </a:prstGeom>
          <a:solidFill>
            <a:srgbClr val="2B524A"/>
          </a:solidFill>
          <a:ln w="4455">
            <a:solidFill>
              <a:srgbClr val="2B52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74566" y="5087581"/>
            <a:ext cx="129188" cy="133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2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▷</a:t>
            </a:r>
            <a:endParaRPr lang="en-US" sz="842" dirty="0"/>
          </a:p>
        </p:txBody>
      </p:sp>
      <p:sp>
        <p:nvSpPr>
          <p:cNvPr id="100" name="Text 98"/>
          <p:cNvSpPr/>
          <p:nvPr/>
        </p:nvSpPr>
        <p:spPr>
          <a:xfrm>
            <a:off x="5410669" y="5069762"/>
            <a:ext cx="997868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慢速回声</a:t>
            </a:r>
            <a:endParaRPr lang="en-US" sz="596" dirty="0"/>
          </a:p>
        </p:txBody>
      </p:sp>
      <p:sp>
        <p:nvSpPr>
          <p:cNvPr id="101" name="Text 99"/>
          <p:cNvSpPr/>
          <p:nvPr/>
        </p:nvSpPr>
        <p:spPr>
          <a:xfrm>
            <a:off x="5410669" y="5225679"/>
            <a:ext cx="1015687" cy="7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× 回声港  ·  连接作品</a:t>
            </a:r>
            <a:endParaRPr lang="en-US" sz="386" dirty="0"/>
          </a:p>
        </p:txBody>
      </p:sp>
      <p:sp>
        <p:nvSpPr>
          <p:cNvPr id="102" name="Shape 100"/>
          <p:cNvSpPr/>
          <p:nvPr/>
        </p:nvSpPr>
        <p:spPr>
          <a:xfrm>
            <a:off x="4969647" y="5524148"/>
            <a:ext cx="1728450" cy="325198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54287" y="5524148"/>
            <a:ext cx="1559169" cy="914"/>
          </a:xfrm>
          <a:prstGeom prst="line">
            <a:avLst/>
          </a:prstGeom>
          <a:noFill/>
          <a:ln w="3118">
            <a:solidFill>
              <a:srgbClr val="323A4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259207" y="5599879"/>
            <a:ext cx="31183" cy="31183"/>
          </a:xfrm>
          <a:prstGeom prst="ellipse">
            <a:avLst/>
          </a:prstGeom>
          <a:solidFill>
            <a:srgbClr val="72E4D4"/>
          </a:solidFill>
          <a:ln w="4455">
            <a:solidFill>
              <a:srgbClr val="72E4D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63197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</a:t>
            </a:r>
            <a:endParaRPr lang="en-US" sz="491" dirty="0"/>
          </a:p>
        </p:txBody>
      </p:sp>
      <p:sp>
        <p:nvSpPr>
          <p:cNvPr id="106" name="Shape 104"/>
          <p:cNvSpPr/>
          <p:nvPr/>
        </p:nvSpPr>
        <p:spPr>
          <a:xfrm>
            <a:off x="5811598" y="5599879"/>
            <a:ext cx="31183" cy="31183"/>
          </a:xfrm>
          <a:prstGeom prst="ellipse">
            <a:avLst/>
          </a:prstGeom>
          <a:solidFill>
            <a:srgbClr val="626C7C"/>
          </a:solidFill>
          <a:ln w="4455">
            <a:solidFill>
              <a:srgbClr val="626C7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15588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491" dirty="0"/>
          </a:p>
        </p:txBody>
      </p:sp>
      <p:sp>
        <p:nvSpPr>
          <p:cNvPr id="108" name="Shape 106"/>
          <p:cNvSpPr/>
          <p:nvPr/>
        </p:nvSpPr>
        <p:spPr>
          <a:xfrm>
            <a:off x="6363990" y="5599879"/>
            <a:ext cx="31183" cy="31183"/>
          </a:xfrm>
          <a:prstGeom prst="ellipse">
            <a:avLst/>
          </a:prstGeom>
          <a:solidFill>
            <a:srgbClr val="626C7C"/>
          </a:solidFill>
          <a:ln w="4455">
            <a:solidFill>
              <a:srgbClr val="626C7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67980" y="5671156"/>
            <a:ext cx="418748" cy="8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491" dirty="0"/>
          </a:p>
        </p:txBody>
      </p:sp>
      <p:sp>
        <p:nvSpPr>
          <p:cNvPr id="110" name="Shape 108"/>
          <p:cNvSpPr/>
          <p:nvPr/>
        </p:nvSpPr>
        <p:spPr>
          <a:xfrm>
            <a:off x="7319772" y="2052828"/>
            <a:ext cx="1819656" cy="3842121"/>
          </a:xfrm>
          <a:prstGeom prst="roundRect">
            <a:avLst>
              <a:gd name="adj" fmla="val 10050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60920" y="2093976"/>
            <a:ext cx="1737360" cy="3759825"/>
          </a:xfrm>
          <a:prstGeom prst="roundRect">
            <a:avLst>
              <a:gd name="adj" fmla="val 8421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58925" y="2156343"/>
            <a:ext cx="338562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56" dirty="0"/>
          </a:p>
        </p:txBody>
      </p:sp>
      <p:sp>
        <p:nvSpPr>
          <p:cNvPr id="113" name="Shape 111"/>
          <p:cNvSpPr/>
          <p:nvPr/>
        </p:nvSpPr>
        <p:spPr>
          <a:xfrm>
            <a:off x="8055864" y="2134069"/>
            <a:ext cx="347472" cy="8909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764172" y="2209800"/>
            <a:ext cx="13364" cy="2672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786446" y="2196436"/>
            <a:ext cx="13364" cy="4009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808720" y="2183071"/>
            <a:ext cx="13364" cy="5345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830994" y="2169707"/>
            <a:ext cx="13364" cy="6682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893361" y="2174162"/>
            <a:ext cx="98005" cy="4900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902270" y="2183071"/>
            <a:ext cx="66822" cy="3118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995820" y="2187526"/>
            <a:ext cx="8910" cy="2227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58925" y="2330079"/>
            <a:ext cx="115824" cy="15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087" dirty="0"/>
          </a:p>
        </p:txBody>
      </p:sp>
      <p:sp>
        <p:nvSpPr>
          <p:cNvPr id="122" name="Text 120"/>
          <p:cNvSpPr/>
          <p:nvPr/>
        </p:nvSpPr>
        <p:spPr>
          <a:xfrm>
            <a:off x="7637116" y="2338988"/>
            <a:ext cx="1176059" cy="13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这一步，为什么？</a:t>
            </a:r>
            <a:endParaRPr lang="en-US" sz="737" dirty="0"/>
          </a:p>
        </p:txBody>
      </p:sp>
      <p:sp>
        <p:nvSpPr>
          <p:cNvPr id="123" name="Shape 121"/>
          <p:cNvSpPr/>
          <p:nvPr/>
        </p:nvSpPr>
        <p:spPr>
          <a:xfrm>
            <a:off x="7646025" y="2682006"/>
            <a:ext cx="329653" cy="329653"/>
          </a:xfrm>
          <a:prstGeom prst="ellipse">
            <a:avLst/>
          </a:prstGeom>
          <a:solidFill>
            <a:srgbClr val="28564B"/>
          </a:solidFill>
          <a:ln w="4455">
            <a:solidFill>
              <a:srgbClr val="72E4D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487977" y="2682006"/>
            <a:ext cx="329653" cy="329653"/>
          </a:xfrm>
          <a:prstGeom prst="ellipse">
            <a:avLst/>
          </a:prstGeom>
          <a:solidFill>
            <a:srgbClr val="39304D"/>
          </a:solidFill>
          <a:ln w="4455">
            <a:solidFill>
              <a:srgbClr val="BBA7F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708392" y="2757737"/>
            <a:ext cx="204919" cy="16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曜</a:t>
            </a:r>
            <a:endParaRPr lang="en-US" sz="1017" dirty="0"/>
          </a:p>
        </p:txBody>
      </p:sp>
      <p:sp>
        <p:nvSpPr>
          <p:cNvPr id="126" name="Text 124"/>
          <p:cNvSpPr/>
          <p:nvPr/>
        </p:nvSpPr>
        <p:spPr>
          <a:xfrm>
            <a:off x="8550343" y="2757737"/>
            <a:ext cx="204919" cy="16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港</a:t>
            </a:r>
            <a:endParaRPr lang="en-US" sz="1017" dirty="0"/>
          </a:p>
        </p:txBody>
      </p:sp>
      <p:sp>
        <p:nvSpPr>
          <p:cNvPr id="127" name="Shape 125"/>
          <p:cNvSpPr/>
          <p:nvPr/>
        </p:nvSpPr>
        <p:spPr>
          <a:xfrm>
            <a:off x="8042500" y="2846832"/>
            <a:ext cx="374201" cy="914"/>
          </a:xfrm>
          <a:prstGeom prst="line">
            <a:avLst/>
          </a:prstGeom>
          <a:noFill/>
          <a:ln w="7573">
            <a:solidFill>
              <a:srgbClr val="72E4D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548020" y="3096299"/>
            <a:ext cx="512298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631" dirty="0"/>
          </a:p>
        </p:txBody>
      </p:sp>
      <p:sp>
        <p:nvSpPr>
          <p:cNvPr id="129" name="Text 127"/>
          <p:cNvSpPr/>
          <p:nvPr/>
        </p:nvSpPr>
        <p:spPr>
          <a:xfrm>
            <a:off x="8389972" y="3096299"/>
            <a:ext cx="512298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631" dirty="0"/>
          </a:p>
        </p:txBody>
      </p:sp>
      <p:sp>
        <p:nvSpPr>
          <p:cNvPr id="130" name="Shape 128"/>
          <p:cNvSpPr/>
          <p:nvPr/>
        </p:nvSpPr>
        <p:spPr>
          <a:xfrm>
            <a:off x="7467834" y="3390314"/>
            <a:ext cx="1523531" cy="1086964"/>
          </a:xfrm>
          <a:prstGeom prst="roundRect">
            <a:avLst>
              <a:gd name="adj" fmla="val 5328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552475" y="3474954"/>
            <a:ext cx="467751" cy="133643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574749" y="3488319"/>
            <a:ext cx="423203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6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共同演唱</a:t>
            </a:r>
            <a:endParaRPr lang="en-US" sz="456" dirty="0"/>
          </a:p>
        </p:txBody>
      </p:sp>
      <p:sp>
        <p:nvSpPr>
          <p:cNvPr id="133" name="Text 131"/>
          <p:cNvSpPr/>
          <p:nvPr/>
        </p:nvSpPr>
        <p:spPr>
          <a:xfrm>
            <a:off x="7552475" y="3715512"/>
            <a:ext cx="1349795" cy="18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《慢速回声》</a:t>
            </a:r>
            <a:endParaRPr lang="en-US" sz="982" dirty="0"/>
          </a:p>
        </p:txBody>
      </p:sp>
      <p:sp>
        <p:nvSpPr>
          <p:cNvPr id="134" name="Text 132"/>
          <p:cNvSpPr/>
          <p:nvPr/>
        </p:nvSpPr>
        <p:spPr>
          <a:xfrm>
            <a:off x="7552475" y="3982798"/>
            <a:ext cx="1349795" cy="24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9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两位艺人在同一首录音中</a:t>
            </a:r>
            <a:endParaRPr lang="en-US" sz="596" dirty="0"/>
          </a:p>
          <a:p>
            <a:pPr indent="0" marL="0">
              <a:buNone/>
            </a:pPr>
            <a:r>
              <a:rPr lang="en-US" sz="59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有演唱署名。</a:t>
            </a:r>
            <a:endParaRPr lang="en-US" sz="596" dirty="0"/>
          </a:p>
        </p:txBody>
      </p:sp>
      <p:sp>
        <p:nvSpPr>
          <p:cNvPr id="135" name="Text 133"/>
          <p:cNvSpPr/>
          <p:nvPr/>
        </p:nvSpPr>
        <p:spPr>
          <a:xfrm>
            <a:off x="7552475" y="4334725"/>
            <a:ext cx="1349795" cy="80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6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演示关系 D-01 · 不是事实资料</a:t>
            </a:r>
            <a:endParaRPr lang="en-US" sz="386" dirty="0"/>
          </a:p>
        </p:txBody>
      </p:sp>
      <p:sp>
        <p:nvSpPr>
          <p:cNvPr id="136" name="Text 134"/>
          <p:cNvSpPr/>
          <p:nvPr/>
        </p:nvSpPr>
        <p:spPr>
          <a:xfrm>
            <a:off x="7476744" y="4615375"/>
            <a:ext cx="1510167" cy="21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正式版：每条边附作品、角色、来源与审核状态。</a:t>
            </a:r>
            <a:endParaRPr lang="en-US" sz="491" dirty="0"/>
          </a:p>
        </p:txBody>
      </p:sp>
      <p:sp>
        <p:nvSpPr>
          <p:cNvPr id="137" name="Shape 135"/>
          <p:cNvSpPr/>
          <p:nvPr/>
        </p:nvSpPr>
        <p:spPr>
          <a:xfrm>
            <a:off x="7467834" y="4971757"/>
            <a:ext cx="1523531" cy="218284"/>
          </a:xfrm>
          <a:prstGeom prst="roundRect">
            <a:avLst>
              <a:gd name="adj" fmla="val 24490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507927" y="4985121"/>
            <a:ext cx="1443345" cy="191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打开试听状态</a:t>
            </a:r>
            <a:endParaRPr lang="en-US" sz="631" dirty="0"/>
          </a:p>
        </p:txBody>
      </p:sp>
      <p:sp>
        <p:nvSpPr>
          <p:cNvPr id="139" name="Shape 137"/>
          <p:cNvSpPr/>
          <p:nvPr/>
        </p:nvSpPr>
        <p:spPr>
          <a:xfrm>
            <a:off x="7467834" y="5256862"/>
            <a:ext cx="1523531" cy="227193"/>
          </a:xfrm>
          <a:prstGeom prst="roundRect">
            <a:avLst>
              <a:gd name="adj" fmla="val 23529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507927" y="5270226"/>
            <a:ext cx="1443345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沿这首歌，去回声港</a:t>
            </a:r>
            <a:endParaRPr lang="en-US" sz="631" dirty="0"/>
          </a:p>
        </p:txBody>
      </p:sp>
      <p:sp>
        <p:nvSpPr>
          <p:cNvPr id="141" name="Shape 139"/>
          <p:cNvSpPr/>
          <p:nvPr/>
        </p:nvSpPr>
        <p:spPr>
          <a:xfrm>
            <a:off x="9715500" y="2052828"/>
            <a:ext cx="1819656" cy="3842121"/>
          </a:xfrm>
          <a:prstGeom prst="roundRect">
            <a:avLst>
              <a:gd name="adj" fmla="val 10050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756648" y="2093976"/>
            <a:ext cx="1737360" cy="3759825"/>
          </a:xfrm>
          <a:prstGeom prst="roundRect">
            <a:avLst>
              <a:gd name="adj" fmla="val 8421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854653" y="2156343"/>
            <a:ext cx="338562" cy="10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6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56" dirty="0"/>
          </a:p>
        </p:txBody>
      </p:sp>
      <p:sp>
        <p:nvSpPr>
          <p:cNvPr id="144" name="Shape 142"/>
          <p:cNvSpPr/>
          <p:nvPr/>
        </p:nvSpPr>
        <p:spPr>
          <a:xfrm>
            <a:off x="10451592" y="2134069"/>
            <a:ext cx="347472" cy="89095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159900" y="2209800"/>
            <a:ext cx="13364" cy="2672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182174" y="2196436"/>
            <a:ext cx="13364" cy="4009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1204448" y="2183071"/>
            <a:ext cx="13364" cy="5345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226722" y="2169707"/>
            <a:ext cx="13364" cy="6682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289089" y="2174162"/>
            <a:ext cx="98005" cy="4900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1297998" y="2183071"/>
            <a:ext cx="66822" cy="3118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1391548" y="2187526"/>
            <a:ext cx="8910" cy="2227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54653" y="2330079"/>
            <a:ext cx="115824" cy="15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087" dirty="0"/>
          </a:p>
        </p:txBody>
      </p:sp>
      <p:sp>
        <p:nvSpPr>
          <p:cNvPr id="153" name="Text 151"/>
          <p:cNvSpPr/>
          <p:nvPr/>
        </p:nvSpPr>
        <p:spPr>
          <a:xfrm>
            <a:off x="10032844" y="2338988"/>
            <a:ext cx="1176059" cy="13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挑战卡 · 不剧透</a:t>
            </a:r>
            <a:endParaRPr lang="en-US" sz="737" dirty="0"/>
          </a:p>
        </p:txBody>
      </p:sp>
      <p:sp>
        <p:nvSpPr>
          <p:cNvPr id="154" name="Shape 152"/>
          <p:cNvSpPr/>
          <p:nvPr/>
        </p:nvSpPr>
        <p:spPr>
          <a:xfrm>
            <a:off x="9863562" y="2588455"/>
            <a:ext cx="1523531" cy="1960098"/>
          </a:xfrm>
          <a:prstGeom prst="roundRect">
            <a:avLst>
              <a:gd name="adj" fmla="val 2924"/>
            </a:avLst>
          </a:prstGeom>
          <a:solidFill>
            <a:srgbClr val="112624"/>
          </a:solidFill>
          <a:ln w="8255">
            <a:solidFill>
              <a:srgbClr val="28524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943748" y="2668641"/>
            <a:ext cx="136315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1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  /  YOUR ROUTE</a:t>
            </a:r>
            <a:endParaRPr lang="en-US" sz="421" dirty="0"/>
          </a:p>
        </p:txBody>
      </p:sp>
      <p:sp>
        <p:nvSpPr>
          <p:cNvPr id="156" name="Text 154"/>
          <p:cNvSpPr/>
          <p:nvPr/>
        </p:nvSpPr>
        <p:spPr>
          <a:xfrm>
            <a:off x="9943748" y="2851287"/>
            <a:ext cx="1363159" cy="191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你会怎么走？</a:t>
            </a:r>
            <a:endParaRPr lang="en-US" sz="1087" dirty="0"/>
          </a:p>
        </p:txBody>
      </p:sp>
      <p:sp>
        <p:nvSpPr>
          <p:cNvPr id="157" name="Shape 155"/>
          <p:cNvSpPr/>
          <p:nvPr/>
        </p:nvSpPr>
        <p:spPr>
          <a:xfrm>
            <a:off x="10121939" y="3332402"/>
            <a:ext cx="975594" cy="369746"/>
          </a:xfrm>
          <a:prstGeom prst="line">
            <a:avLst/>
          </a:prstGeom>
          <a:noFill/>
          <a:ln w="8019">
            <a:solidFill>
              <a:srgbClr val="72E4D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H="1">
            <a:off x="10211034" y="3702148"/>
            <a:ext cx="886499" cy="383110"/>
          </a:xfrm>
          <a:prstGeom prst="line">
            <a:avLst/>
          </a:prstGeom>
          <a:noFill/>
          <a:ln w="8019">
            <a:solidFill>
              <a:srgbClr val="BBA7F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032844" y="3243306"/>
            <a:ext cx="187100" cy="187100"/>
          </a:xfrm>
          <a:prstGeom prst="ellipse">
            <a:avLst/>
          </a:prstGeom>
          <a:solidFill>
            <a:srgbClr val="285047"/>
          </a:solidFill>
          <a:ln w="5346">
            <a:solidFill>
              <a:srgbClr val="72E4D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921474" y="3466045"/>
            <a:ext cx="414294" cy="12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596" dirty="0"/>
          </a:p>
        </p:txBody>
      </p:sp>
      <p:sp>
        <p:nvSpPr>
          <p:cNvPr id="161" name="Shape 159"/>
          <p:cNvSpPr/>
          <p:nvPr/>
        </p:nvSpPr>
        <p:spPr>
          <a:xfrm>
            <a:off x="11008438" y="3613052"/>
            <a:ext cx="187100" cy="187100"/>
          </a:xfrm>
          <a:prstGeom prst="ellipse">
            <a:avLst/>
          </a:prstGeom>
          <a:solidFill>
            <a:srgbClr val="2E2848"/>
          </a:solidFill>
          <a:ln w="5346">
            <a:solidFill>
              <a:srgbClr val="BBA7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0897069" y="3835791"/>
            <a:ext cx="414294" cy="12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596" dirty="0"/>
          </a:p>
        </p:txBody>
      </p:sp>
      <p:sp>
        <p:nvSpPr>
          <p:cNvPr id="163" name="Shape 161"/>
          <p:cNvSpPr/>
          <p:nvPr/>
        </p:nvSpPr>
        <p:spPr>
          <a:xfrm>
            <a:off x="10121939" y="3996162"/>
            <a:ext cx="187100" cy="187100"/>
          </a:xfrm>
          <a:prstGeom prst="ellipse">
            <a:avLst/>
          </a:prstGeom>
          <a:solidFill>
            <a:srgbClr val="285047"/>
          </a:solidFill>
          <a:ln w="5346">
            <a:solidFill>
              <a:srgbClr val="72E4D4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0010570" y="4218901"/>
            <a:ext cx="414294" cy="12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许岚</a:t>
            </a:r>
            <a:endParaRPr lang="en-US" sz="596" dirty="0"/>
          </a:p>
        </p:txBody>
      </p:sp>
      <p:sp>
        <p:nvSpPr>
          <p:cNvPr id="165" name="Text 163"/>
          <p:cNvSpPr/>
          <p:nvPr/>
        </p:nvSpPr>
        <p:spPr>
          <a:xfrm>
            <a:off x="9943748" y="4263449"/>
            <a:ext cx="1363159" cy="1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步  ·  2 首连接作品</a:t>
            </a:r>
            <a:endParaRPr lang="en-US" sz="596" dirty="0"/>
          </a:p>
        </p:txBody>
      </p:sp>
      <p:sp>
        <p:nvSpPr>
          <p:cNvPr id="166" name="Text 164"/>
          <p:cNvSpPr/>
          <p:nvPr/>
        </p:nvSpPr>
        <p:spPr>
          <a:xfrm>
            <a:off x="9943748" y="4419366"/>
            <a:ext cx="1363159" cy="80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演示路线 · 虚构艺人与作品</a:t>
            </a:r>
            <a:endParaRPr lang="en-US" sz="386" dirty="0"/>
          </a:p>
        </p:txBody>
      </p:sp>
      <p:sp>
        <p:nvSpPr>
          <p:cNvPr id="167" name="Text 165"/>
          <p:cNvSpPr/>
          <p:nvPr/>
        </p:nvSpPr>
        <p:spPr>
          <a:xfrm>
            <a:off x="9863562" y="4664378"/>
            <a:ext cx="1523531" cy="13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分享起终点与规则，不直接公开答案。</a:t>
            </a:r>
            <a:endParaRPr lang="en-US" sz="491" dirty="0"/>
          </a:p>
        </p:txBody>
      </p:sp>
      <p:sp>
        <p:nvSpPr>
          <p:cNvPr id="168" name="Shape 166"/>
          <p:cNvSpPr/>
          <p:nvPr/>
        </p:nvSpPr>
        <p:spPr>
          <a:xfrm>
            <a:off x="9863562" y="4900481"/>
            <a:ext cx="1523531" cy="369746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9934839" y="4962847"/>
            <a:ext cx="1372069" cy="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朋友收到后，可以走同一道题。</a:t>
            </a:r>
            <a:endParaRPr lang="en-US" sz="526" dirty="0"/>
          </a:p>
        </p:txBody>
      </p:sp>
      <p:sp>
        <p:nvSpPr>
          <p:cNvPr id="170" name="Text 168"/>
          <p:cNvSpPr/>
          <p:nvPr/>
        </p:nvSpPr>
        <p:spPr>
          <a:xfrm>
            <a:off x="9934839" y="5123219"/>
            <a:ext cx="1372069" cy="7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1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只分享任务；不公开你的收藏和历史。</a:t>
            </a:r>
            <a:endParaRPr lang="en-US" sz="421" dirty="0"/>
          </a:p>
        </p:txBody>
      </p:sp>
      <p:sp>
        <p:nvSpPr>
          <p:cNvPr id="171" name="Shape 169"/>
          <p:cNvSpPr/>
          <p:nvPr/>
        </p:nvSpPr>
        <p:spPr>
          <a:xfrm>
            <a:off x="9863562" y="5403870"/>
            <a:ext cx="1523531" cy="218284"/>
          </a:xfrm>
          <a:prstGeom prst="roundRect">
            <a:avLst>
              <a:gd name="adj" fmla="val 2449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903655" y="5417234"/>
            <a:ext cx="1443345" cy="191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1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体验朋友视角：开始同题</a:t>
            </a:r>
            <a:endParaRPr lang="en-US" sz="63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M01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从谁出发？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“我有熟悉的歌手，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但不想再只听同一批歌。”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从林曜出发 → M02；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今日路线挑战 → M06。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2796" y="859536"/>
            <a:ext cx="2405575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1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</a:t>
            </a:r>
            <a:endParaRPr lang="en-US" sz="1551" dirty="0"/>
          </a:p>
        </p:txBody>
      </p:sp>
      <p:sp>
        <p:nvSpPr>
          <p:cNvPr id="22" name="Text 20"/>
          <p:cNvSpPr/>
          <p:nvPr/>
        </p:nvSpPr>
        <p:spPr>
          <a:xfrm>
            <a:off x="4612796" y="1401142"/>
            <a:ext cx="2405575" cy="78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下一首，</a:t>
            </a:r>
            <a:endParaRPr lang="en-US" sz="1883" dirty="0"/>
          </a:p>
          <a:p>
            <a:pPr indent="0" marL="0">
              <a:buNone/>
            </a:pPr>
            <a:r>
              <a:rPr lang="en-US" sz="188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你想走着发现。</a:t>
            </a:r>
            <a:endParaRPr lang="en-US" sz="1883" dirty="0"/>
          </a:p>
        </p:txBody>
      </p:sp>
      <p:sp>
        <p:nvSpPr>
          <p:cNvPr id="23" name="Shape 21"/>
          <p:cNvSpPr/>
          <p:nvPr/>
        </p:nvSpPr>
        <p:spPr>
          <a:xfrm>
            <a:off x="4858981" y="2667234"/>
            <a:ext cx="485335" cy="254507"/>
          </a:xfrm>
          <a:prstGeom prst="line">
            <a:avLst/>
          </a:prstGeom>
          <a:noFill/>
          <a:ln w="9847">
            <a:solidFill>
              <a:srgbClr val="72E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3473" y="2561727"/>
            <a:ext cx="218049" cy="218049"/>
          </a:xfrm>
          <a:prstGeom prst="ellipse">
            <a:avLst/>
          </a:prstGeom>
          <a:solidFill>
            <a:srgbClr val="215347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4575" y="2589862"/>
            <a:ext cx="175846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775" dirty="0"/>
          </a:p>
        </p:txBody>
      </p:sp>
      <p:sp>
        <p:nvSpPr>
          <p:cNvPr id="26" name="Shape 24"/>
          <p:cNvSpPr/>
          <p:nvPr/>
        </p:nvSpPr>
        <p:spPr>
          <a:xfrm>
            <a:off x="5344316" y="2921742"/>
            <a:ext cx="485335" cy="20514"/>
          </a:xfrm>
          <a:prstGeom prst="line">
            <a:avLst/>
          </a:prstGeom>
          <a:noFill/>
          <a:ln w="9847">
            <a:solidFill>
              <a:srgbClr val="72E4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8809" y="2816234"/>
            <a:ext cx="218049" cy="218049"/>
          </a:xfrm>
          <a:prstGeom prst="ellipse">
            <a:avLst/>
          </a:prstGeom>
          <a:solidFill>
            <a:srgbClr val="3B304C"/>
          </a:solidFill>
          <a:ln w="8441">
            <a:solidFill>
              <a:srgbClr val="BBA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9910" y="2844370"/>
            <a:ext cx="175846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775" dirty="0"/>
          </a:p>
        </p:txBody>
      </p:sp>
      <p:sp>
        <p:nvSpPr>
          <p:cNvPr id="29" name="Shape 27"/>
          <p:cNvSpPr/>
          <p:nvPr/>
        </p:nvSpPr>
        <p:spPr>
          <a:xfrm flipV="1">
            <a:off x="5829652" y="2709917"/>
            <a:ext cx="485335" cy="232339"/>
          </a:xfrm>
          <a:prstGeom prst="line">
            <a:avLst/>
          </a:prstGeom>
          <a:noFill/>
          <a:ln w="9847">
            <a:solidFill>
              <a:srgbClr val="72E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24144" y="2836749"/>
            <a:ext cx="218049" cy="218049"/>
          </a:xfrm>
          <a:prstGeom prst="ellipse">
            <a:avLst/>
          </a:prstGeom>
          <a:solidFill>
            <a:srgbClr val="215347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5246" y="2864884"/>
            <a:ext cx="175846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775" dirty="0"/>
          </a:p>
        </p:txBody>
      </p:sp>
      <p:sp>
        <p:nvSpPr>
          <p:cNvPr id="32" name="Shape 30"/>
          <p:cNvSpPr/>
          <p:nvPr/>
        </p:nvSpPr>
        <p:spPr>
          <a:xfrm flipV="1">
            <a:off x="6314987" y="2438335"/>
            <a:ext cx="485335" cy="271581"/>
          </a:xfrm>
          <a:prstGeom prst="line">
            <a:avLst/>
          </a:prstGeom>
          <a:noFill/>
          <a:ln w="9847">
            <a:solidFill>
              <a:srgbClr val="72E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9479" y="2604409"/>
            <a:ext cx="218049" cy="218049"/>
          </a:xfrm>
          <a:prstGeom prst="ellipse">
            <a:avLst/>
          </a:prstGeom>
          <a:solidFill>
            <a:srgbClr val="3B304C"/>
          </a:solidFill>
          <a:ln w="8441">
            <a:solidFill>
              <a:srgbClr val="BBA7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0581" y="2632545"/>
            <a:ext cx="175846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775" dirty="0"/>
          </a:p>
        </p:txBody>
      </p:sp>
      <p:sp>
        <p:nvSpPr>
          <p:cNvPr id="35" name="Shape 33"/>
          <p:cNvSpPr/>
          <p:nvPr/>
        </p:nvSpPr>
        <p:spPr>
          <a:xfrm>
            <a:off x="6694815" y="2332828"/>
            <a:ext cx="218049" cy="218049"/>
          </a:xfrm>
          <a:prstGeom prst="ellipse">
            <a:avLst/>
          </a:prstGeom>
          <a:solidFill>
            <a:srgbClr val="215347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5916" y="2360963"/>
            <a:ext cx="175846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775" dirty="0"/>
          </a:p>
        </p:txBody>
      </p:sp>
      <p:sp>
        <p:nvSpPr>
          <p:cNvPr id="37" name="Shape 35"/>
          <p:cNvSpPr/>
          <p:nvPr/>
        </p:nvSpPr>
        <p:spPr>
          <a:xfrm>
            <a:off x="4612796" y="3405788"/>
            <a:ext cx="2405575" cy="372794"/>
          </a:xfrm>
          <a:prstGeom prst="roundRect">
            <a:avLst>
              <a:gd name="adj" fmla="val 22642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6101" y="3426890"/>
            <a:ext cx="2278966" cy="330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从林曜出发探索</a:t>
            </a:r>
            <a:endParaRPr lang="en-US" sz="997" dirty="0"/>
          </a:p>
        </p:txBody>
      </p:sp>
      <p:sp>
        <p:nvSpPr>
          <p:cNvPr id="39" name="Shape 37">
            <a:hlinkClick r:id="rId3" tooltip="从林曜出发探索" action="ppaction://hlinksldjump"/>
          </p:cNvPr>
          <p:cNvSpPr/>
          <p:nvPr/>
        </p:nvSpPr>
        <p:spPr>
          <a:xfrm>
            <a:off x="4612796" y="3405788"/>
            <a:ext cx="2405575" cy="37279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2796" y="4031801"/>
            <a:ext cx="2405575" cy="1076178"/>
          </a:xfrm>
          <a:prstGeom prst="roundRect">
            <a:avLst>
              <a:gd name="adj" fmla="val 784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9406" y="4158410"/>
            <a:ext cx="2152357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今日路线挑战</a:t>
            </a:r>
            <a:endParaRPr lang="en-US" sz="831" dirty="0"/>
          </a:p>
        </p:txBody>
      </p:sp>
      <p:sp>
        <p:nvSpPr>
          <p:cNvPr id="42" name="Text 40"/>
          <p:cNvSpPr/>
          <p:nvPr/>
        </p:nvSpPr>
        <p:spPr>
          <a:xfrm>
            <a:off x="4739406" y="4460865"/>
            <a:ext cx="2145323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5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 →  许岚</a:t>
            </a:r>
            <a:endParaRPr lang="en-US" sz="1385" dirty="0"/>
          </a:p>
        </p:txBody>
      </p:sp>
      <p:sp>
        <p:nvSpPr>
          <p:cNvPr id="43" name="Text 41"/>
          <p:cNvSpPr/>
          <p:nvPr/>
        </p:nvSpPr>
        <p:spPr>
          <a:xfrm>
            <a:off x="4739406" y="4805524"/>
            <a:ext cx="2145323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步以内  /  只走作品合作</a:t>
            </a:r>
            <a:endParaRPr lang="en-US" sz="775" dirty="0"/>
          </a:p>
        </p:txBody>
      </p:sp>
      <p:sp>
        <p:nvSpPr>
          <p:cNvPr id="44" name="Shape 42">
            <a:hlinkClick r:id="rId4" tooltip="开始路线挑战" action="ppaction://hlinksldjump"/>
          </p:cNvPr>
          <p:cNvSpPr/>
          <p:nvPr/>
        </p:nvSpPr>
        <p:spPr>
          <a:xfrm>
            <a:off x="4612796" y="4031801"/>
            <a:ext cx="2405575" cy="107617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2796" y="5431536"/>
            <a:ext cx="2405575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虚构演示图谱 · 未接入真实曲库</a:t>
            </a:r>
            <a:endParaRPr lang="en-US" sz="665" dirty="0"/>
          </a:p>
        </p:txBody>
      </p:sp>
      <p:sp>
        <p:nvSpPr>
          <p:cNvPr id="46" name="Shape 44"/>
          <p:cNvSpPr/>
          <p:nvPr/>
        </p:nvSpPr>
        <p:spPr>
          <a:xfrm>
            <a:off x="4451018" y="5818398"/>
            <a:ext cx="2729132" cy="513471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84661" y="5818398"/>
            <a:ext cx="2461846" cy="914"/>
          </a:xfrm>
          <a:prstGeom prst="line">
            <a:avLst/>
          </a:prstGeom>
          <a:noFill/>
          <a:ln w="4924">
            <a:solidFill>
              <a:srgbClr val="323A4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08218" y="5937973"/>
            <a:ext cx="49237" cy="49237"/>
          </a:xfrm>
          <a:prstGeom prst="ellipse">
            <a:avLst/>
          </a:prstGeom>
          <a:solidFill>
            <a:srgbClr val="72E4D4"/>
          </a:solidFill>
          <a:ln w="7034">
            <a:solidFill>
              <a:srgbClr val="72E4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8729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</a:t>
            </a:r>
            <a:endParaRPr lang="en-US" sz="775" dirty="0"/>
          </a:p>
        </p:txBody>
      </p:sp>
      <p:sp>
        <p:nvSpPr>
          <p:cNvPr id="50" name="Shape 48">
            <a:hlinkClick r:id="rId5" tooltip="探索" action="ppaction://hlinksldjump"/>
          </p:cNvPr>
          <p:cNvSpPr/>
          <p:nvPr/>
        </p:nvSpPr>
        <p:spPr>
          <a:xfrm>
            <a:off x="4598729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80415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70926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775" dirty="0"/>
          </a:p>
        </p:txBody>
      </p:sp>
      <p:sp>
        <p:nvSpPr>
          <p:cNvPr id="53" name="Shape 51">
            <a:hlinkClick r:id="rId6" tooltip="挑战" action="ppaction://hlinksldjump"/>
          </p:cNvPr>
          <p:cNvSpPr/>
          <p:nvPr/>
        </p:nvSpPr>
        <p:spPr>
          <a:xfrm>
            <a:off x="5470926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52612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3122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775" dirty="0"/>
          </a:p>
        </p:txBody>
      </p:sp>
      <p:sp>
        <p:nvSpPr>
          <p:cNvPr id="56" name="Shape 54">
            <a:hlinkClick r:id="rId7" tooltip="发现" action="ppaction://hlinksldjump"/>
          </p:cNvPr>
          <p:cNvSpPr/>
          <p:nvPr/>
        </p:nvSpPr>
        <p:spPr>
          <a:xfrm>
            <a:off x="6343122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默认入口可玩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不把空白搜索框当作唯一引导；给一条可立即开始的路径。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63" name="Text 61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两种动机共存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漫游满足好奇，挑战提供目标，不强迫所有人竞速。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67" name="Text 65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明确覆盖范围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未接入全曲库；正式版仅搜索已收录艺人。</a:t>
            </a:r>
            <a:endParaRPr lang="en-US" sz="1240" dirty="0"/>
          </a:p>
        </p:txBody>
      </p:sp>
      <p:sp>
        <p:nvSpPr>
          <p:cNvPr id="69" name="Text 67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2" name="Text 70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 / 44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M02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不是蜘蛛网，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是一组可选方向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“不用一次看见所有人，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只想知道下一步为什么点。”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点击“合唱” → 关系详情；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点击回声港 → 切换中心；中心 → 试听。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自由漫游</a:t>
            </a:r>
            <a:endParaRPr lang="en-US" sz="1163" dirty="0"/>
          </a:p>
        </p:txBody>
      </p:sp>
      <p:sp>
        <p:nvSpPr>
          <p:cNvPr id="24" name="Text 22"/>
          <p:cNvSpPr/>
          <p:nvPr/>
        </p:nvSpPr>
        <p:spPr>
          <a:xfrm>
            <a:off x="4605762" y="1098687"/>
            <a:ext cx="2419643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从熟悉的名字，走向下一首。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4612796" y="1401142"/>
            <a:ext cx="703385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7966" y="1422244"/>
            <a:ext cx="633046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作品合作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400587" y="1401142"/>
            <a:ext cx="499403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35756" y="1422244"/>
            <a:ext cx="42906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984396" y="1401142"/>
            <a:ext cx="499403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9566" y="1422244"/>
            <a:ext cx="42906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683135" y="1766902"/>
            <a:ext cx="2278966" cy="2489982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6353" y="1963850"/>
            <a:ext cx="1772529" cy="2103120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9572" y="2160798"/>
            <a:ext cx="1266092" cy="1716258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2796" y="1626225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84064" y="225223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5332" y="287825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26599" y="35042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7867" y="41302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9135" y="188647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41861" y="251249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13129" y="313850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4396" y="37645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55664" y="43905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26932" y="214673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99658" y="277274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70926" y="339875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2193" y="402476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3461" y="178097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84729" y="240698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57455" y="303299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28722" y="365900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99990" y="428501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71258" y="204122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42526" y="266723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15252" y="329324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86519" y="391925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7787" y="16754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29055" y="23014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00322" y="292748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73049" y="355349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4316" y="4179511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5584" y="19357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86852" y="25617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5815584" y="2090459"/>
            <a:ext cx="696351" cy="815926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5062962" y="1935714"/>
            <a:ext cx="752622" cy="970671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15584" y="2906385"/>
            <a:ext cx="963637" cy="218049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4880082" y="2906385"/>
            <a:ext cx="935502" cy="267286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5217707" y="2906385"/>
            <a:ext cx="597877" cy="1118382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5584" y="2906385"/>
            <a:ext cx="576775" cy="1139483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57190" y="193571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92359" y="198495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</a:t>
            </a:r>
            <a:endParaRPr lang="en-US" sz="1052" dirty="0"/>
          </a:p>
        </p:txBody>
      </p:sp>
      <p:sp>
        <p:nvSpPr>
          <p:cNvPr id="72" name="Text 70"/>
          <p:cNvSpPr/>
          <p:nvPr/>
        </p:nvSpPr>
        <p:spPr>
          <a:xfrm>
            <a:off x="6188378" y="230850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775" dirty="0"/>
          </a:p>
        </p:txBody>
      </p:sp>
      <p:sp>
        <p:nvSpPr>
          <p:cNvPr id="73" name="Shape 71">
            <a:hlinkClick r:id="rId4" tooltip="前往回声港" action="ppaction://hlinksldjump"/>
          </p:cNvPr>
          <p:cNvSpPr/>
          <p:nvPr/>
        </p:nvSpPr>
        <p:spPr>
          <a:xfrm>
            <a:off x="6279818" y="1858342"/>
            <a:ext cx="464234" cy="67524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08218" y="1780970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43387" y="183020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</a:t>
            </a:r>
            <a:endParaRPr lang="en-US" sz="1052" dirty="0"/>
          </a:p>
        </p:txBody>
      </p:sp>
      <p:sp>
        <p:nvSpPr>
          <p:cNvPr id="76" name="Text 74"/>
          <p:cNvSpPr/>
          <p:nvPr/>
        </p:nvSpPr>
        <p:spPr>
          <a:xfrm>
            <a:off x="4739406" y="215376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青屿</a:t>
            </a:r>
            <a:endParaRPr lang="en-US" sz="775" dirty="0"/>
          </a:p>
        </p:txBody>
      </p:sp>
      <p:sp>
        <p:nvSpPr>
          <p:cNvPr id="77" name="Shape 75"/>
          <p:cNvSpPr/>
          <p:nvPr/>
        </p:nvSpPr>
        <p:spPr>
          <a:xfrm>
            <a:off x="6624476" y="2969690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59646" y="301892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</a:t>
            </a:r>
            <a:endParaRPr lang="en-US" sz="1052" dirty="0"/>
          </a:p>
        </p:txBody>
      </p:sp>
      <p:sp>
        <p:nvSpPr>
          <p:cNvPr id="79" name="Text 77"/>
          <p:cNvSpPr/>
          <p:nvPr/>
        </p:nvSpPr>
        <p:spPr>
          <a:xfrm>
            <a:off x="6455664" y="334248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南汐</a:t>
            </a:r>
            <a:endParaRPr lang="en-US" sz="775" dirty="0"/>
          </a:p>
        </p:txBody>
      </p:sp>
      <p:sp>
        <p:nvSpPr>
          <p:cNvPr id="80" name="Shape 78"/>
          <p:cNvSpPr/>
          <p:nvPr/>
        </p:nvSpPr>
        <p:spPr>
          <a:xfrm>
            <a:off x="4725338" y="3018927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60507" y="3068164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</a:t>
            </a:r>
            <a:endParaRPr lang="en-US" sz="1052" dirty="0"/>
          </a:p>
        </p:txBody>
      </p:sp>
      <p:sp>
        <p:nvSpPr>
          <p:cNvPr id="82" name="Text 80"/>
          <p:cNvSpPr/>
          <p:nvPr/>
        </p:nvSpPr>
        <p:spPr>
          <a:xfrm>
            <a:off x="4556526" y="3391721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白河</a:t>
            </a:r>
            <a:endParaRPr lang="en-US" sz="775" dirty="0"/>
          </a:p>
        </p:txBody>
      </p:sp>
      <p:sp>
        <p:nvSpPr>
          <p:cNvPr id="83" name="Shape 81"/>
          <p:cNvSpPr/>
          <p:nvPr/>
        </p:nvSpPr>
        <p:spPr>
          <a:xfrm>
            <a:off x="5062962" y="3870022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98132" y="3919259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</a:t>
            </a:r>
            <a:endParaRPr lang="en-US" sz="1052" dirty="0"/>
          </a:p>
        </p:txBody>
      </p:sp>
      <p:sp>
        <p:nvSpPr>
          <p:cNvPr id="85" name="Text 83"/>
          <p:cNvSpPr/>
          <p:nvPr/>
        </p:nvSpPr>
        <p:spPr>
          <a:xfrm>
            <a:off x="4894150" y="4242816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漫游者</a:t>
            </a:r>
            <a:endParaRPr lang="en-US" sz="775" dirty="0"/>
          </a:p>
        </p:txBody>
      </p:sp>
      <p:sp>
        <p:nvSpPr>
          <p:cNvPr id="86" name="Shape 84"/>
          <p:cNvSpPr/>
          <p:nvPr/>
        </p:nvSpPr>
        <p:spPr>
          <a:xfrm>
            <a:off x="6237615" y="389112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72784" y="394036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</a:t>
            </a:r>
            <a:endParaRPr lang="en-US" sz="1052" dirty="0"/>
          </a:p>
        </p:txBody>
      </p:sp>
      <p:sp>
        <p:nvSpPr>
          <p:cNvPr id="88" name="Text 86"/>
          <p:cNvSpPr/>
          <p:nvPr/>
        </p:nvSpPr>
        <p:spPr>
          <a:xfrm>
            <a:off x="6068802" y="426391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霓虹列车</a:t>
            </a:r>
            <a:endParaRPr lang="en-US" sz="775" dirty="0"/>
          </a:p>
        </p:txBody>
      </p:sp>
      <p:sp>
        <p:nvSpPr>
          <p:cNvPr id="89" name="Shape 87"/>
          <p:cNvSpPr/>
          <p:nvPr/>
        </p:nvSpPr>
        <p:spPr>
          <a:xfrm>
            <a:off x="5442790" y="2533591"/>
            <a:ext cx="745588" cy="745588"/>
          </a:xfrm>
          <a:prstGeom prst="ellipse">
            <a:avLst/>
          </a:prstGeom>
          <a:solidFill>
            <a:srgbClr val="102520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513129" y="2603930"/>
            <a:ext cx="604911" cy="604911"/>
          </a:xfrm>
          <a:prstGeom prst="ellipse">
            <a:avLst/>
          </a:prstGeom>
          <a:solidFill>
            <a:srgbClr val="286054"/>
          </a:solidFill>
          <a:ln w="7034">
            <a:solidFill>
              <a:srgbClr val="28605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18636" y="2674268"/>
            <a:ext cx="393895" cy="429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</a:t>
            </a:r>
            <a:endParaRPr lang="en-US" sz="2160" dirty="0"/>
          </a:p>
        </p:txBody>
      </p:sp>
      <p:sp>
        <p:nvSpPr>
          <p:cNvPr id="92" name="Text 90"/>
          <p:cNvSpPr/>
          <p:nvPr/>
        </p:nvSpPr>
        <p:spPr>
          <a:xfrm>
            <a:off x="5414655" y="3349518"/>
            <a:ext cx="801858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1274" dirty="0"/>
          </a:p>
        </p:txBody>
      </p:sp>
      <p:sp>
        <p:nvSpPr>
          <p:cNvPr id="93" name="Shape 91">
            <a:hlinkClick r:id="rId5" tooltip="展开作品试听" action="ppaction://hlinksldjump"/>
          </p:cNvPr>
          <p:cNvSpPr/>
          <p:nvPr/>
        </p:nvSpPr>
        <p:spPr>
          <a:xfrm>
            <a:off x="5421689" y="2512490"/>
            <a:ext cx="787791" cy="78779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96938" y="2414016"/>
            <a:ext cx="393895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32107" y="2435118"/>
            <a:ext cx="323557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合唱</a:t>
            </a:r>
            <a:endParaRPr lang="en-US" sz="720" dirty="0"/>
          </a:p>
        </p:txBody>
      </p:sp>
      <p:sp>
        <p:nvSpPr>
          <p:cNvPr id="96" name="Shape 94">
            <a:hlinkClick r:id="rId6" tooltip="查看合唱关系" action="ppaction://hlinksldjump"/>
          </p:cNvPr>
          <p:cNvSpPr/>
          <p:nvPr/>
        </p:nvSpPr>
        <p:spPr>
          <a:xfrm>
            <a:off x="6061769" y="2371813"/>
            <a:ext cx="492369" cy="33059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99658" y="2421050"/>
            <a:ext cx="38686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BBA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665" dirty="0"/>
          </a:p>
        </p:txBody>
      </p:sp>
      <p:sp>
        <p:nvSpPr>
          <p:cNvPr id="98" name="Text 96"/>
          <p:cNvSpPr/>
          <p:nvPr/>
        </p:nvSpPr>
        <p:spPr>
          <a:xfrm>
            <a:off x="6209479" y="3546465"/>
            <a:ext cx="45720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665" dirty="0"/>
          </a:p>
        </p:txBody>
      </p:sp>
      <p:sp>
        <p:nvSpPr>
          <p:cNvPr id="99" name="Text 97"/>
          <p:cNvSpPr/>
          <p:nvPr/>
        </p:nvSpPr>
        <p:spPr>
          <a:xfrm>
            <a:off x="4612796" y="4622644"/>
            <a:ext cx="240557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 /  你的起点</a:t>
            </a:r>
            <a:endParaRPr lang="en-US" sz="886" dirty="0"/>
          </a:p>
        </p:txBody>
      </p:sp>
      <p:sp>
        <p:nvSpPr>
          <p:cNvPr id="100" name="Shape 98"/>
          <p:cNvSpPr/>
          <p:nvPr/>
        </p:nvSpPr>
        <p:spPr>
          <a:xfrm>
            <a:off x="4612796" y="4995438"/>
            <a:ext cx="2405575" cy="513471"/>
          </a:xfrm>
          <a:prstGeom prst="roundRect">
            <a:avLst>
              <a:gd name="adj" fmla="val 16438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25338" y="5093911"/>
            <a:ext cx="302455" cy="302455"/>
          </a:xfrm>
          <a:prstGeom prst="ellipse">
            <a:avLst/>
          </a:prstGeom>
          <a:solidFill>
            <a:srgbClr val="2B524A"/>
          </a:solidFill>
          <a:ln w="7034">
            <a:solidFill>
              <a:srgbClr val="2B524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74575" y="5129081"/>
            <a:ext cx="203982" cy="2110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9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▷</a:t>
            </a:r>
            <a:endParaRPr lang="en-US" sz="1329" dirty="0"/>
          </a:p>
        </p:txBody>
      </p:sp>
      <p:sp>
        <p:nvSpPr>
          <p:cNvPr id="103" name="Text 101"/>
          <p:cNvSpPr/>
          <p:nvPr/>
        </p:nvSpPr>
        <p:spPr>
          <a:xfrm>
            <a:off x="5147369" y="5100945"/>
            <a:ext cx="1575582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慢速回声</a:t>
            </a:r>
            <a:endParaRPr lang="en-US" sz="942" dirty="0"/>
          </a:p>
        </p:txBody>
      </p:sp>
      <p:sp>
        <p:nvSpPr>
          <p:cNvPr id="104" name="Text 102"/>
          <p:cNvSpPr/>
          <p:nvPr/>
        </p:nvSpPr>
        <p:spPr>
          <a:xfrm>
            <a:off x="5147369" y="5347130"/>
            <a:ext cx="1603717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9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× 回声港  ·  连接作品</a:t>
            </a:r>
            <a:endParaRPr lang="en-US" sz="609" dirty="0"/>
          </a:p>
        </p:txBody>
      </p:sp>
      <p:sp>
        <p:nvSpPr>
          <p:cNvPr id="105" name="Shape 103">
            <a:hlinkClick r:id="rId7" tooltip="打开试听抽屉" action="ppaction://hlinksldjump"/>
          </p:cNvPr>
          <p:cNvSpPr/>
          <p:nvPr/>
        </p:nvSpPr>
        <p:spPr>
          <a:xfrm>
            <a:off x="4612796" y="4995438"/>
            <a:ext cx="2405575" cy="51347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451018" y="5818398"/>
            <a:ext cx="2729132" cy="513471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584661" y="5818398"/>
            <a:ext cx="2461846" cy="914"/>
          </a:xfrm>
          <a:prstGeom prst="line">
            <a:avLst/>
          </a:prstGeom>
          <a:noFill/>
          <a:ln w="4924">
            <a:solidFill>
              <a:srgbClr val="323A4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08218" y="5937973"/>
            <a:ext cx="49237" cy="49237"/>
          </a:xfrm>
          <a:prstGeom prst="ellipse">
            <a:avLst/>
          </a:prstGeom>
          <a:solidFill>
            <a:srgbClr val="72E4D4"/>
          </a:solidFill>
          <a:ln w="7034">
            <a:solidFill>
              <a:srgbClr val="72E4D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98729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</a:t>
            </a:r>
            <a:endParaRPr lang="en-US" sz="775" dirty="0"/>
          </a:p>
        </p:txBody>
      </p:sp>
      <p:sp>
        <p:nvSpPr>
          <p:cNvPr id="110" name="Shape 108">
            <a:hlinkClick r:id="rId8" tooltip="探索" action="ppaction://hlinksldjump"/>
          </p:cNvPr>
          <p:cNvSpPr/>
          <p:nvPr/>
        </p:nvSpPr>
        <p:spPr>
          <a:xfrm>
            <a:off x="4598729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780415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70926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775" dirty="0"/>
          </a:p>
        </p:txBody>
      </p:sp>
      <p:sp>
        <p:nvSpPr>
          <p:cNvPr id="113" name="Shape 111">
            <a:hlinkClick r:id="rId9" tooltip="挑战" action="ppaction://hlinksldjump"/>
          </p:cNvPr>
          <p:cNvSpPr/>
          <p:nvPr/>
        </p:nvSpPr>
        <p:spPr>
          <a:xfrm>
            <a:off x="5470926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652612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43122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775" dirty="0"/>
          </a:p>
        </p:txBody>
      </p:sp>
      <p:sp>
        <p:nvSpPr>
          <p:cNvPr id="116" name="Shape 114">
            <a:hlinkClick r:id="rId10" tooltip="发现" action="ppaction://hlinksldjump"/>
          </p:cNvPr>
          <p:cNvSpPr/>
          <p:nvPr/>
        </p:nvSpPr>
        <p:spPr>
          <a:xfrm>
            <a:off x="6343122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19" name="Text 117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小范围清晰展示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一次6个关系节点，先保文字和点击区域，再做空间动效。</a:t>
            </a:r>
            <a:endParaRPr lang="en-US" sz="1240" dirty="0"/>
          </a:p>
        </p:txBody>
      </p:sp>
      <p:sp>
        <p:nvSpPr>
          <p:cNvPr id="121" name="Shape 119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23" name="Text 121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关系类型可区分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文字与线型共同说明，颜色不是唯一信息来源。</a:t>
            </a:r>
            <a:endParaRPr lang="en-US" sz="1240" dirty="0"/>
          </a:p>
        </p:txBody>
      </p:sp>
      <p:sp>
        <p:nvSpPr>
          <p:cNvPr id="125" name="Shape 123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27" name="Text 125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不要隐藏可走路线</a:t>
            </a:r>
            <a:endParaRPr lang="en-US" sz="1600" dirty="0"/>
          </a:p>
        </p:txBody>
      </p:sp>
      <p:sp>
        <p:nvSpPr>
          <p:cNvPr id="128" name="Text 126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正式挑战应允许查看完整合法邻居，不能把必经节点藏掉。</a:t>
            </a:r>
            <a:endParaRPr lang="en-US" sz="1240" dirty="0"/>
          </a:p>
        </p:txBody>
      </p:sp>
      <p:sp>
        <p:nvSpPr>
          <p:cNvPr id="129" name="Text 127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32" name="Text 130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33" name="Text 131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 / 44</a:t>
            </a:r>
            <a:endParaRPr lang="en-US" sz="8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M03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每条边，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是一首连接作品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“不是因为模型说相似，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是这首歌，连接了他们。”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打开试听状态 → M04；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沿这首歌去回声港 → M05。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这一步，为什么？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894150" y="1330804"/>
            <a:ext cx="520505" cy="520505"/>
          </a:xfrm>
          <a:prstGeom prst="ellipse">
            <a:avLst/>
          </a:prstGeom>
          <a:solidFill>
            <a:srgbClr val="28564B"/>
          </a:solidFill>
          <a:ln w="7034">
            <a:solidFill>
              <a:srgbClr val="72E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3547" y="1330804"/>
            <a:ext cx="520505" cy="520505"/>
          </a:xfrm>
          <a:prstGeom prst="ellipse">
            <a:avLst/>
          </a:prstGeom>
          <a:solidFill>
            <a:srgbClr val="39304D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1450379"/>
            <a:ext cx="323557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曜</a:t>
            </a:r>
            <a:endParaRPr lang="en-US" sz="1606" dirty="0"/>
          </a:p>
        </p:txBody>
      </p:sp>
      <p:sp>
        <p:nvSpPr>
          <p:cNvPr id="27" name="Text 25"/>
          <p:cNvSpPr/>
          <p:nvPr/>
        </p:nvSpPr>
        <p:spPr>
          <a:xfrm>
            <a:off x="6322021" y="1450379"/>
            <a:ext cx="323557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港</a:t>
            </a:r>
            <a:endParaRPr lang="en-US" sz="1606" dirty="0"/>
          </a:p>
        </p:txBody>
      </p:sp>
      <p:sp>
        <p:nvSpPr>
          <p:cNvPr id="28" name="Shape 26"/>
          <p:cNvSpPr/>
          <p:nvPr/>
        </p:nvSpPr>
        <p:spPr>
          <a:xfrm>
            <a:off x="5520162" y="1591056"/>
            <a:ext cx="590843" cy="914"/>
          </a:xfrm>
          <a:prstGeom prst="line">
            <a:avLst/>
          </a:prstGeom>
          <a:noFill/>
          <a:ln w="11958">
            <a:solidFill>
              <a:srgbClr val="72E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9406" y="1984951"/>
            <a:ext cx="808892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997" dirty="0"/>
          </a:p>
        </p:txBody>
      </p:sp>
      <p:sp>
        <p:nvSpPr>
          <p:cNvPr id="30" name="Text 28"/>
          <p:cNvSpPr/>
          <p:nvPr/>
        </p:nvSpPr>
        <p:spPr>
          <a:xfrm>
            <a:off x="6068802" y="1984951"/>
            <a:ext cx="808892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997" dirty="0"/>
          </a:p>
        </p:txBody>
      </p:sp>
      <p:sp>
        <p:nvSpPr>
          <p:cNvPr id="31" name="Shape 29"/>
          <p:cNvSpPr/>
          <p:nvPr/>
        </p:nvSpPr>
        <p:spPr>
          <a:xfrm>
            <a:off x="4612796" y="2449185"/>
            <a:ext cx="2405575" cy="1716258"/>
          </a:xfrm>
          <a:prstGeom prst="roundRect">
            <a:avLst>
              <a:gd name="adj" fmla="val 5328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6439" y="2582828"/>
            <a:ext cx="738554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1609" y="2603930"/>
            <a:ext cx="66821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共同演唱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46439" y="2962656"/>
            <a:ext cx="2131255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1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《慢速回声》</a:t>
            </a:r>
            <a:endParaRPr lang="en-US" sz="1551" dirty="0"/>
          </a:p>
        </p:txBody>
      </p:sp>
      <p:sp>
        <p:nvSpPr>
          <p:cNvPr id="35" name="Text 33"/>
          <p:cNvSpPr/>
          <p:nvPr/>
        </p:nvSpPr>
        <p:spPr>
          <a:xfrm>
            <a:off x="4746439" y="3384687"/>
            <a:ext cx="2131255" cy="393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两位艺人在同一首录音中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有演唱署名。</a:t>
            </a:r>
            <a:endParaRPr lang="en-US" sz="942" dirty="0"/>
          </a:p>
        </p:txBody>
      </p:sp>
      <p:sp>
        <p:nvSpPr>
          <p:cNvPr id="36" name="Text 34"/>
          <p:cNvSpPr/>
          <p:nvPr/>
        </p:nvSpPr>
        <p:spPr>
          <a:xfrm>
            <a:off x="4746439" y="3940361"/>
            <a:ext cx="213125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9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演示关系 D-01 · 不是事实资料</a:t>
            </a:r>
            <a:endParaRPr lang="en-US" sz="609" dirty="0"/>
          </a:p>
        </p:txBody>
      </p:sp>
      <p:sp>
        <p:nvSpPr>
          <p:cNvPr id="37" name="Text 35"/>
          <p:cNvSpPr/>
          <p:nvPr/>
        </p:nvSpPr>
        <p:spPr>
          <a:xfrm>
            <a:off x="4626864" y="4383493"/>
            <a:ext cx="2384474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正式版：每条边附作品、角色、来源与审核状态。</a:t>
            </a:r>
            <a:endParaRPr lang="en-US" sz="775" dirty="0"/>
          </a:p>
        </p:txBody>
      </p:sp>
      <p:sp>
        <p:nvSpPr>
          <p:cNvPr id="38" name="Shape 36"/>
          <p:cNvSpPr/>
          <p:nvPr/>
        </p:nvSpPr>
        <p:spPr>
          <a:xfrm>
            <a:off x="4612796" y="4946201"/>
            <a:ext cx="2405575" cy="344658"/>
          </a:xfrm>
          <a:prstGeom prst="roundRect">
            <a:avLst>
              <a:gd name="adj" fmla="val 24490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76101" y="4967302"/>
            <a:ext cx="2278966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打开试听状态</a:t>
            </a:r>
            <a:endParaRPr lang="en-US" sz="997" dirty="0"/>
          </a:p>
        </p:txBody>
      </p:sp>
      <p:sp>
        <p:nvSpPr>
          <p:cNvPr id="40" name="Shape 38">
            <a:hlinkClick r:id="rId4" tooltip="打开试听状态" action="ppaction://hlinksldjump"/>
          </p:cNvPr>
          <p:cNvSpPr/>
          <p:nvPr/>
        </p:nvSpPr>
        <p:spPr>
          <a:xfrm>
            <a:off x="4612796" y="4946201"/>
            <a:ext cx="2405575" cy="344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2796" y="5396367"/>
            <a:ext cx="2405575" cy="358726"/>
          </a:xfrm>
          <a:prstGeom prst="roundRect">
            <a:avLst>
              <a:gd name="adj" fmla="val 23529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76101" y="5417468"/>
            <a:ext cx="2278966" cy="31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沿这首歌，去回声港</a:t>
            </a:r>
            <a:endParaRPr lang="en-US" sz="997" dirty="0"/>
          </a:p>
        </p:txBody>
      </p:sp>
      <p:sp>
        <p:nvSpPr>
          <p:cNvPr id="43" name="Shape 41">
            <a:hlinkClick r:id="rId5" tooltip="沿这首歌，去回声港" action="ppaction://hlinksldjump"/>
          </p:cNvPr>
          <p:cNvSpPr/>
          <p:nvPr/>
        </p:nvSpPr>
        <p:spPr>
          <a:xfrm>
            <a:off x="4612796" y="5396367"/>
            <a:ext cx="2405575" cy="35872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作品优先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先呈现连接两人的音乐，再展示艺人热门作品。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角色与事实分开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合唱、制作、词曲等分别记录；不把署名关系当作私交。</a:t>
            </a:r>
            <a:endParaRPr lang="en-US" sz="1240" dirty="0"/>
          </a:p>
        </p:txBody>
      </p:sp>
      <p:sp>
        <p:nvSpPr>
          <p:cNvPr id="52" name="Shape 50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54" name="Text 52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每条边要有证据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正式版记录作品、角色、来源、日期与人工审核状态。</a:t>
            </a:r>
            <a:endParaRPr lang="en-US" sz="1240" dirty="0"/>
          </a:p>
        </p:txBody>
      </p:sp>
      <p:sp>
        <p:nvSpPr>
          <p:cNvPr id="56" name="Text 54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59" name="Text 57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23 / 44</a:t>
            </a:r>
            <a:endParaRPr lang="en-US" sz="8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M04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真正的回报，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是听见一首歌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“我不是来查百科，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我想听听他们为什么会相遇。”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播放按钮仅跳转状态，无实际音频；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继续走 → 新中心地图。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连接他们的这首歌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866015" y="1267499"/>
            <a:ext cx="1899138" cy="1885071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7946" y="1456006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7946" y="1574766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7946" y="1693525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17946" y="1812285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17946" y="1931044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7946" y="2049803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17946" y="2168563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7946" y="2287322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17946" y="2406082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17946" y="2524841"/>
            <a:ext cx="1557294" cy="301611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20627" y="1418305"/>
            <a:ext cx="778647" cy="778647"/>
          </a:xfrm>
          <a:prstGeom prst="ellipse">
            <a:avLst/>
          </a:prstGeom>
          <a:solidFill>
            <a:srgbClr val="72E4D4">
              <a:alpha val="93000"/>
            </a:srgbClr>
          </a:solidFill>
          <a:ln w="12700">
            <a:solidFill>
              <a:srgbClr val="72E4D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77601" y="1493708"/>
            <a:ext cx="151931" cy="1036789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0972" y="2964063"/>
            <a:ext cx="115847" cy="18850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47087" y="2766130"/>
            <a:ext cx="115847" cy="38644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33203" y="2822682"/>
            <a:ext cx="115847" cy="32988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19318" y="2879235"/>
            <a:ext cx="115847" cy="273335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05434" y="2935787"/>
            <a:ext cx="115847" cy="21678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1550" y="2737854"/>
            <a:ext cx="115847" cy="41471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77665" y="2794406"/>
            <a:ext cx="115847" cy="35816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781" y="2850959"/>
            <a:ext cx="115847" cy="30161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9896" y="2907511"/>
            <a:ext cx="115847" cy="24505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36012" y="2964063"/>
            <a:ext cx="115847" cy="18850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7946" y="1663364"/>
            <a:ext cx="1367380" cy="10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3200" dirty="0"/>
          </a:p>
        </p:txBody>
      </p:sp>
      <p:sp>
        <p:nvSpPr>
          <p:cNvPr id="48" name="Shape 46"/>
          <p:cNvSpPr/>
          <p:nvPr/>
        </p:nvSpPr>
        <p:spPr>
          <a:xfrm>
            <a:off x="4781609" y="3335450"/>
            <a:ext cx="2067951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6778" y="3356551"/>
            <a:ext cx="1997612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播放状态示意 · 无实际音频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4612796" y="3750447"/>
            <a:ext cx="2110154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6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慢速回声</a:t>
            </a:r>
            <a:endParaRPr lang="en-US" sz="1662" dirty="0"/>
          </a:p>
        </p:txBody>
      </p:sp>
      <p:sp>
        <p:nvSpPr>
          <p:cNvPr id="51" name="Text 49"/>
          <p:cNvSpPr/>
          <p:nvPr/>
        </p:nvSpPr>
        <p:spPr>
          <a:xfrm>
            <a:off x="4612796" y="4144342"/>
            <a:ext cx="2215662" cy="17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× 回声港</a:t>
            </a:r>
            <a:endParaRPr lang="en-US" sz="942" dirty="0"/>
          </a:p>
        </p:txBody>
      </p:sp>
      <p:sp>
        <p:nvSpPr>
          <p:cNvPr id="52" name="Shape 50"/>
          <p:cNvSpPr/>
          <p:nvPr/>
        </p:nvSpPr>
        <p:spPr>
          <a:xfrm>
            <a:off x="4619830" y="4636711"/>
            <a:ext cx="21102" cy="56271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73639" y="4590991"/>
            <a:ext cx="21102" cy="147711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27448" y="4545271"/>
            <a:ext cx="21102" cy="239151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81257" y="4615610"/>
            <a:ext cx="21102" cy="98474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35066" y="4569890"/>
            <a:ext cx="21102" cy="189914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88875" y="4524170"/>
            <a:ext cx="21102" cy="281354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42684" y="4594508"/>
            <a:ext cx="21102" cy="140677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96493" y="4548788"/>
            <a:ext cx="21102" cy="232117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50302" y="4619127"/>
            <a:ext cx="21102" cy="91440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04110" y="4573407"/>
            <a:ext cx="21102" cy="182880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57919" y="4527687"/>
            <a:ext cx="21102" cy="274320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11728" y="4598025"/>
            <a:ext cx="21102" cy="133643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65537" y="4552305"/>
            <a:ext cx="21102" cy="225083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19346" y="4622644"/>
            <a:ext cx="21102" cy="84406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73155" y="4576924"/>
            <a:ext cx="21102" cy="175846"/>
          </a:xfrm>
          <a:prstGeom prst="rect">
            <a:avLst/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26964" y="4531204"/>
            <a:ext cx="21102" cy="267286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0773" y="4601542"/>
            <a:ext cx="21102" cy="126609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34582" y="4555822"/>
            <a:ext cx="21102" cy="218049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88391" y="4626161"/>
            <a:ext cx="21102" cy="77372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42200" y="4580441"/>
            <a:ext cx="21102" cy="168812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96009" y="4534721"/>
            <a:ext cx="21102" cy="260252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49818" y="4605059"/>
            <a:ext cx="21102" cy="119575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03626" y="4559339"/>
            <a:ext cx="21102" cy="211015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7435" y="4629678"/>
            <a:ext cx="21102" cy="70338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11244" y="4583958"/>
            <a:ext cx="21102" cy="161778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65053" y="4538238"/>
            <a:ext cx="21102" cy="253218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18862" y="4608576"/>
            <a:ext cx="21102" cy="112542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72671" y="4562856"/>
            <a:ext cx="21102" cy="203982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26480" y="4633194"/>
            <a:ext cx="21102" cy="63305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80289" y="4587474"/>
            <a:ext cx="21102" cy="154745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34098" y="4541754"/>
            <a:ext cx="21102" cy="246185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87907" y="4612093"/>
            <a:ext cx="21102" cy="105508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41716" y="4566373"/>
            <a:ext cx="21102" cy="196948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95525" y="4636711"/>
            <a:ext cx="21102" cy="56271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49334" y="4590991"/>
            <a:ext cx="21102" cy="147711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503142" y="4545271"/>
            <a:ext cx="21102" cy="239151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556951" y="4615610"/>
            <a:ext cx="21102" cy="98474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10760" y="4569890"/>
            <a:ext cx="21102" cy="189914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64569" y="4524170"/>
            <a:ext cx="21102" cy="281354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18378" y="4594508"/>
            <a:ext cx="21102" cy="140677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772187" y="4548788"/>
            <a:ext cx="21102" cy="232117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25996" y="4619127"/>
            <a:ext cx="21102" cy="91440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79805" y="4573407"/>
            <a:ext cx="21102" cy="182880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933614" y="4527687"/>
            <a:ext cx="21102" cy="274320"/>
          </a:xfrm>
          <a:prstGeom prst="rect">
            <a:avLst/>
          </a:prstGeom>
          <a:solidFill>
            <a:srgbClr val="3F4C53"/>
          </a:solidFill>
          <a:ln w="8255">
            <a:solidFill>
              <a:srgbClr val="3F4C5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12796" y="4911031"/>
            <a:ext cx="773723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00:10</a:t>
            </a:r>
            <a:endParaRPr lang="en-US" sz="665" dirty="0"/>
          </a:p>
        </p:txBody>
      </p:sp>
      <p:sp>
        <p:nvSpPr>
          <p:cNvPr id="97" name="Text 95"/>
          <p:cNvSpPr/>
          <p:nvPr/>
        </p:nvSpPr>
        <p:spPr>
          <a:xfrm>
            <a:off x="6244649" y="4911031"/>
            <a:ext cx="773723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00:30</a:t>
            </a:r>
            <a:endParaRPr lang="en-US" sz="665" dirty="0"/>
          </a:p>
        </p:txBody>
      </p:sp>
      <p:sp>
        <p:nvSpPr>
          <p:cNvPr id="98" name="Shape 96"/>
          <p:cNvSpPr/>
          <p:nvPr/>
        </p:nvSpPr>
        <p:spPr>
          <a:xfrm>
            <a:off x="5611602" y="5171284"/>
            <a:ext cx="407963" cy="407963"/>
          </a:xfrm>
          <a:prstGeom prst="ellipse">
            <a:avLst/>
          </a:prstGeom>
          <a:solidFill>
            <a:srgbClr val="72E4D4"/>
          </a:solidFill>
          <a:ln w="7034">
            <a:solidFill>
              <a:srgbClr val="72E4D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738212" y="5283825"/>
            <a:ext cx="49237" cy="182880"/>
          </a:xfrm>
          <a:prstGeom prst="rect">
            <a:avLst/>
          </a:prstGeom>
          <a:solidFill>
            <a:srgbClr val="0D1016"/>
          </a:solidFill>
          <a:ln w="8255">
            <a:solidFill>
              <a:srgbClr val="0D101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43719" y="5283825"/>
            <a:ext cx="49237" cy="182880"/>
          </a:xfrm>
          <a:prstGeom prst="rect">
            <a:avLst/>
          </a:prstGeom>
          <a:solidFill>
            <a:srgbClr val="0D1016"/>
          </a:solidFill>
          <a:ln w="8255">
            <a:solidFill>
              <a:srgbClr val="0D1016"/>
            </a:solidFill>
            <a:prstDash val="solid"/>
          </a:ln>
        </p:spPr>
      </p:sp>
      <p:sp>
        <p:nvSpPr>
          <p:cNvPr id="101" name="Shape 99">
            <a:hlinkClick r:id="rId4" tooltip="返回关系详情" action="ppaction://hlinksldjump"/>
          </p:cNvPr>
          <p:cNvSpPr/>
          <p:nvPr/>
        </p:nvSpPr>
        <p:spPr>
          <a:xfrm>
            <a:off x="5611602" y="5171284"/>
            <a:ext cx="407963" cy="4079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12796" y="5804330"/>
            <a:ext cx="2405575" cy="316523"/>
          </a:xfrm>
          <a:prstGeom prst="roundRect">
            <a:avLst>
              <a:gd name="adj" fmla="val 26667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76101" y="5825431"/>
            <a:ext cx="2278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回到地图，继续走</a:t>
            </a:r>
            <a:endParaRPr lang="en-US" sz="997" dirty="0"/>
          </a:p>
        </p:txBody>
      </p:sp>
      <p:sp>
        <p:nvSpPr>
          <p:cNvPr id="104" name="Shape 102">
            <a:hlinkClick r:id="rId5" tooltip="回到地图，继续走" action="ppaction://hlinksldjump"/>
          </p:cNvPr>
          <p:cNvSpPr/>
          <p:nvPr/>
        </p:nvSpPr>
        <p:spPr>
          <a:xfrm>
            <a:off x="4612796" y="5804330"/>
            <a:ext cx="2405575" cy="31652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07" name="Text 105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听歌不离主线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试听抽屉尽量不打断路线，关闭后回到探索位置。</a:t>
            </a:r>
            <a:endParaRPr lang="en-US" sz="1240" dirty="0"/>
          </a:p>
        </p:txBody>
      </p:sp>
      <p:sp>
        <p:nvSpPr>
          <p:cNvPr id="109" name="Shape 107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11" name="Text 109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不能靠假播放器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正式Demo必须验证实际播放，使用许可与可达性同时成立。</a:t>
            </a:r>
            <a:endParaRPr lang="en-US" sz="1240" dirty="0"/>
          </a:p>
        </p:txBody>
      </p:sp>
      <p:sp>
        <p:nvSpPr>
          <p:cNvPr id="113" name="Shape 111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15" name="Text 113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失败仍有说明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不可播放时给出明确原因；不假装所有作品有试听。</a:t>
            </a:r>
            <a:endParaRPr lang="en-US" sz="1240" dirty="0"/>
          </a:p>
        </p:txBody>
      </p:sp>
      <p:sp>
        <p:nvSpPr>
          <p:cNvPr id="117" name="Text 115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20" name="Text 118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[R09]</a:t>
            </a:r>
            <a:endParaRPr lang="en-US" sz="720" dirty="0"/>
          </a:p>
        </p:txBody>
      </p:sp>
      <p:sp>
        <p:nvSpPr>
          <p:cNvPr id="121" name="Text 119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24 / 44</a:t>
            </a:r>
            <a:endParaRPr lang="en-US" sz="8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M05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走得更远，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但不迷路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“我怎么从刚才那位，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一路逛到了这里？”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上一位 → M02；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挑战入口 → M06。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回声港，成为新中心</a:t>
            </a:r>
            <a:endParaRPr lang="en-US" sz="1163" dirty="0"/>
          </a:p>
        </p:txBody>
      </p:sp>
      <p:sp>
        <p:nvSpPr>
          <p:cNvPr id="24" name="Text 22"/>
          <p:cNvSpPr/>
          <p:nvPr/>
        </p:nvSpPr>
        <p:spPr>
          <a:xfrm>
            <a:off x="4605762" y="1098687"/>
            <a:ext cx="2419643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 ›  回声港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4612796" y="1401142"/>
            <a:ext cx="703385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7966" y="1422244"/>
            <a:ext cx="633046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作品合作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118039" y="1401142"/>
            <a:ext cx="506437" cy="211015"/>
          </a:xfrm>
          <a:prstGeom prst="roundRect">
            <a:avLst>
              <a:gd name="adj" fmla="val 33333"/>
            </a:avLst>
          </a:prstGeom>
          <a:solidFill>
            <a:srgbClr val="202631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209" y="1422244"/>
            <a:ext cx="436098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上一位</a:t>
            </a:r>
            <a:endParaRPr lang="en-US" sz="720" dirty="0"/>
          </a:p>
        </p:txBody>
      </p:sp>
      <p:sp>
        <p:nvSpPr>
          <p:cNvPr id="29" name="Shape 27">
            <a:hlinkClick r:id="rId4" tooltip="返回上一艺人" action="ppaction://hlinksldjump"/>
          </p:cNvPr>
          <p:cNvSpPr/>
          <p:nvPr/>
        </p:nvSpPr>
        <p:spPr>
          <a:xfrm>
            <a:off x="6111006" y="1365973"/>
            <a:ext cx="548640" cy="28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3135" y="1766902"/>
            <a:ext cx="2278966" cy="2489982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6353" y="1963850"/>
            <a:ext cx="1772529" cy="2103120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89572" y="2160798"/>
            <a:ext cx="1266092" cy="1716258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2796" y="1626225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4064" y="225223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5332" y="287825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26599" y="35042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7867" y="41302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9135" y="188647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41861" y="251249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13129" y="313850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4396" y="37645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55664" y="43905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26932" y="214673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99658" y="277274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70926" y="339875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2193" y="402476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13461" y="178097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84729" y="240698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57455" y="303299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28722" y="365900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99990" y="428501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71258" y="204122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42526" y="266723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15252" y="329324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86519" y="391925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57787" y="16754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9055" y="23014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00322" y="292748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73049" y="355349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44316" y="4179511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15584" y="19357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86852" y="25617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5815584" y="2090459"/>
            <a:ext cx="696351" cy="815926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5062962" y="1935714"/>
            <a:ext cx="752622" cy="970671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15584" y="2906385"/>
            <a:ext cx="963637" cy="218049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4880082" y="2906385"/>
            <a:ext cx="935502" cy="267286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5217707" y="2906385"/>
            <a:ext cx="597877" cy="1118382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15584" y="2906385"/>
            <a:ext cx="576775" cy="1139483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57190" y="193571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92359" y="198495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</a:t>
            </a:r>
            <a:endParaRPr lang="en-US" sz="1052" dirty="0"/>
          </a:p>
        </p:txBody>
      </p:sp>
      <p:sp>
        <p:nvSpPr>
          <p:cNvPr id="71" name="Text 69"/>
          <p:cNvSpPr/>
          <p:nvPr/>
        </p:nvSpPr>
        <p:spPr>
          <a:xfrm>
            <a:off x="6188378" y="230850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许岚</a:t>
            </a:r>
            <a:endParaRPr lang="en-US" sz="775" dirty="0"/>
          </a:p>
        </p:txBody>
      </p:sp>
      <p:sp>
        <p:nvSpPr>
          <p:cNvPr id="72" name="Shape 70"/>
          <p:cNvSpPr/>
          <p:nvPr/>
        </p:nvSpPr>
        <p:spPr>
          <a:xfrm>
            <a:off x="4908218" y="1780970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43387" y="183020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</a:t>
            </a:r>
            <a:endParaRPr lang="en-US" sz="1052" dirty="0"/>
          </a:p>
        </p:txBody>
      </p:sp>
      <p:sp>
        <p:nvSpPr>
          <p:cNvPr id="74" name="Text 72"/>
          <p:cNvSpPr/>
          <p:nvPr/>
        </p:nvSpPr>
        <p:spPr>
          <a:xfrm>
            <a:off x="4739406" y="215376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775" dirty="0"/>
          </a:p>
        </p:txBody>
      </p:sp>
      <p:sp>
        <p:nvSpPr>
          <p:cNvPr id="75" name="Shape 73"/>
          <p:cNvSpPr/>
          <p:nvPr/>
        </p:nvSpPr>
        <p:spPr>
          <a:xfrm>
            <a:off x="6624476" y="2969690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59646" y="301892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</a:t>
            </a:r>
            <a:endParaRPr lang="en-US" sz="1052" dirty="0"/>
          </a:p>
        </p:txBody>
      </p:sp>
      <p:sp>
        <p:nvSpPr>
          <p:cNvPr id="77" name="Text 75"/>
          <p:cNvSpPr/>
          <p:nvPr/>
        </p:nvSpPr>
        <p:spPr>
          <a:xfrm>
            <a:off x="6455664" y="334248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北屿</a:t>
            </a:r>
            <a:endParaRPr lang="en-US" sz="775" dirty="0"/>
          </a:p>
        </p:txBody>
      </p:sp>
      <p:sp>
        <p:nvSpPr>
          <p:cNvPr id="78" name="Shape 76"/>
          <p:cNvSpPr/>
          <p:nvPr/>
        </p:nvSpPr>
        <p:spPr>
          <a:xfrm>
            <a:off x="4725338" y="3018927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60507" y="3068164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</a:t>
            </a:r>
            <a:endParaRPr lang="en-US" sz="1052" dirty="0"/>
          </a:p>
        </p:txBody>
      </p:sp>
      <p:sp>
        <p:nvSpPr>
          <p:cNvPr id="80" name="Text 78"/>
          <p:cNvSpPr/>
          <p:nvPr/>
        </p:nvSpPr>
        <p:spPr>
          <a:xfrm>
            <a:off x="4556526" y="3391721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木眠</a:t>
            </a:r>
            <a:endParaRPr lang="en-US" sz="775" dirty="0"/>
          </a:p>
        </p:txBody>
      </p:sp>
      <p:sp>
        <p:nvSpPr>
          <p:cNvPr id="81" name="Shape 79"/>
          <p:cNvSpPr/>
          <p:nvPr/>
        </p:nvSpPr>
        <p:spPr>
          <a:xfrm>
            <a:off x="5062962" y="3870022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98132" y="3919259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</a:t>
            </a:r>
            <a:endParaRPr lang="en-US" sz="1052" dirty="0"/>
          </a:p>
        </p:txBody>
      </p:sp>
      <p:sp>
        <p:nvSpPr>
          <p:cNvPr id="83" name="Text 81"/>
          <p:cNvSpPr/>
          <p:nvPr/>
        </p:nvSpPr>
        <p:spPr>
          <a:xfrm>
            <a:off x="4894150" y="4242816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夜航班</a:t>
            </a:r>
            <a:endParaRPr lang="en-US" sz="775" dirty="0"/>
          </a:p>
        </p:txBody>
      </p:sp>
      <p:sp>
        <p:nvSpPr>
          <p:cNvPr id="84" name="Shape 82"/>
          <p:cNvSpPr/>
          <p:nvPr/>
        </p:nvSpPr>
        <p:spPr>
          <a:xfrm>
            <a:off x="6237615" y="389112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72784" y="394036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</a:t>
            </a:r>
            <a:endParaRPr lang="en-US" sz="1052" dirty="0"/>
          </a:p>
        </p:txBody>
      </p:sp>
      <p:sp>
        <p:nvSpPr>
          <p:cNvPr id="86" name="Text 84"/>
          <p:cNvSpPr/>
          <p:nvPr/>
        </p:nvSpPr>
        <p:spPr>
          <a:xfrm>
            <a:off x="6068802" y="426391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白河</a:t>
            </a:r>
            <a:endParaRPr lang="en-US" sz="775" dirty="0"/>
          </a:p>
        </p:txBody>
      </p:sp>
      <p:sp>
        <p:nvSpPr>
          <p:cNvPr id="87" name="Shape 85"/>
          <p:cNvSpPr/>
          <p:nvPr/>
        </p:nvSpPr>
        <p:spPr>
          <a:xfrm>
            <a:off x="5442790" y="2533591"/>
            <a:ext cx="745588" cy="745588"/>
          </a:xfrm>
          <a:prstGeom prst="ellipse">
            <a:avLst/>
          </a:prstGeom>
          <a:solidFill>
            <a:srgbClr val="102520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513129" y="2603930"/>
            <a:ext cx="604911" cy="604911"/>
          </a:xfrm>
          <a:prstGeom prst="ellipse">
            <a:avLst/>
          </a:prstGeom>
          <a:solidFill>
            <a:srgbClr val="286054"/>
          </a:solidFill>
          <a:ln w="7034">
            <a:solidFill>
              <a:srgbClr val="28605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18636" y="2674268"/>
            <a:ext cx="393895" cy="429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</a:t>
            </a:r>
            <a:endParaRPr lang="en-US" sz="2160" dirty="0"/>
          </a:p>
        </p:txBody>
      </p:sp>
      <p:sp>
        <p:nvSpPr>
          <p:cNvPr id="90" name="Text 88"/>
          <p:cNvSpPr/>
          <p:nvPr/>
        </p:nvSpPr>
        <p:spPr>
          <a:xfrm>
            <a:off x="5414655" y="3349518"/>
            <a:ext cx="801858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1274" dirty="0"/>
          </a:p>
        </p:txBody>
      </p:sp>
      <p:sp>
        <p:nvSpPr>
          <p:cNvPr id="91" name="Shape 89">
            <a:hlinkClick r:id="rId5" tooltip="展开作品试听" action="ppaction://hlinksldjump"/>
          </p:cNvPr>
          <p:cNvSpPr/>
          <p:nvPr/>
        </p:nvSpPr>
        <p:spPr>
          <a:xfrm>
            <a:off x="5421689" y="2512490"/>
            <a:ext cx="787791" cy="78779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96938" y="2414016"/>
            <a:ext cx="393895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32107" y="2435118"/>
            <a:ext cx="323557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合唱</a:t>
            </a: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4999658" y="2421050"/>
            <a:ext cx="38686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BBA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665" dirty="0"/>
          </a:p>
        </p:txBody>
      </p:sp>
      <p:sp>
        <p:nvSpPr>
          <p:cNvPr id="95" name="Text 93"/>
          <p:cNvSpPr/>
          <p:nvPr/>
        </p:nvSpPr>
        <p:spPr>
          <a:xfrm>
            <a:off x="6209479" y="3546465"/>
            <a:ext cx="45720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665" dirty="0"/>
          </a:p>
        </p:txBody>
      </p:sp>
      <p:sp>
        <p:nvSpPr>
          <p:cNvPr id="96" name="Text 94"/>
          <p:cNvSpPr/>
          <p:nvPr/>
        </p:nvSpPr>
        <p:spPr>
          <a:xfrm>
            <a:off x="4612796" y="4643745"/>
            <a:ext cx="240557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来时的路，始终可见。</a:t>
            </a:r>
            <a:endParaRPr lang="en-US" sz="886" dirty="0"/>
          </a:p>
        </p:txBody>
      </p:sp>
      <p:sp>
        <p:nvSpPr>
          <p:cNvPr id="97" name="Shape 95"/>
          <p:cNvSpPr/>
          <p:nvPr/>
        </p:nvSpPr>
        <p:spPr>
          <a:xfrm>
            <a:off x="4612796" y="5037641"/>
            <a:ext cx="2405575" cy="365760"/>
          </a:xfrm>
          <a:prstGeom prst="roundRect">
            <a:avLst>
              <a:gd name="adj" fmla="val 23077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76101" y="5058742"/>
            <a:ext cx="2278966" cy="323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试一局：林曜 → 许岚</a:t>
            </a:r>
            <a:endParaRPr lang="en-US" sz="997" dirty="0"/>
          </a:p>
        </p:txBody>
      </p:sp>
      <p:sp>
        <p:nvSpPr>
          <p:cNvPr id="99" name="Shape 97">
            <a:hlinkClick r:id="rId6" tooltip="试一局：林曜 → 许岚" action="ppaction://hlinksldjump"/>
          </p:cNvPr>
          <p:cNvSpPr/>
          <p:nvPr/>
        </p:nvSpPr>
        <p:spPr>
          <a:xfrm>
            <a:off x="4612796" y="5037641"/>
            <a:ext cx="2405575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12796" y="5572213"/>
            <a:ext cx="2405575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9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地图拖动是设计设想；本原型演示点击切换。</a:t>
            </a:r>
            <a:endParaRPr lang="en-US" sz="609" dirty="0"/>
          </a:p>
        </p:txBody>
      </p:sp>
      <p:sp>
        <p:nvSpPr>
          <p:cNvPr id="101" name="Shape 99"/>
          <p:cNvSpPr/>
          <p:nvPr/>
        </p:nvSpPr>
        <p:spPr>
          <a:xfrm>
            <a:off x="4451018" y="5818398"/>
            <a:ext cx="2729132" cy="513471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584661" y="5818398"/>
            <a:ext cx="2461846" cy="914"/>
          </a:xfrm>
          <a:prstGeom prst="line">
            <a:avLst/>
          </a:prstGeom>
          <a:noFill/>
          <a:ln w="4924">
            <a:solidFill>
              <a:srgbClr val="323A4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08218" y="5937973"/>
            <a:ext cx="49237" cy="49237"/>
          </a:xfrm>
          <a:prstGeom prst="ellipse">
            <a:avLst/>
          </a:prstGeom>
          <a:solidFill>
            <a:srgbClr val="72E4D4"/>
          </a:solidFill>
          <a:ln w="7034">
            <a:solidFill>
              <a:srgbClr val="72E4D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98729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</a:t>
            </a:r>
            <a:endParaRPr lang="en-US" sz="775" dirty="0"/>
          </a:p>
        </p:txBody>
      </p:sp>
      <p:sp>
        <p:nvSpPr>
          <p:cNvPr id="105" name="Shape 103">
            <a:hlinkClick r:id="rId7" tooltip="探索" action="ppaction://hlinksldjump"/>
          </p:cNvPr>
          <p:cNvSpPr/>
          <p:nvPr/>
        </p:nvSpPr>
        <p:spPr>
          <a:xfrm>
            <a:off x="4598729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80415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70926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775" dirty="0"/>
          </a:p>
        </p:txBody>
      </p:sp>
      <p:sp>
        <p:nvSpPr>
          <p:cNvPr id="108" name="Shape 106">
            <a:hlinkClick r:id="rId8" tooltip="挑战" action="ppaction://hlinksldjump"/>
          </p:cNvPr>
          <p:cNvSpPr/>
          <p:nvPr/>
        </p:nvSpPr>
        <p:spPr>
          <a:xfrm>
            <a:off x="5470926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52612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43122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775" dirty="0"/>
          </a:p>
        </p:txBody>
      </p:sp>
      <p:sp>
        <p:nvSpPr>
          <p:cNvPr id="111" name="Shape 109">
            <a:hlinkClick r:id="rId9" tooltip="发现" action="ppaction://hlinksldjump"/>
          </p:cNvPr>
          <p:cNvSpPr/>
          <p:nvPr/>
        </p:nvSpPr>
        <p:spPr>
          <a:xfrm>
            <a:off x="6343122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14" name="Text 112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中心变了，路径还在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当前艺人固定；轨迹保留起点与上一位。</a:t>
            </a:r>
            <a:endParaRPr lang="en-US" sz="1240" dirty="0"/>
          </a:p>
        </p:txBody>
      </p:sp>
      <p:sp>
        <p:nvSpPr>
          <p:cNvPr id="116" name="Shape 114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18" name="Text 116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返回是核心能力</a:t>
            </a:r>
            <a:endParaRPr lang="en-US" sz="1600" dirty="0"/>
          </a:p>
        </p:txBody>
      </p:sp>
      <p:sp>
        <p:nvSpPr>
          <p:cNvPr id="119" name="Text 117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漫游回退应恢复视角与筛选，不让用户重新找路。</a:t>
            </a:r>
            <a:endParaRPr lang="en-US" sz="1240" dirty="0"/>
          </a:p>
        </p:txBody>
      </p:sp>
      <p:sp>
        <p:nvSpPr>
          <p:cNvPr id="120" name="Shape 118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22" name="Text 120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空间感不是门槛</a:t>
            </a:r>
            <a:endParaRPr lang="en-US" sz="1600" dirty="0"/>
          </a:p>
        </p:txBody>
      </p:sp>
      <p:sp>
        <p:nvSpPr>
          <p:cNvPr id="123" name="Text 121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首版用二维或2.5D即可；真实拖动在正式开发中实现。</a:t>
            </a:r>
            <a:endParaRPr lang="en-US" sz="1240" dirty="0"/>
          </a:p>
        </p:txBody>
      </p:sp>
      <p:sp>
        <p:nvSpPr>
          <p:cNvPr id="124" name="Text 122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27" name="Text 12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28" name="Text 12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 / 44</a:t>
            </a:r>
            <a:endParaRPr lang="en-US" sz="8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M06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把好奇，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变成一局任务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“两步之内，从林曜走到许岚，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我能找到哪条路？”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点击回声港，迈出第1步。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任务仅基于本次虚构图谱。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路线挑战  /  0 · 2</a:t>
            </a:r>
            <a:endParaRPr lang="en-US" sz="1163" dirty="0"/>
          </a:p>
        </p:txBody>
      </p:sp>
      <p:sp>
        <p:nvSpPr>
          <p:cNvPr id="24" name="Text 22"/>
          <p:cNvSpPr/>
          <p:nvPr/>
        </p:nvSpPr>
        <p:spPr>
          <a:xfrm>
            <a:off x="4605762" y="1098687"/>
            <a:ext cx="2419643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目标：许岚   ·   最多2步   ·   作品合作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4612796" y="1401142"/>
            <a:ext cx="977705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7966" y="1422244"/>
            <a:ext cx="907366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本局图谱 v0.1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83135" y="1766902"/>
            <a:ext cx="2278966" cy="2489982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6353" y="1963850"/>
            <a:ext cx="1772529" cy="2103120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9572" y="2160798"/>
            <a:ext cx="1266092" cy="1716258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2796" y="1626225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4064" y="225223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5332" y="287825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6599" y="35042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7867" y="41302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69135" y="188647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41861" y="251249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13129" y="313850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4396" y="37645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55664" y="43905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26932" y="214673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99658" y="277274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0926" y="339875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2193" y="402476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13461" y="178097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84729" y="240698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57455" y="303299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28722" y="365900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9990" y="428501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71258" y="204122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2526" y="266723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15252" y="329324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86519" y="391925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7787" y="16754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9055" y="23014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00322" y="292748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73049" y="355349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4316" y="4179511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15584" y="19357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86852" y="25617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5815584" y="2090459"/>
            <a:ext cx="696351" cy="844062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5062962" y="1935714"/>
            <a:ext cx="752622" cy="998806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5584" y="2934521"/>
            <a:ext cx="963637" cy="189914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4880082" y="2934521"/>
            <a:ext cx="935502" cy="239151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5217707" y="2934521"/>
            <a:ext cx="597877" cy="1090246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15584" y="2934521"/>
            <a:ext cx="576775" cy="1111348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57190" y="193571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92359" y="198495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</a:t>
            </a:r>
            <a:endParaRPr lang="en-US" sz="1052" dirty="0"/>
          </a:p>
        </p:txBody>
      </p:sp>
      <p:sp>
        <p:nvSpPr>
          <p:cNvPr id="68" name="Text 66"/>
          <p:cNvSpPr/>
          <p:nvPr/>
        </p:nvSpPr>
        <p:spPr>
          <a:xfrm>
            <a:off x="6188378" y="230850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775" dirty="0"/>
          </a:p>
        </p:txBody>
      </p:sp>
      <p:sp>
        <p:nvSpPr>
          <p:cNvPr id="69" name="Shape 67">
            <a:hlinkClick r:id="rId4" tooltip="前往回声港" action="ppaction://hlinksldjump"/>
          </p:cNvPr>
          <p:cNvSpPr/>
          <p:nvPr/>
        </p:nvSpPr>
        <p:spPr>
          <a:xfrm>
            <a:off x="6279818" y="1858342"/>
            <a:ext cx="464234" cy="67524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08218" y="1780970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43387" y="183020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</a:t>
            </a:r>
            <a:endParaRPr lang="en-US" sz="1052" dirty="0"/>
          </a:p>
        </p:txBody>
      </p:sp>
      <p:sp>
        <p:nvSpPr>
          <p:cNvPr id="72" name="Text 70"/>
          <p:cNvSpPr/>
          <p:nvPr/>
        </p:nvSpPr>
        <p:spPr>
          <a:xfrm>
            <a:off x="4739406" y="215376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青屿</a:t>
            </a:r>
            <a:endParaRPr lang="en-US" sz="775" dirty="0"/>
          </a:p>
        </p:txBody>
      </p:sp>
      <p:sp>
        <p:nvSpPr>
          <p:cNvPr id="73" name="Shape 71"/>
          <p:cNvSpPr/>
          <p:nvPr/>
        </p:nvSpPr>
        <p:spPr>
          <a:xfrm>
            <a:off x="6624476" y="2969690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59646" y="301892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</a:t>
            </a:r>
            <a:endParaRPr lang="en-US" sz="1052" dirty="0"/>
          </a:p>
        </p:txBody>
      </p:sp>
      <p:sp>
        <p:nvSpPr>
          <p:cNvPr id="75" name="Text 73"/>
          <p:cNvSpPr/>
          <p:nvPr/>
        </p:nvSpPr>
        <p:spPr>
          <a:xfrm>
            <a:off x="6455664" y="334248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南汐</a:t>
            </a:r>
            <a:endParaRPr lang="en-US" sz="775" dirty="0"/>
          </a:p>
        </p:txBody>
      </p:sp>
      <p:sp>
        <p:nvSpPr>
          <p:cNvPr id="76" name="Shape 74"/>
          <p:cNvSpPr/>
          <p:nvPr/>
        </p:nvSpPr>
        <p:spPr>
          <a:xfrm>
            <a:off x="4725338" y="3018927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60507" y="3068164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</a:t>
            </a:r>
            <a:endParaRPr lang="en-US" sz="1052" dirty="0"/>
          </a:p>
        </p:txBody>
      </p:sp>
      <p:sp>
        <p:nvSpPr>
          <p:cNvPr id="78" name="Text 76"/>
          <p:cNvSpPr/>
          <p:nvPr/>
        </p:nvSpPr>
        <p:spPr>
          <a:xfrm>
            <a:off x="4556526" y="3391721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白河</a:t>
            </a:r>
            <a:endParaRPr lang="en-US" sz="775" dirty="0"/>
          </a:p>
        </p:txBody>
      </p:sp>
      <p:sp>
        <p:nvSpPr>
          <p:cNvPr id="79" name="Shape 77"/>
          <p:cNvSpPr/>
          <p:nvPr/>
        </p:nvSpPr>
        <p:spPr>
          <a:xfrm>
            <a:off x="5062962" y="3870022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98132" y="3919259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</a:t>
            </a:r>
            <a:endParaRPr lang="en-US" sz="1052" dirty="0"/>
          </a:p>
        </p:txBody>
      </p:sp>
      <p:sp>
        <p:nvSpPr>
          <p:cNvPr id="81" name="Text 79"/>
          <p:cNvSpPr/>
          <p:nvPr/>
        </p:nvSpPr>
        <p:spPr>
          <a:xfrm>
            <a:off x="4894150" y="4242816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漫游者</a:t>
            </a:r>
            <a:endParaRPr lang="en-US" sz="775" dirty="0"/>
          </a:p>
        </p:txBody>
      </p:sp>
      <p:sp>
        <p:nvSpPr>
          <p:cNvPr id="82" name="Shape 80"/>
          <p:cNvSpPr/>
          <p:nvPr/>
        </p:nvSpPr>
        <p:spPr>
          <a:xfrm>
            <a:off x="6237615" y="389112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72784" y="394036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</a:t>
            </a:r>
            <a:endParaRPr lang="en-US" sz="1052" dirty="0"/>
          </a:p>
        </p:txBody>
      </p:sp>
      <p:sp>
        <p:nvSpPr>
          <p:cNvPr id="84" name="Text 82"/>
          <p:cNvSpPr/>
          <p:nvPr/>
        </p:nvSpPr>
        <p:spPr>
          <a:xfrm>
            <a:off x="6068802" y="426391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霓虹列车</a:t>
            </a:r>
            <a:endParaRPr lang="en-US" sz="775" dirty="0"/>
          </a:p>
        </p:txBody>
      </p:sp>
      <p:sp>
        <p:nvSpPr>
          <p:cNvPr id="85" name="Shape 83"/>
          <p:cNvSpPr/>
          <p:nvPr/>
        </p:nvSpPr>
        <p:spPr>
          <a:xfrm>
            <a:off x="5442790" y="2561727"/>
            <a:ext cx="745588" cy="745588"/>
          </a:xfrm>
          <a:prstGeom prst="ellipse">
            <a:avLst/>
          </a:prstGeom>
          <a:solidFill>
            <a:srgbClr val="102520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513129" y="2632065"/>
            <a:ext cx="604911" cy="604911"/>
          </a:xfrm>
          <a:prstGeom prst="ellipse">
            <a:avLst/>
          </a:prstGeom>
          <a:solidFill>
            <a:srgbClr val="286054"/>
          </a:solidFill>
          <a:ln w="7034">
            <a:solidFill>
              <a:srgbClr val="28605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18636" y="2702404"/>
            <a:ext cx="393895" cy="429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</a:t>
            </a:r>
            <a:endParaRPr lang="en-US" sz="2160" dirty="0"/>
          </a:p>
        </p:txBody>
      </p:sp>
      <p:sp>
        <p:nvSpPr>
          <p:cNvPr id="88" name="Text 86"/>
          <p:cNvSpPr/>
          <p:nvPr/>
        </p:nvSpPr>
        <p:spPr>
          <a:xfrm>
            <a:off x="5414655" y="3377653"/>
            <a:ext cx="801858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1274" dirty="0"/>
          </a:p>
        </p:txBody>
      </p:sp>
      <p:sp>
        <p:nvSpPr>
          <p:cNvPr id="89" name="Shape 87"/>
          <p:cNvSpPr/>
          <p:nvPr/>
        </p:nvSpPr>
        <p:spPr>
          <a:xfrm>
            <a:off x="6096938" y="2414016"/>
            <a:ext cx="393895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32107" y="2435118"/>
            <a:ext cx="323557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合唱</a:t>
            </a:r>
            <a:endParaRPr lang="en-US" sz="720" dirty="0"/>
          </a:p>
        </p:txBody>
      </p:sp>
      <p:sp>
        <p:nvSpPr>
          <p:cNvPr id="91" name="Text 89"/>
          <p:cNvSpPr/>
          <p:nvPr/>
        </p:nvSpPr>
        <p:spPr>
          <a:xfrm>
            <a:off x="4999658" y="2421050"/>
            <a:ext cx="38686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BBA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665" dirty="0"/>
          </a:p>
        </p:txBody>
      </p:sp>
      <p:sp>
        <p:nvSpPr>
          <p:cNvPr id="92" name="Text 90"/>
          <p:cNvSpPr/>
          <p:nvPr/>
        </p:nvSpPr>
        <p:spPr>
          <a:xfrm>
            <a:off x="6209479" y="3546465"/>
            <a:ext cx="45720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665" dirty="0"/>
          </a:p>
        </p:txBody>
      </p:sp>
      <p:sp>
        <p:nvSpPr>
          <p:cNvPr id="93" name="Text 91"/>
          <p:cNvSpPr/>
          <p:nvPr/>
        </p:nvSpPr>
        <p:spPr>
          <a:xfrm>
            <a:off x="4612796" y="4664847"/>
            <a:ext cx="2405575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第一步，选哪一位？</a:t>
            </a:r>
            <a:endParaRPr lang="en-US" sz="1108" dirty="0"/>
          </a:p>
        </p:txBody>
      </p:sp>
      <p:sp>
        <p:nvSpPr>
          <p:cNvPr id="94" name="Shape 92"/>
          <p:cNvSpPr/>
          <p:nvPr/>
        </p:nvSpPr>
        <p:spPr>
          <a:xfrm>
            <a:off x="4612796" y="5037641"/>
            <a:ext cx="2405575" cy="555674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32372" y="5136114"/>
            <a:ext cx="562708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线索</a:t>
            </a:r>
            <a:endParaRPr lang="en-US" sz="720" dirty="0"/>
          </a:p>
        </p:txBody>
      </p:sp>
      <p:sp>
        <p:nvSpPr>
          <p:cNvPr id="96" name="Text 94"/>
          <p:cNvSpPr/>
          <p:nvPr/>
        </p:nvSpPr>
        <p:spPr>
          <a:xfrm>
            <a:off x="4732372" y="5354164"/>
            <a:ext cx="2166425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《慢速回声》里，还有另一组声音。</a:t>
            </a:r>
            <a:endParaRPr lang="en-US" sz="720" dirty="0"/>
          </a:p>
        </p:txBody>
      </p:sp>
      <p:sp>
        <p:nvSpPr>
          <p:cNvPr id="97" name="Shape 95">
            <a:hlinkClick r:id="rId5" tooltip="第1步：回声港" action="ppaction://hlinksldjump"/>
          </p:cNvPr>
          <p:cNvSpPr/>
          <p:nvPr/>
        </p:nvSpPr>
        <p:spPr>
          <a:xfrm>
            <a:off x="6300919" y="1858342"/>
            <a:ext cx="520505" cy="78075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12796" y="5748059"/>
            <a:ext cx="2405575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9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任务预先验证可达；全部为虚构演示数据。</a:t>
            </a:r>
            <a:endParaRPr lang="en-US" sz="609" dirty="0"/>
          </a:p>
        </p:txBody>
      </p:sp>
      <p:sp>
        <p:nvSpPr>
          <p:cNvPr id="99" name="Shape 97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01" name="Text 99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规则在开始前可见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步数上限、关系类型、图谱版本固定。</a:t>
            </a:r>
            <a:endParaRPr lang="en-US" sz="1240" dirty="0"/>
          </a:p>
        </p:txBody>
      </p:sp>
      <p:sp>
        <p:nvSpPr>
          <p:cNvPr id="103" name="Shape 101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05" name="Text 103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先验证可达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发布前用程序检查任务；不要让模型现编无法完成的目标。</a:t>
            </a:r>
            <a:endParaRPr lang="en-US" sz="1240" dirty="0"/>
          </a:p>
        </p:txBody>
      </p:sp>
      <p:sp>
        <p:nvSpPr>
          <p:cNvPr id="107" name="Shape 105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09" name="Text 107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不等于音乐考试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线索引向作品，让普通听众也能进行有理由的选择。</a:t>
            </a:r>
            <a:endParaRPr lang="en-US" sz="1240" dirty="0"/>
          </a:p>
        </p:txBody>
      </p:sp>
      <p:sp>
        <p:nvSpPr>
          <p:cNvPr id="111" name="Text 109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14" name="Text 112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15" name="Text 113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26 / 44</a:t>
            </a:r>
            <a:endParaRPr lang="en-US" sz="8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M07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知道走了几步，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也知道为什么走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“我听见了连接作品，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现在想看看下一段。”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点击许岚，完成第2步。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返回可重开任务；本原型不含实时计分。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路线挑战  /  1 · 2</a:t>
            </a:r>
            <a:endParaRPr lang="en-US" sz="1163" dirty="0"/>
          </a:p>
        </p:txBody>
      </p:sp>
      <p:sp>
        <p:nvSpPr>
          <p:cNvPr id="24" name="Text 22"/>
          <p:cNvSpPr/>
          <p:nvPr/>
        </p:nvSpPr>
        <p:spPr>
          <a:xfrm>
            <a:off x="4605762" y="1098687"/>
            <a:ext cx="2419643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已走：林曜 → 回声港    ·    目标：许岚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4612796" y="1394108"/>
            <a:ext cx="696351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7966" y="1415210"/>
            <a:ext cx="626012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作品合作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83135" y="1766902"/>
            <a:ext cx="2278966" cy="2489982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6353" y="1963850"/>
            <a:ext cx="1772529" cy="2103120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9572" y="2160798"/>
            <a:ext cx="1266092" cy="1716258"/>
          </a:xfrm>
          <a:prstGeom prst="ellipse">
            <a:avLst/>
          </a:prstGeom>
          <a:solidFill>
            <a:srgbClr val="0D1016">
              <a:alpha val="0"/>
            </a:srgbClr>
          </a:solidFill>
          <a:ln w="7620">
            <a:solidFill>
              <a:srgbClr val="273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2796" y="1626225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4064" y="225223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5332" y="287825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6599" y="35042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7867" y="41302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69135" y="1886478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41861" y="251249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13129" y="313850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4396" y="37645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55664" y="43905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26932" y="214673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99658" y="277274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0926" y="339875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2193" y="402476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13461" y="1780970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84729" y="240698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57455" y="303299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28722" y="365900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9990" y="428501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71258" y="204122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2526" y="266723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15252" y="329324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86519" y="391925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7787" y="1675462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9055" y="230147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00322" y="292748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73049" y="3553499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4316" y="4179511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15584" y="1935714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86852" y="2561727"/>
            <a:ext cx="10551" cy="10551"/>
          </a:xfrm>
          <a:prstGeom prst="ellipse">
            <a:avLst/>
          </a:prstGeom>
          <a:solidFill>
            <a:srgbClr val="426169"/>
          </a:solidFill>
          <a:ln w="7034">
            <a:solidFill>
              <a:srgbClr val="4261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5815584" y="2090459"/>
            <a:ext cx="696351" cy="844062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5062962" y="1935714"/>
            <a:ext cx="752622" cy="998806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5584" y="2934521"/>
            <a:ext cx="963637" cy="189914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4880082" y="2934521"/>
            <a:ext cx="935502" cy="239151"/>
          </a:xfrm>
          <a:prstGeom prst="line">
            <a:avLst/>
          </a:prstGeom>
          <a:noFill/>
          <a:ln w="7034">
            <a:solidFill>
              <a:srgbClr val="72E4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5217707" y="2934521"/>
            <a:ext cx="597877" cy="1090246"/>
          </a:xfrm>
          <a:prstGeom prst="line">
            <a:avLst/>
          </a:prstGeom>
          <a:noFill/>
          <a:ln w="7034">
            <a:solidFill>
              <a:srgbClr val="BBA7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15584" y="2934521"/>
            <a:ext cx="576775" cy="1111348"/>
          </a:xfrm>
          <a:prstGeom prst="line">
            <a:avLst/>
          </a:prstGeom>
          <a:noFill/>
          <a:ln w="7034">
            <a:solidFill>
              <a:srgbClr val="727B8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57190" y="193571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92359" y="198495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</a:t>
            </a:r>
            <a:endParaRPr lang="en-US" sz="1052" dirty="0"/>
          </a:p>
        </p:txBody>
      </p:sp>
      <p:sp>
        <p:nvSpPr>
          <p:cNvPr id="68" name="Text 66"/>
          <p:cNvSpPr/>
          <p:nvPr/>
        </p:nvSpPr>
        <p:spPr>
          <a:xfrm>
            <a:off x="6188378" y="230850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许岚</a:t>
            </a:r>
            <a:endParaRPr lang="en-US" sz="775" dirty="0"/>
          </a:p>
        </p:txBody>
      </p:sp>
      <p:sp>
        <p:nvSpPr>
          <p:cNvPr id="69" name="Shape 67">
            <a:hlinkClick r:id="rId4" tooltip="前往许岚" action="ppaction://hlinksldjump"/>
          </p:cNvPr>
          <p:cNvSpPr/>
          <p:nvPr/>
        </p:nvSpPr>
        <p:spPr>
          <a:xfrm>
            <a:off x="6279818" y="1858342"/>
            <a:ext cx="464234" cy="67524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08218" y="1780970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43387" y="183020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</a:t>
            </a:r>
            <a:endParaRPr lang="en-US" sz="1052" dirty="0"/>
          </a:p>
        </p:txBody>
      </p:sp>
      <p:sp>
        <p:nvSpPr>
          <p:cNvPr id="72" name="Text 70"/>
          <p:cNvSpPr/>
          <p:nvPr/>
        </p:nvSpPr>
        <p:spPr>
          <a:xfrm>
            <a:off x="4739406" y="215376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775" dirty="0"/>
          </a:p>
        </p:txBody>
      </p:sp>
      <p:sp>
        <p:nvSpPr>
          <p:cNvPr id="73" name="Shape 71"/>
          <p:cNvSpPr/>
          <p:nvPr/>
        </p:nvSpPr>
        <p:spPr>
          <a:xfrm>
            <a:off x="6624476" y="2969690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59646" y="3018927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</a:t>
            </a:r>
            <a:endParaRPr lang="en-US" sz="1052" dirty="0"/>
          </a:p>
        </p:txBody>
      </p:sp>
      <p:sp>
        <p:nvSpPr>
          <p:cNvPr id="75" name="Text 73"/>
          <p:cNvSpPr/>
          <p:nvPr/>
        </p:nvSpPr>
        <p:spPr>
          <a:xfrm>
            <a:off x="6455664" y="3342484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北屿</a:t>
            </a:r>
            <a:endParaRPr lang="en-US" sz="775" dirty="0"/>
          </a:p>
        </p:txBody>
      </p:sp>
      <p:sp>
        <p:nvSpPr>
          <p:cNvPr id="76" name="Shape 74"/>
          <p:cNvSpPr/>
          <p:nvPr/>
        </p:nvSpPr>
        <p:spPr>
          <a:xfrm>
            <a:off x="4725338" y="3018927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60507" y="3068164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</a:t>
            </a:r>
            <a:endParaRPr lang="en-US" sz="1052" dirty="0"/>
          </a:p>
        </p:txBody>
      </p:sp>
      <p:sp>
        <p:nvSpPr>
          <p:cNvPr id="78" name="Text 76"/>
          <p:cNvSpPr/>
          <p:nvPr/>
        </p:nvSpPr>
        <p:spPr>
          <a:xfrm>
            <a:off x="4556526" y="3391721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木眠</a:t>
            </a:r>
            <a:endParaRPr lang="en-US" sz="775" dirty="0"/>
          </a:p>
        </p:txBody>
      </p:sp>
      <p:sp>
        <p:nvSpPr>
          <p:cNvPr id="79" name="Shape 77"/>
          <p:cNvSpPr/>
          <p:nvPr/>
        </p:nvSpPr>
        <p:spPr>
          <a:xfrm>
            <a:off x="5062962" y="3870022"/>
            <a:ext cx="309489" cy="309489"/>
          </a:xfrm>
          <a:prstGeom prst="ellipse">
            <a:avLst/>
          </a:prstGeom>
          <a:solidFill>
            <a:srgbClr val="302844"/>
          </a:solidFill>
          <a:ln w="7034">
            <a:solidFill>
              <a:srgbClr val="BBA7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98132" y="3919259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</a:t>
            </a:r>
            <a:endParaRPr lang="en-US" sz="1052" dirty="0"/>
          </a:p>
        </p:txBody>
      </p:sp>
      <p:sp>
        <p:nvSpPr>
          <p:cNvPr id="81" name="Text 79"/>
          <p:cNvSpPr/>
          <p:nvPr/>
        </p:nvSpPr>
        <p:spPr>
          <a:xfrm>
            <a:off x="4894150" y="4242816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夜航班</a:t>
            </a:r>
            <a:endParaRPr lang="en-US" sz="775" dirty="0"/>
          </a:p>
        </p:txBody>
      </p:sp>
      <p:sp>
        <p:nvSpPr>
          <p:cNvPr id="82" name="Shape 80"/>
          <p:cNvSpPr/>
          <p:nvPr/>
        </p:nvSpPr>
        <p:spPr>
          <a:xfrm>
            <a:off x="6237615" y="3891124"/>
            <a:ext cx="309489" cy="309489"/>
          </a:xfrm>
          <a:prstGeom prst="ellipse">
            <a:avLst/>
          </a:prstGeom>
          <a:solidFill>
            <a:srgbClr val="16312F"/>
          </a:solidFill>
          <a:ln w="7034">
            <a:solidFill>
              <a:srgbClr val="458A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72784" y="3940361"/>
            <a:ext cx="239151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</a:t>
            </a:r>
            <a:endParaRPr lang="en-US" sz="1052" dirty="0"/>
          </a:p>
        </p:txBody>
      </p:sp>
      <p:sp>
        <p:nvSpPr>
          <p:cNvPr id="84" name="Text 82"/>
          <p:cNvSpPr/>
          <p:nvPr/>
        </p:nvSpPr>
        <p:spPr>
          <a:xfrm>
            <a:off x="6068802" y="4263918"/>
            <a:ext cx="647114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白河</a:t>
            </a:r>
            <a:endParaRPr lang="en-US" sz="775" dirty="0"/>
          </a:p>
        </p:txBody>
      </p:sp>
      <p:sp>
        <p:nvSpPr>
          <p:cNvPr id="85" name="Shape 83"/>
          <p:cNvSpPr/>
          <p:nvPr/>
        </p:nvSpPr>
        <p:spPr>
          <a:xfrm>
            <a:off x="5442790" y="2561727"/>
            <a:ext cx="745588" cy="745588"/>
          </a:xfrm>
          <a:prstGeom prst="ellipse">
            <a:avLst/>
          </a:prstGeom>
          <a:solidFill>
            <a:srgbClr val="102520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513129" y="2632065"/>
            <a:ext cx="604911" cy="604911"/>
          </a:xfrm>
          <a:prstGeom prst="ellipse">
            <a:avLst/>
          </a:prstGeom>
          <a:solidFill>
            <a:srgbClr val="286054"/>
          </a:solidFill>
          <a:ln w="7034">
            <a:solidFill>
              <a:srgbClr val="28605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18636" y="2702404"/>
            <a:ext cx="393895" cy="429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</a:t>
            </a:r>
            <a:endParaRPr lang="en-US" sz="2160" dirty="0"/>
          </a:p>
        </p:txBody>
      </p:sp>
      <p:sp>
        <p:nvSpPr>
          <p:cNvPr id="88" name="Text 86"/>
          <p:cNvSpPr/>
          <p:nvPr/>
        </p:nvSpPr>
        <p:spPr>
          <a:xfrm>
            <a:off x="5414655" y="3377653"/>
            <a:ext cx="801858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1274" dirty="0"/>
          </a:p>
        </p:txBody>
      </p:sp>
      <p:sp>
        <p:nvSpPr>
          <p:cNvPr id="89" name="Shape 87"/>
          <p:cNvSpPr/>
          <p:nvPr/>
        </p:nvSpPr>
        <p:spPr>
          <a:xfrm>
            <a:off x="6096938" y="2414016"/>
            <a:ext cx="393895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32107" y="2435118"/>
            <a:ext cx="323557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合唱</a:t>
            </a:r>
            <a:endParaRPr lang="en-US" sz="720" dirty="0"/>
          </a:p>
        </p:txBody>
      </p:sp>
      <p:sp>
        <p:nvSpPr>
          <p:cNvPr id="91" name="Text 89"/>
          <p:cNvSpPr/>
          <p:nvPr/>
        </p:nvSpPr>
        <p:spPr>
          <a:xfrm>
            <a:off x="4999658" y="2421050"/>
            <a:ext cx="38686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BBA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</a:t>
            </a:r>
            <a:endParaRPr lang="en-US" sz="665" dirty="0"/>
          </a:p>
        </p:txBody>
      </p:sp>
      <p:sp>
        <p:nvSpPr>
          <p:cNvPr id="92" name="Text 90"/>
          <p:cNvSpPr/>
          <p:nvPr/>
        </p:nvSpPr>
        <p:spPr>
          <a:xfrm>
            <a:off x="6209479" y="3546465"/>
            <a:ext cx="457200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词曲</a:t>
            </a:r>
            <a:endParaRPr lang="en-US" sz="665" dirty="0"/>
          </a:p>
        </p:txBody>
      </p:sp>
      <p:sp>
        <p:nvSpPr>
          <p:cNvPr id="93" name="Text 91"/>
          <p:cNvSpPr/>
          <p:nvPr/>
        </p:nvSpPr>
        <p:spPr>
          <a:xfrm>
            <a:off x="4612796" y="4650779"/>
            <a:ext cx="2405575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还差一步，找到许岚。</a:t>
            </a:r>
            <a:endParaRPr lang="en-US" sz="1108" dirty="0"/>
          </a:p>
        </p:txBody>
      </p:sp>
      <p:sp>
        <p:nvSpPr>
          <p:cNvPr id="94" name="Shape 92"/>
          <p:cNvSpPr/>
          <p:nvPr/>
        </p:nvSpPr>
        <p:spPr>
          <a:xfrm>
            <a:off x="4612796" y="5030607"/>
            <a:ext cx="2405575" cy="562708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32372" y="5129081"/>
            <a:ext cx="2159391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下一首连接作品</a:t>
            </a:r>
            <a:endParaRPr lang="en-US" sz="720" dirty="0"/>
          </a:p>
        </p:txBody>
      </p:sp>
      <p:sp>
        <p:nvSpPr>
          <p:cNvPr id="96" name="Text 94"/>
          <p:cNvSpPr/>
          <p:nvPr/>
        </p:nvSpPr>
        <p:spPr>
          <a:xfrm>
            <a:off x="4732372" y="5361198"/>
            <a:ext cx="2159391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《微光》  /  回声港 × 许岚</a:t>
            </a:r>
            <a:endParaRPr lang="en-US" sz="831" dirty="0"/>
          </a:p>
        </p:txBody>
      </p:sp>
      <p:sp>
        <p:nvSpPr>
          <p:cNvPr id="97" name="Shape 95">
            <a:hlinkClick r:id="rId5" tooltip="第2步：许岚，完成挑战" action="ppaction://hlinksldjump"/>
          </p:cNvPr>
          <p:cNvSpPr/>
          <p:nvPr/>
        </p:nvSpPr>
        <p:spPr>
          <a:xfrm>
            <a:off x="6272784" y="1795038"/>
            <a:ext cx="555674" cy="81592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12796" y="5733991"/>
            <a:ext cx="2405575" cy="19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9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回退不会改变已保存规则；本原型仅展示预设分支。</a:t>
            </a:r>
            <a:endParaRPr lang="en-US" sz="609" dirty="0"/>
          </a:p>
        </p:txBody>
      </p:sp>
      <p:sp>
        <p:nvSpPr>
          <p:cNvPr id="99" name="Shape 97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101" name="Text 99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进度与目标同屏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顶部保留目标和当前步数，避免用户只顾旋转图。</a:t>
            </a:r>
            <a:endParaRPr lang="en-US" sz="1240" dirty="0"/>
          </a:p>
        </p:txBody>
      </p:sp>
      <p:sp>
        <p:nvSpPr>
          <p:cNvPr id="103" name="Shape 101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05" name="Text 103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每一步可复核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路线保存所使用的具体边，而不只是艺人名字。</a:t>
            </a:r>
            <a:endParaRPr lang="en-US" sz="1240" dirty="0"/>
          </a:p>
        </p:txBody>
      </p:sp>
      <p:sp>
        <p:nvSpPr>
          <p:cNvPr id="107" name="Shape 105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09" name="Text 107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最短要限定范围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只能称当前图谱与规则下最短，不宣称现实世界最短关系链。</a:t>
            </a:r>
            <a:endParaRPr lang="en-US" sz="1240" dirty="0"/>
          </a:p>
        </p:txBody>
      </p:sp>
      <p:sp>
        <p:nvSpPr>
          <p:cNvPr id="111" name="Text 109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14" name="Text 112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15" name="Text 113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27 / 44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M08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不只通关，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还带走音乐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“我走完一条路线，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也听见了连接他们的歌。”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发给朋友 → M09；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留下发现 → M10。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你走出了一条路线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5358384" y="1183093"/>
            <a:ext cx="914400" cy="211015"/>
          </a:xfrm>
          <a:prstGeom prst="roundRect">
            <a:avLst>
              <a:gd name="adj" fmla="val 33333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3553" y="1204194"/>
            <a:ext cx="844062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挑战完成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612796" y="1534785"/>
            <a:ext cx="2405575" cy="3130062"/>
          </a:xfrm>
          <a:prstGeom prst="roundRect">
            <a:avLst>
              <a:gd name="adj" fmla="val 2924"/>
            </a:avLst>
          </a:prstGeom>
          <a:solidFill>
            <a:srgbClr val="112624"/>
          </a:solidFill>
          <a:ln w="8255">
            <a:solidFill>
              <a:srgbClr val="2852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9406" y="1661394"/>
            <a:ext cx="2152357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  /  YOUR ROUTE</a:t>
            </a:r>
            <a:endParaRPr lang="en-US" sz="665" dirty="0"/>
          </a:p>
        </p:txBody>
      </p:sp>
      <p:sp>
        <p:nvSpPr>
          <p:cNvPr id="28" name="Text 26"/>
          <p:cNvSpPr/>
          <p:nvPr/>
        </p:nvSpPr>
        <p:spPr>
          <a:xfrm>
            <a:off x="4739406" y="1949782"/>
            <a:ext cx="2152357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你会怎么走？</a:t>
            </a:r>
            <a:endParaRPr lang="en-US" sz="1717" dirty="0"/>
          </a:p>
        </p:txBody>
      </p:sp>
      <p:sp>
        <p:nvSpPr>
          <p:cNvPr id="29" name="Shape 27"/>
          <p:cNvSpPr/>
          <p:nvPr/>
        </p:nvSpPr>
        <p:spPr>
          <a:xfrm>
            <a:off x="5020759" y="2709438"/>
            <a:ext cx="1540412" cy="583809"/>
          </a:xfrm>
          <a:prstGeom prst="line">
            <a:avLst/>
          </a:prstGeom>
          <a:noFill/>
          <a:ln w="12661">
            <a:solidFill>
              <a:srgbClr val="72E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5161436" y="3293247"/>
            <a:ext cx="1399735" cy="604911"/>
          </a:xfrm>
          <a:prstGeom prst="line">
            <a:avLst/>
          </a:prstGeom>
          <a:noFill/>
          <a:ln w="12661">
            <a:solidFill>
              <a:srgbClr val="BBA7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80082" y="2568761"/>
            <a:ext cx="295422" cy="295422"/>
          </a:xfrm>
          <a:prstGeom prst="ellipse">
            <a:avLst/>
          </a:prstGeom>
          <a:solidFill>
            <a:srgbClr val="285047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4236" y="2920453"/>
            <a:ext cx="654148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942" dirty="0"/>
          </a:p>
        </p:txBody>
      </p:sp>
      <p:sp>
        <p:nvSpPr>
          <p:cNvPr id="33" name="Shape 31"/>
          <p:cNvSpPr/>
          <p:nvPr/>
        </p:nvSpPr>
        <p:spPr>
          <a:xfrm>
            <a:off x="6420495" y="3152570"/>
            <a:ext cx="295422" cy="295422"/>
          </a:xfrm>
          <a:prstGeom prst="ellipse">
            <a:avLst/>
          </a:prstGeom>
          <a:solidFill>
            <a:srgbClr val="2E2848"/>
          </a:solidFill>
          <a:ln w="8441">
            <a:solidFill>
              <a:srgbClr val="BBA7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4649" y="3504262"/>
            <a:ext cx="654148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</a:t>
            </a:r>
            <a:endParaRPr lang="en-US" sz="942" dirty="0"/>
          </a:p>
        </p:txBody>
      </p:sp>
      <p:sp>
        <p:nvSpPr>
          <p:cNvPr id="35" name="Shape 33"/>
          <p:cNvSpPr/>
          <p:nvPr/>
        </p:nvSpPr>
        <p:spPr>
          <a:xfrm>
            <a:off x="5020759" y="3757481"/>
            <a:ext cx="295422" cy="295422"/>
          </a:xfrm>
          <a:prstGeom prst="ellipse">
            <a:avLst/>
          </a:prstGeom>
          <a:solidFill>
            <a:srgbClr val="285047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4913" y="4109173"/>
            <a:ext cx="654148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许岚</a:t>
            </a:r>
            <a:endParaRPr lang="en-US" sz="942" dirty="0"/>
          </a:p>
        </p:txBody>
      </p:sp>
      <p:sp>
        <p:nvSpPr>
          <p:cNvPr id="37" name="Text 35"/>
          <p:cNvSpPr/>
          <p:nvPr/>
        </p:nvSpPr>
        <p:spPr>
          <a:xfrm>
            <a:off x="4739406" y="4214681"/>
            <a:ext cx="2152357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步  ·  2 首连接作品</a:t>
            </a:r>
            <a:endParaRPr lang="en-US" sz="942" dirty="0"/>
          </a:p>
        </p:txBody>
      </p:sp>
      <p:sp>
        <p:nvSpPr>
          <p:cNvPr id="38" name="Text 36"/>
          <p:cNvSpPr/>
          <p:nvPr/>
        </p:nvSpPr>
        <p:spPr>
          <a:xfrm>
            <a:off x="4739406" y="4460865"/>
            <a:ext cx="2152357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9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演示路线 · 虚构艺人与作品</a:t>
            </a:r>
            <a:endParaRPr lang="en-US" sz="609" dirty="0"/>
          </a:p>
        </p:txBody>
      </p:sp>
      <p:sp>
        <p:nvSpPr>
          <p:cNvPr id="39" name="Text 37"/>
          <p:cNvSpPr/>
          <p:nvPr/>
        </p:nvSpPr>
        <p:spPr>
          <a:xfrm>
            <a:off x="4612796" y="4847727"/>
            <a:ext cx="2405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两次跳转，两首连接他们的歌。</a:t>
            </a:r>
            <a:endParaRPr lang="en-US" sz="886" dirty="0"/>
          </a:p>
        </p:txBody>
      </p:sp>
      <p:sp>
        <p:nvSpPr>
          <p:cNvPr id="40" name="Shape 38"/>
          <p:cNvSpPr/>
          <p:nvPr/>
        </p:nvSpPr>
        <p:spPr>
          <a:xfrm>
            <a:off x="4612796" y="5227554"/>
            <a:ext cx="2405575" cy="351692"/>
          </a:xfrm>
          <a:prstGeom prst="roundRect">
            <a:avLst>
              <a:gd name="adj" fmla="val 2400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76101" y="5248656"/>
            <a:ext cx="2278966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把这道题发给朋友</a:t>
            </a:r>
            <a:endParaRPr lang="en-US" sz="997" dirty="0"/>
          </a:p>
        </p:txBody>
      </p:sp>
      <p:sp>
        <p:nvSpPr>
          <p:cNvPr id="42" name="Shape 40">
            <a:hlinkClick r:id="rId4" tooltip="把这道题发给朋友" action="ppaction://hlinksldjump"/>
          </p:cNvPr>
          <p:cNvSpPr/>
          <p:nvPr/>
        </p:nvSpPr>
        <p:spPr>
          <a:xfrm>
            <a:off x="4612796" y="5227554"/>
            <a:ext cx="2405575" cy="3516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2796" y="5691788"/>
            <a:ext cx="2405575" cy="288388"/>
          </a:xfrm>
          <a:prstGeom prst="roundRect">
            <a:avLst>
              <a:gd name="adj" fmla="val 29268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6101" y="5712890"/>
            <a:ext cx="2278966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留下这次发现</a:t>
            </a:r>
            <a:endParaRPr lang="en-US" sz="997" dirty="0"/>
          </a:p>
        </p:txBody>
      </p:sp>
      <p:sp>
        <p:nvSpPr>
          <p:cNvPr id="45" name="Shape 43">
            <a:hlinkClick r:id="rId5" tooltip="留下这次发现" action="ppaction://hlinksldjump"/>
          </p:cNvPr>
          <p:cNvSpPr/>
          <p:nvPr/>
        </p:nvSpPr>
        <p:spPr>
          <a:xfrm>
            <a:off x="4612796" y="5691788"/>
            <a:ext cx="2405575" cy="28838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结果不是只有步数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呈现沿途作品，让游戏结果回到音乐内容。</a:t>
            </a:r>
            <a:endParaRPr lang="en-US" sz="1240" dirty="0"/>
          </a:p>
        </p:txBody>
      </p:sp>
      <p:sp>
        <p:nvSpPr>
          <p:cNvPr id="50" name="Shape 48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52" name="Text 50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保留多种好结果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走得短和发现喜欢的歌是两种结果，不强制压成一个分数。</a:t>
            </a:r>
            <a:endParaRPr lang="en-US" sz="1240" dirty="0"/>
          </a:p>
        </p:txBody>
      </p:sp>
      <p:sp>
        <p:nvSpPr>
          <p:cNvPr id="54" name="Shape 52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56" name="Text 54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数据不可冒充实测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本页成功、步数、作品数来自演示流程，不是用户测试成绩。</a:t>
            </a:r>
            <a:endParaRPr lang="en-US" sz="1240" dirty="0"/>
          </a:p>
        </p:txBody>
      </p:sp>
      <p:sp>
        <p:nvSpPr>
          <p:cNvPr id="58" name="Text 56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61" name="Text 59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28 / 44</a:t>
            </a:r>
            <a:endParaRPr lang="en-US" sz="8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M09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分享一张卡，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邀请另一种走法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“这是我的起点和终点，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你会怎么走？”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点击按钮，以朋友视角进入相同任务。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不会真的发布或向联系人发送消息。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8729" y="775130"/>
            <a:ext cx="18288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717" dirty="0"/>
          </a:p>
        </p:txBody>
      </p:sp>
      <p:sp>
        <p:nvSpPr>
          <p:cNvPr id="22" name="Shape 20">
            <a:hlinkClick r:id="rId3" tooltip="返回" action="ppaction://hlinksldjump"/>
          </p:cNvPr>
          <p:cNvSpPr/>
          <p:nvPr/>
        </p:nvSpPr>
        <p:spPr>
          <a:xfrm>
            <a:off x="4542458" y="711825"/>
            <a:ext cx="330591" cy="3798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0082" y="789198"/>
            <a:ext cx="185693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3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挑战卡 · 不剧透</a:t>
            </a:r>
            <a:endParaRPr lang="en-US" sz="1163" dirty="0"/>
          </a:p>
        </p:txBody>
      </p:sp>
      <p:sp>
        <p:nvSpPr>
          <p:cNvPr id="24" name="Shape 22"/>
          <p:cNvSpPr/>
          <p:nvPr/>
        </p:nvSpPr>
        <p:spPr>
          <a:xfrm>
            <a:off x="4612796" y="1183093"/>
            <a:ext cx="2405575" cy="3094892"/>
          </a:xfrm>
          <a:prstGeom prst="roundRect">
            <a:avLst>
              <a:gd name="adj" fmla="val 2924"/>
            </a:avLst>
          </a:prstGeom>
          <a:solidFill>
            <a:srgbClr val="112624"/>
          </a:solidFill>
          <a:ln w="8255">
            <a:solidFill>
              <a:srgbClr val="2852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9406" y="1309702"/>
            <a:ext cx="2152357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  /  YOUR ROUTE</a:t>
            </a:r>
            <a:endParaRPr lang="en-US" sz="665" dirty="0"/>
          </a:p>
        </p:txBody>
      </p:sp>
      <p:sp>
        <p:nvSpPr>
          <p:cNvPr id="26" name="Text 24"/>
          <p:cNvSpPr/>
          <p:nvPr/>
        </p:nvSpPr>
        <p:spPr>
          <a:xfrm>
            <a:off x="4739406" y="1598090"/>
            <a:ext cx="2152357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7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你会怎么走？</a:t>
            </a:r>
            <a:endParaRPr lang="en-US" sz="1717" dirty="0"/>
          </a:p>
        </p:txBody>
      </p:sp>
      <p:sp>
        <p:nvSpPr>
          <p:cNvPr id="27" name="Shape 25"/>
          <p:cNvSpPr/>
          <p:nvPr/>
        </p:nvSpPr>
        <p:spPr>
          <a:xfrm>
            <a:off x="5020759" y="2357745"/>
            <a:ext cx="1540412" cy="583809"/>
          </a:xfrm>
          <a:prstGeom prst="line">
            <a:avLst/>
          </a:prstGeom>
          <a:noFill/>
          <a:ln w="12661">
            <a:solidFill>
              <a:srgbClr val="72E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5161436" y="2941554"/>
            <a:ext cx="1399735" cy="604911"/>
          </a:xfrm>
          <a:prstGeom prst="line">
            <a:avLst/>
          </a:prstGeom>
          <a:noFill/>
          <a:ln w="12661">
            <a:solidFill>
              <a:srgbClr val="BBA7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80082" y="2217068"/>
            <a:ext cx="295422" cy="295422"/>
          </a:xfrm>
          <a:prstGeom prst="ellipse">
            <a:avLst/>
          </a:prstGeom>
          <a:solidFill>
            <a:srgbClr val="285047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4236" y="2568761"/>
            <a:ext cx="654148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942" dirty="0"/>
          </a:p>
        </p:txBody>
      </p:sp>
      <p:sp>
        <p:nvSpPr>
          <p:cNvPr id="31" name="Shape 29"/>
          <p:cNvSpPr/>
          <p:nvPr/>
        </p:nvSpPr>
        <p:spPr>
          <a:xfrm>
            <a:off x="6420495" y="2800878"/>
            <a:ext cx="295422" cy="295422"/>
          </a:xfrm>
          <a:prstGeom prst="ellipse">
            <a:avLst/>
          </a:prstGeom>
          <a:solidFill>
            <a:srgbClr val="2E2848"/>
          </a:solidFill>
          <a:ln w="8441">
            <a:solidFill>
              <a:srgbClr val="BBA7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4649" y="3152570"/>
            <a:ext cx="654148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942" dirty="0"/>
          </a:p>
        </p:txBody>
      </p:sp>
      <p:sp>
        <p:nvSpPr>
          <p:cNvPr id="33" name="Shape 31"/>
          <p:cNvSpPr/>
          <p:nvPr/>
        </p:nvSpPr>
        <p:spPr>
          <a:xfrm>
            <a:off x="5020759" y="3405788"/>
            <a:ext cx="295422" cy="295422"/>
          </a:xfrm>
          <a:prstGeom prst="ellipse">
            <a:avLst/>
          </a:prstGeom>
          <a:solidFill>
            <a:srgbClr val="285047"/>
          </a:solidFill>
          <a:ln w="8441">
            <a:solidFill>
              <a:srgbClr val="72E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4913" y="3757481"/>
            <a:ext cx="654148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许岚</a:t>
            </a:r>
            <a:endParaRPr lang="en-US" sz="942" dirty="0"/>
          </a:p>
        </p:txBody>
      </p:sp>
      <p:sp>
        <p:nvSpPr>
          <p:cNvPr id="35" name="Text 33"/>
          <p:cNvSpPr/>
          <p:nvPr/>
        </p:nvSpPr>
        <p:spPr>
          <a:xfrm>
            <a:off x="4739406" y="3827819"/>
            <a:ext cx="2152357" cy="16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步  ·  2 首连接作品</a:t>
            </a:r>
            <a:endParaRPr lang="en-US" sz="942" dirty="0"/>
          </a:p>
        </p:txBody>
      </p:sp>
      <p:sp>
        <p:nvSpPr>
          <p:cNvPr id="36" name="Text 34"/>
          <p:cNvSpPr/>
          <p:nvPr/>
        </p:nvSpPr>
        <p:spPr>
          <a:xfrm>
            <a:off x="4739406" y="4074004"/>
            <a:ext cx="2152357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9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演示路线 · 虚构艺人与作品</a:t>
            </a:r>
            <a:endParaRPr lang="en-US" sz="609" dirty="0"/>
          </a:p>
        </p:txBody>
      </p:sp>
      <p:sp>
        <p:nvSpPr>
          <p:cNvPr id="37" name="Text 35"/>
          <p:cNvSpPr/>
          <p:nvPr/>
        </p:nvSpPr>
        <p:spPr>
          <a:xfrm>
            <a:off x="4612796" y="4460865"/>
            <a:ext cx="240557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分享起终点与规则，不直接公开答案。</a:t>
            </a:r>
            <a:endParaRPr lang="en-US" sz="775" dirty="0"/>
          </a:p>
        </p:txBody>
      </p:sp>
      <p:sp>
        <p:nvSpPr>
          <p:cNvPr id="38" name="Shape 36"/>
          <p:cNvSpPr/>
          <p:nvPr/>
        </p:nvSpPr>
        <p:spPr>
          <a:xfrm>
            <a:off x="4612796" y="4833659"/>
            <a:ext cx="2405575" cy="583809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25338" y="4932133"/>
            <a:ext cx="2166425" cy="15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朋友收到后，可以走同一道题。</a:t>
            </a:r>
            <a:endParaRPr lang="en-US" sz="831" dirty="0"/>
          </a:p>
        </p:txBody>
      </p:sp>
      <p:sp>
        <p:nvSpPr>
          <p:cNvPr id="40" name="Text 38"/>
          <p:cNvSpPr/>
          <p:nvPr/>
        </p:nvSpPr>
        <p:spPr>
          <a:xfrm>
            <a:off x="4725338" y="5185351"/>
            <a:ext cx="2166425" cy="11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只分享任务；不公开你的收藏和历史。</a:t>
            </a:r>
            <a:endParaRPr lang="en-US" sz="665" dirty="0"/>
          </a:p>
        </p:txBody>
      </p:sp>
      <p:sp>
        <p:nvSpPr>
          <p:cNvPr id="41" name="Shape 39"/>
          <p:cNvSpPr/>
          <p:nvPr/>
        </p:nvSpPr>
        <p:spPr>
          <a:xfrm>
            <a:off x="4612796" y="5628484"/>
            <a:ext cx="2405575" cy="344658"/>
          </a:xfrm>
          <a:prstGeom prst="roundRect">
            <a:avLst>
              <a:gd name="adj" fmla="val 2449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76101" y="5649585"/>
            <a:ext cx="2278966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体验朋友视角：开始同题</a:t>
            </a:r>
            <a:endParaRPr lang="en-US" sz="997" dirty="0"/>
          </a:p>
        </p:txBody>
      </p:sp>
      <p:sp>
        <p:nvSpPr>
          <p:cNvPr id="43" name="Shape 41">
            <a:hlinkClick r:id="rId4" tooltip="体验朋友视角：开始同题" action="ppaction://hlinksldjump"/>
          </p:cNvPr>
          <p:cNvSpPr/>
          <p:nvPr/>
        </p:nvSpPr>
        <p:spPr>
          <a:xfrm>
            <a:off x="4612796" y="5628484"/>
            <a:ext cx="2405575" cy="344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不直接泄露答案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挑战卡隐藏中间节点；纪念版再展示完整路线。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朋友有下一步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分享落地页不是终点，收到后能进入同题。</a:t>
            </a:r>
            <a:endParaRPr lang="en-US" sz="1240" dirty="0"/>
          </a:p>
        </p:txBody>
      </p:sp>
      <p:sp>
        <p:nvSpPr>
          <p:cNvPr id="52" name="Shape 50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54" name="Text 52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不暴露私人历史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任务快照和个人收藏、探索历史分开。</a:t>
            </a:r>
            <a:endParaRPr lang="en-US" sz="1240" dirty="0"/>
          </a:p>
        </p:txBody>
      </p:sp>
      <p:sp>
        <p:nvSpPr>
          <p:cNvPr id="56" name="Text 54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59" name="Text 57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29 / 44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93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  /  M10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下次回来，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还有喜欢的歌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76072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“这次地图里找到的音乐，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我之后还想再听。”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322576" cy="292608"/>
          </a:xfrm>
          <a:prstGeom prst="roundRect">
            <a:avLst>
              <a:gd name="adj" fmla="val 31250"/>
            </a:avLst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47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核心页面 · 可点击跳转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85216" y="450799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点击曲目 → 试听状态；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打开路线或再次出发。</a:t>
            </a:r>
            <a:endParaRPr lang="en-US" sz="12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576072" y="5541264"/>
            <a:ext cx="2194560" cy="429768"/>
          </a:xfrm>
          <a:prstGeom prst="roundRect">
            <a:avLst>
              <a:gd name="adj" fmla="val 19149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49224" y="5568696"/>
            <a:ext cx="2048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返回原型目录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361188"/>
            <a:ext cx="2825496" cy="6018862"/>
          </a:xfrm>
          <a:prstGeom prst="roundRect">
            <a:avLst>
              <a:gd name="adj" fmla="val 6472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402336"/>
            <a:ext cx="2743200" cy="5936566"/>
          </a:xfrm>
          <a:prstGeom prst="roundRect">
            <a:avLst>
              <a:gd name="adj" fmla="val 5333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8729" y="500810"/>
            <a:ext cx="534572" cy="161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41264" y="465641"/>
            <a:ext cx="548640" cy="140677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9646" y="585216"/>
            <a:ext cx="21102" cy="42203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94815" y="564114"/>
            <a:ext cx="21102" cy="63305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543013"/>
            <a:ext cx="21102" cy="84406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5153" y="521911"/>
            <a:ext cx="21102" cy="10550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3627" y="528945"/>
            <a:ext cx="154745" cy="7737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7695" y="543013"/>
            <a:ext cx="105508" cy="49237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406" y="550047"/>
            <a:ext cx="14068" cy="35169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2796" y="831401"/>
            <a:ext cx="2405575" cy="66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MY</a:t>
            </a:r>
            <a:endParaRPr lang="en-US" sz="1883" dirty="0"/>
          </a:p>
          <a:p>
            <a:pPr indent="0" marL="0">
              <a:buNone/>
            </a:pPr>
            <a:r>
              <a:rPr lang="en-US" sz="1883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DISCOVERIES</a:t>
            </a:r>
            <a:endParaRPr lang="en-US" sz="1883" dirty="0"/>
          </a:p>
        </p:txBody>
      </p:sp>
      <p:sp>
        <p:nvSpPr>
          <p:cNvPr id="22" name="Text 20"/>
          <p:cNvSpPr/>
          <p:nvPr/>
        </p:nvSpPr>
        <p:spPr>
          <a:xfrm>
            <a:off x="4612796" y="1731733"/>
            <a:ext cx="2405575" cy="21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不只走过，也留下想听的。</a:t>
            </a:r>
            <a:endParaRPr lang="en-US" sz="1218" dirty="0"/>
          </a:p>
        </p:txBody>
      </p:sp>
      <p:sp>
        <p:nvSpPr>
          <p:cNvPr id="23" name="Shape 21"/>
          <p:cNvSpPr/>
          <p:nvPr/>
        </p:nvSpPr>
        <p:spPr>
          <a:xfrm>
            <a:off x="4612796" y="2153764"/>
            <a:ext cx="2405575" cy="858129"/>
          </a:xfrm>
          <a:prstGeom prst="roundRect">
            <a:avLst>
              <a:gd name="adj" fmla="val 8197"/>
            </a:avLst>
          </a:prstGeom>
          <a:solidFill>
            <a:srgbClr val="14302A"/>
          </a:solidFill>
          <a:ln w="8255">
            <a:solidFill>
              <a:srgbClr val="3157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5338" y="2308508"/>
            <a:ext cx="21734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→ 回声港 → 许岚</a:t>
            </a:r>
            <a:endParaRPr lang="en-US" sz="1108" dirty="0"/>
          </a:p>
        </p:txBody>
      </p:sp>
      <p:sp>
        <p:nvSpPr>
          <p:cNvPr id="25" name="Text 23"/>
          <p:cNvSpPr/>
          <p:nvPr/>
        </p:nvSpPr>
        <p:spPr>
          <a:xfrm>
            <a:off x="4725338" y="2617998"/>
            <a:ext cx="2173458" cy="17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6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步  /  2 首连接作品</a:t>
            </a:r>
            <a:endParaRPr lang="en-US" sz="886" dirty="0"/>
          </a:p>
        </p:txBody>
      </p:sp>
      <p:sp>
        <p:nvSpPr>
          <p:cNvPr id="26" name="Shape 24">
            <a:hlinkClick r:id="rId3" tooltip="打开已走路线" action="ppaction://hlinksldjump"/>
          </p:cNvPr>
          <p:cNvSpPr/>
          <p:nvPr/>
        </p:nvSpPr>
        <p:spPr>
          <a:xfrm>
            <a:off x="4612796" y="2153764"/>
            <a:ext cx="2405575" cy="8581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2796" y="3300281"/>
            <a:ext cx="2405575" cy="17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我的曲目收藏 · 示例</a:t>
            </a:r>
            <a:endParaRPr lang="en-US" sz="1108" dirty="0"/>
          </a:p>
        </p:txBody>
      </p:sp>
      <p:sp>
        <p:nvSpPr>
          <p:cNvPr id="28" name="Shape 26"/>
          <p:cNvSpPr/>
          <p:nvPr/>
        </p:nvSpPr>
        <p:spPr>
          <a:xfrm>
            <a:off x="4612796" y="3708244"/>
            <a:ext cx="506437" cy="506437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3311" y="3758887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53311" y="3790793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53311" y="3822698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3311" y="3854604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53311" y="3886509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3311" y="3918415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3311" y="3950321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53311" y="3982226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53311" y="4014132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3311" y="4046037"/>
            <a:ext cx="415278" cy="81030"/>
          </a:xfrm>
          <a:prstGeom prst="line">
            <a:avLst/>
          </a:prstGeom>
          <a:noFill/>
          <a:ln w="7620">
            <a:solidFill>
              <a:srgbClr val="72E4D4">
                <a:alpha val="4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0693" y="3748759"/>
            <a:ext cx="207639" cy="207639"/>
          </a:xfrm>
          <a:prstGeom prst="ellipse">
            <a:avLst/>
          </a:prstGeom>
          <a:solidFill>
            <a:srgbClr val="72E4D4">
              <a:alpha val="93000"/>
            </a:srgbClr>
          </a:solidFill>
          <a:ln w="12700">
            <a:solidFill>
              <a:srgbClr val="72E4D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55886" y="3769016"/>
            <a:ext cx="40515" cy="278540"/>
          </a:xfrm>
          <a:prstGeom prst="rect">
            <a:avLst/>
          </a:prstGeom>
          <a:solidFill>
            <a:srgbClr val="111E25"/>
          </a:solidFill>
          <a:ln w="8255">
            <a:solidFill>
              <a:srgbClr val="111E2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8118" y="4164037"/>
            <a:ext cx="30893" cy="506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7749" y="4110861"/>
            <a:ext cx="30893" cy="10382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7380" y="4126054"/>
            <a:ext cx="30893" cy="8862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87011" y="4141247"/>
            <a:ext cx="30893" cy="7343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36641" y="4156440"/>
            <a:ext cx="30893" cy="5824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86272" y="4103264"/>
            <a:ext cx="30893" cy="11141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5903" y="4118458"/>
            <a:ext cx="30893" cy="9622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5534" y="4133651"/>
            <a:ext cx="30893" cy="8103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35165" y="4148844"/>
            <a:ext cx="30893" cy="6583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84796" y="4164037"/>
            <a:ext cx="30893" cy="506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53311" y="3814595"/>
            <a:ext cx="364635" cy="29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858" dirty="0"/>
          </a:p>
          <a:p>
            <a:pPr indent="0" marL="0">
              <a:buNone/>
            </a:pPr>
            <a:r>
              <a:rPr lang="en-US" sz="85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858" dirty="0"/>
          </a:p>
        </p:txBody>
      </p:sp>
      <p:sp>
        <p:nvSpPr>
          <p:cNvPr id="52" name="Text 50"/>
          <p:cNvSpPr/>
          <p:nvPr/>
        </p:nvSpPr>
        <p:spPr>
          <a:xfrm>
            <a:off x="5245842" y="3764514"/>
            <a:ext cx="1624818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慢速回声</a:t>
            </a:r>
            <a:endParaRPr lang="en-US" sz="1052" dirty="0"/>
          </a:p>
        </p:txBody>
      </p:sp>
      <p:sp>
        <p:nvSpPr>
          <p:cNvPr id="53" name="Text 51"/>
          <p:cNvSpPr/>
          <p:nvPr/>
        </p:nvSpPr>
        <p:spPr>
          <a:xfrm>
            <a:off x="5245842" y="4038834"/>
            <a:ext cx="1624818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× 回声港</a:t>
            </a:r>
            <a:endParaRPr lang="en-US" sz="720" dirty="0"/>
          </a:p>
        </p:txBody>
      </p:sp>
      <p:sp>
        <p:nvSpPr>
          <p:cNvPr id="54" name="Shape 52">
            <a:hlinkClick r:id="rId4" tooltip="打开试听状态" action="ppaction://hlinksldjump"/>
          </p:cNvPr>
          <p:cNvSpPr/>
          <p:nvPr/>
        </p:nvSpPr>
        <p:spPr>
          <a:xfrm>
            <a:off x="4612796" y="3708244"/>
            <a:ext cx="2405575" cy="5275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2796" y="4446798"/>
            <a:ext cx="506437" cy="506437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53311" y="4497441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53311" y="4529347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53311" y="4561252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53311" y="4593158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53311" y="4625063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53311" y="4656969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53311" y="4688874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53311" y="4720780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53311" y="4752685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53311" y="4784591"/>
            <a:ext cx="415278" cy="81030"/>
          </a:xfrm>
          <a:prstGeom prst="line">
            <a:avLst/>
          </a:prstGeom>
          <a:noFill/>
          <a:ln w="7620">
            <a:solidFill>
              <a:srgbClr val="BBA7F5">
                <a:alpha val="4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40693" y="4487312"/>
            <a:ext cx="207639" cy="207639"/>
          </a:xfrm>
          <a:prstGeom prst="ellipse">
            <a:avLst/>
          </a:prstGeom>
          <a:solidFill>
            <a:srgbClr val="BBA7F5">
              <a:alpha val="93000"/>
            </a:srgbClr>
          </a:solidFill>
          <a:ln w="12700">
            <a:solidFill>
              <a:srgbClr val="BBA7F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55886" y="4507570"/>
            <a:ext cx="40515" cy="278540"/>
          </a:xfrm>
          <a:prstGeom prst="rect">
            <a:avLst/>
          </a:prstGeom>
          <a:solidFill>
            <a:srgbClr val="22202D"/>
          </a:solidFill>
          <a:ln w="8255">
            <a:solidFill>
              <a:srgbClr val="22202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38118" y="4902591"/>
            <a:ext cx="30893" cy="506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87749" y="4849415"/>
            <a:ext cx="30893" cy="10382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37380" y="4864608"/>
            <a:ext cx="30893" cy="8862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87011" y="4879801"/>
            <a:ext cx="30893" cy="7343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6641" y="4894994"/>
            <a:ext cx="30893" cy="5824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86272" y="4841818"/>
            <a:ext cx="30893" cy="11141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35903" y="4857011"/>
            <a:ext cx="30893" cy="9622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85534" y="4872205"/>
            <a:ext cx="30893" cy="81030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35165" y="4887398"/>
            <a:ext cx="30893" cy="6583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84796" y="4902591"/>
            <a:ext cx="30893" cy="506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53311" y="4553149"/>
            <a:ext cx="364635" cy="29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</a:t>
            </a:r>
            <a:endParaRPr lang="en-US" sz="858" dirty="0"/>
          </a:p>
          <a:p>
            <a:pPr indent="0" marL="0">
              <a:buNone/>
            </a:pPr>
            <a:r>
              <a:rPr lang="en-US" sz="85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COLOR</a:t>
            </a:r>
            <a:endParaRPr lang="en-US" sz="858" dirty="0"/>
          </a:p>
        </p:txBody>
      </p:sp>
      <p:sp>
        <p:nvSpPr>
          <p:cNvPr id="79" name="Text 77"/>
          <p:cNvSpPr/>
          <p:nvPr/>
        </p:nvSpPr>
        <p:spPr>
          <a:xfrm>
            <a:off x="5245842" y="4503068"/>
            <a:ext cx="1624818" cy="2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微光</a:t>
            </a:r>
            <a:endParaRPr lang="en-US" sz="1052" dirty="0"/>
          </a:p>
        </p:txBody>
      </p:sp>
      <p:sp>
        <p:nvSpPr>
          <p:cNvPr id="80" name="Text 78"/>
          <p:cNvSpPr/>
          <p:nvPr/>
        </p:nvSpPr>
        <p:spPr>
          <a:xfrm>
            <a:off x="5245842" y="4777388"/>
            <a:ext cx="1624818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回声港 × 许岚</a:t>
            </a:r>
            <a:endParaRPr lang="en-US" sz="720" dirty="0"/>
          </a:p>
        </p:txBody>
      </p:sp>
      <p:sp>
        <p:nvSpPr>
          <p:cNvPr id="81" name="Shape 79">
            <a:hlinkClick r:id="rId5" tooltip="打开试听状态" action="ppaction://hlinksldjump"/>
          </p:cNvPr>
          <p:cNvSpPr/>
          <p:nvPr/>
        </p:nvSpPr>
        <p:spPr>
          <a:xfrm>
            <a:off x="4612796" y="4446798"/>
            <a:ext cx="2405575" cy="5275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12796" y="5304927"/>
            <a:ext cx="2405575" cy="337625"/>
          </a:xfrm>
          <a:prstGeom prst="roundRect">
            <a:avLst>
              <a:gd name="adj" fmla="val 2500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76101" y="5326028"/>
            <a:ext cx="2278966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7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从这里，再出发</a:t>
            </a:r>
            <a:endParaRPr lang="en-US" sz="997" dirty="0"/>
          </a:p>
        </p:txBody>
      </p:sp>
      <p:sp>
        <p:nvSpPr>
          <p:cNvPr id="84" name="Shape 82">
            <a:hlinkClick r:id="rId6" tooltip="从这里，再出发" action="ppaction://hlinksldjump"/>
          </p:cNvPr>
          <p:cNvSpPr/>
          <p:nvPr/>
        </p:nvSpPr>
        <p:spPr>
          <a:xfrm>
            <a:off x="4612796" y="5304927"/>
            <a:ext cx="2405575" cy="33762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451018" y="5818398"/>
            <a:ext cx="2729132" cy="513471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84661" y="5818398"/>
            <a:ext cx="2461846" cy="914"/>
          </a:xfrm>
          <a:prstGeom prst="line">
            <a:avLst/>
          </a:prstGeom>
          <a:noFill/>
          <a:ln w="4924">
            <a:solidFill>
              <a:srgbClr val="323A4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08218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98729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</a:t>
            </a:r>
            <a:endParaRPr lang="en-US" sz="775" dirty="0"/>
          </a:p>
        </p:txBody>
      </p:sp>
      <p:sp>
        <p:nvSpPr>
          <p:cNvPr id="89" name="Shape 87">
            <a:hlinkClick r:id="rId7" tooltip="探索" action="ppaction://hlinksldjump"/>
          </p:cNvPr>
          <p:cNvSpPr/>
          <p:nvPr/>
        </p:nvSpPr>
        <p:spPr>
          <a:xfrm>
            <a:off x="4598729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80415" y="5937973"/>
            <a:ext cx="49237" cy="49237"/>
          </a:xfrm>
          <a:prstGeom prst="ellipse">
            <a:avLst/>
          </a:prstGeom>
          <a:solidFill>
            <a:srgbClr val="626C7C"/>
          </a:solidFill>
          <a:ln w="7034">
            <a:solidFill>
              <a:srgbClr val="626C7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70926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775" dirty="0"/>
          </a:p>
        </p:txBody>
      </p:sp>
      <p:sp>
        <p:nvSpPr>
          <p:cNvPr id="92" name="Shape 90">
            <a:hlinkClick r:id="rId8" tooltip="挑战" action="ppaction://hlinksldjump"/>
          </p:cNvPr>
          <p:cNvSpPr/>
          <p:nvPr/>
        </p:nvSpPr>
        <p:spPr>
          <a:xfrm>
            <a:off x="5470926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52612" y="5937973"/>
            <a:ext cx="49237" cy="49237"/>
          </a:xfrm>
          <a:prstGeom prst="ellipse">
            <a:avLst/>
          </a:prstGeom>
          <a:solidFill>
            <a:srgbClr val="72E4D4"/>
          </a:solidFill>
          <a:ln w="7034">
            <a:solidFill>
              <a:srgbClr val="72E4D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43122" y="6050514"/>
            <a:ext cx="661182" cy="140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775" dirty="0"/>
          </a:p>
        </p:txBody>
      </p:sp>
      <p:sp>
        <p:nvSpPr>
          <p:cNvPr id="95" name="Shape 93">
            <a:hlinkClick r:id="rId9" tooltip="发现" action="ppaction://hlinksldjump"/>
          </p:cNvPr>
          <p:cNvSpPr/>
          <p:nvPr/>
        </p:nvSpPr>
        <p:spPr>
          <a:xfrm>
            <a:off x="6343122" y="5867634"/>
            <a:ext cx="724486" cy="40092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36408" y="103327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09560" y="105613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40" dirty="0"/>
          </a:p>
        </p:txBody>
      </p:sp>
      <p:sp>
        <p:nvSpPr>
          <p:cNvPr id="98" name="Text 96"/>
          <p:cNvSpPr/>
          <p:nvPr/>
        </p:nvSpPr>
        <p:spPr>
          <a:xfrm>
            <a:off x="8375904" y="102412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价值沉淀为音乐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8375904" y="151790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保存歌曲与路线，不只累计节点浏览量。</a:t>
            </a:r>
            <a:endParaRPr lang="en-US" sz="1240" dirty="0"/>
          </a:p>
        </p:txBody>
      </p:sp>
      <p:sp>
        <p:nvSpPr>
          <p:cNvPr id="100" name="Shape 98"/>
          <p:cNvSpPr/>
          <p:nvPr/>
        </p:nvSpPr>
        <p:spPr>
          <a:xfrm>
            <a:off x="7836408" y="254203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09560" y="256489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40" dirty="0"/>
          </a:p>
        </p:txBody>
      </p:sp>
      <p:sp>
        <p:nvSpPr>
          <p:cNvPr id="102" name="Text 100"/>
          <p:cNvSpPr/>
          <p:nvPr/>
        </p:nvSpPr>
        <p:spPr>
          <a:xfrm>
            <a:off x="8375904" y="253288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不推断用户没听过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8375904" y="302666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是否新发现以用户自述确认，不以数据库缺记录代替。</a:t>
            </a:r>
            <a:endParaRPr lang="en-US" sz="1240" dirty="0"/>
          </a:p>
        </p:txBody>
      </p:sp>
      <p:sp>
        <p:nvSpPr>
          <p:cNvPr id="104" name="Shape 102"/>
          <p:cNvSpPr/>
          <p:nvPr/>
        </p:nvSpPr>
        <p:spPr>
          <a:xfrm>
            <a:off x="7836408" y="4050792"/>
            <a:ext cx="411480" cy="292608"/>
          </a:xfrm>
          <a:prstGeom prst="roundRect">
            <a:avLst>
              <a:gd name="adj" fmla="val 3125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909560" y="4073652"/>
            <a:ext cx="265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40" dirty="0"/>
          </a:p>
        </p:txBody>
      </p:sp>
      <p:sp>
        <p:nvSpPr>
          <p:cNvPr id="106" name="Text 104"/>
          <p:cNvSpPr/>
          <p:nvPr/>
        </p:nvSpPr>
        <p:spPr>
          <a:xfrm>
            <a:off x="8375904" y="4041648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继续使用仍待验证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8375904" y="4535424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原型中的收藏为示例，不可当作留存或转化结果。</a:t>
            </a:r>
            <a:endParaRPr lang="en-US" sz="1240" dirty="0"/>
          </a:p>
        </p:txBody>
      </p:sp>
      <p:sp>
        <p:nvSpPr>
          <p:cNvPr id="108" name="Text 106"/>
          <p:cNvSpPr/>
          <p:nvPr/>
        </p:nvSpPr>
        <p:spPr>
          <a:xfrm>
            <a:off x="7836408" y="5833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原型仅演示页面与状态；虚构数据，非真实功能。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111" name="Text 109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 / 44</a:t>
            </a:r>
            <a:endParaRPr lang="en-US" sz="8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MAP / CONTENT CONTRACT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Map最重要的资产：可核验、可听、可走的边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不要把事实关系、推荐相似和地域标签混成同一种“合作”。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[R08] [R09]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31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7373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682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57016" y="2267712"/>
            <a:ext cx="7781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合作作品 / 角色 / 来源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57016" y="2688336"/>
            <a:ext cx="7781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人工审核后才可用于客观挑战。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4107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557016" y="3310128"/>
            <a:ext cx="7781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风格 / 相似 / 用户偏好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57016" y="3730752"/>
            <a:ext cx="7781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单独标注推断依据，不伪装成历史事实。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48640" y="4279392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4531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体验层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557016" y="4352544"/>
            <a:ext cx="7781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可播放 / 可到达 / 可返回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57016" y="4773168"/>
            <a:ext cx="7781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数据真实只是前提，还需要路线有分支、音乐能使用。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57784" y="5577840"/>
            <a:ext cx="11082528" cy="512064"/>
          </a:xfrm>
          <a:prstGeom prst="rect">
            <a:avLst/>
          </a:prstGeom>
          <a:solidFill>
            <a:srgbClr val="182B29"/>
          </a:solidFill>
          <a:ln w="8255">
            <a:solidFill>
              <a:srgbClr val="182B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7150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一条边最少保存：artist_a / artist_b / work / role / source / reviewed / playable。</a:t>
            </a:r>
            <a:endParaRPr lang="en-US" sz="11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MAP / EDGE STATES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Map的异常：不能让地球转得动、音乐却走不通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在正式开发之前先暴露依赖，而不是最后一晚才寻找可用的试听地址。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32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59152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没有收录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935224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给出可玩起点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04088" y="3849624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告诉用户当前专题范围。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提供可进入的艺人和任务。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不把搜索失败写成“没有这个艺人”。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4632" y="2139696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2359152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音频不可用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5800" y="2935224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不画假播放按钮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495800" y="3849624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说明原因或提供合规来源入口。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若核心流程全部跳出网页，重新评估体验。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6344" y="2139696"/>
            <a:ext cx="3590544" cy="3200400"/>
          </a:xfrm>
          <a:prstGeom prst="roundRect">
            <a:avLst>
              <a:gd name="adj" fmla="val 3429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7512" y="2359152"/>
            <a:ext cx="3188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路线走不通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87512" y="2935224"/>
            <a:ext cx="3188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规则与数据一起检查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287512" y="3849624"/>
            <a:ext cx="3188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挑战发布前检查可达性。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关系缺失就缩小地图或改任务。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不让AI补出不存在的合作。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9496" y="5669280"/>
            <a:ext cx="11119104" cy="393192"/>
          </a:xfrm>
          <a:prstGeom prst="rect">
            <a:avLst/>
          </a:prstGeom>
          <a:solidFill>
            <a:srgbClr val="173734"/>
          </a:solidFill>
          <a:ln w="8255">
            <a:solidFill>
              <a:srgbClr val="1737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715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P0验收：真实边、有许可且可用的试听、可完成任务、路径恢复、可重置演示。</a:t>
            </a:r>
            <a:endParaRPr lang="en-US" sz="14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 / HEAD-TO-HEAD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第一次打开：Space给结果预期，Map给下一步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两案都可以单人使用。差别是“记录自己”与“发现音乐”，不是有没有多人在线。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33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98932" y="1979676"/>
            <a:ext cx="1865376" cy="3941064"/>
          </a:xfrm>
          <a:prstGeom prst="roundRect">
            <a:avLst>
              <a:gd name="adj" fmla="val 9804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20824"/>
            <a:ext cx="1783080" cy="3858768"/>
          </a:xfrm>
          <a:prstGeom prst="roundRect">
            <a:avLst>
              <a:gd name="adj" fmla="val 8205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2084832"/>
            <a:ext cx="34747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68" dirty="0"/>
          </a:p>
        </p:txBody>
      </p:sp>
      <p:sp>
        <p:nvSpPr>
          <p:cNvPr id="12" name="Shape 10"/>
          <p:cNvSpPr/>
          <p:nvPr/>
        </p:nvSpPr>
        <p:spPr>
          <a:xfrm>
            <a:off x="1353312" y="2061972"/>
            <a:ext cx="356616" cy="91440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0260" y="2139696"/>
            <a:ext cx="13716" cy="2743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125980"/>
            <a:ext cx="13716" cy="4114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25980" y="2112264"/>
            <a:ext cx="13716" cy="5486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2098548"/>
            <a:ext cx="13716" cy="6858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12848" y="2103120"/>
            <a:ext cx="100584" cy="5029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1992" y="2112264"/>
            <a:ext cx="68580" cy="3200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18004" y="2116836"/>
            <a:ext cx="9144" cy="2286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295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2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</a:t>
            </a:r>
            <a:endParaRPr lang="en-US" sz="1332" dirty="0"/>
          </a:p>
          <a:p>
            <a:pPr indent="0" marL="0">
              <a:buNone/>
            </a:pPr>
            <a:r>
              <a:rPr lang="en-US" sz="1332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SPACE</a:t>
            </a:r>
            <a:endParaRPr lang="en-US" sz="1332" dirty="0"/>
          </a:p>
        </p:txBody>
      </p:sp>
      <p:sp>
        <p:nvSpPr>
          <p:cNvPr id="21" name="Shape 19"/>
          <p:cNvSpPr/>
          <p:nvPr/>
        </p:nvSpPr>
        <p:spPr>
          <a:xfrm>
            <a:off x="1874520" y="2313432"/>
            <a:ext cx="438912" cy="137160"/>
          </a:xfrm>
          <a:prstGeom prst="roundRect">
            <a:avLst>
              <a:gd name="adj" fmla="val 33333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97380" y="2327148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8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我的现场</a:t>
            </a:r>
            <a:endParaRPr lang="en-US" sz="468" dirty="0"/>
          </a:p>
        </p:txBody>
      </p:sp>
      <p:sp>
        <p:nvSpPr>
          <p:cNvPr id="23" name="Text 21"/>
          <p:cNvSpPr/>
          <p:nvPr/>
        </p:nvSpPr>
        <p:spPr>
          <a:xfrm>
            <a:off x="749808" y="2770632"/>
            <a:ext cx="15590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把今晚，留给未来。</a:t>
            </a:r>
            <a:endParaRPr lang="en-US" sz="864" dirty="0"/>
          </a:p>
        </p:txBody>
      </p:sp>
      <p:sp>
        <p:nvSpPr>
          <p:cNvPr id="24" name="Shape 22"/>
          <p:cNvSpPr/>
          <p:nvPr/>
        </p:nvSpPr>
        <p:spPr>
          <a:xfrm>
            <a:off x="749808" y="3031236"/>
            <a:ext cx="1563624" cy="1344168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4898" y="3165653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898" y="3250335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4898" y="3335018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898" y="3419701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4898" y="3504383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4898" y="3589066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4898" y="3673748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4898" y="3758431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4898" y="3843113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4898" y="3927796"/>
            <a:ext cx="1282172" cy="215067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53439" y="3138769"/>
            <a:ext cx="641086" cy="641086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0348" y="3192536"/>
            <a:ext cx="125090" cy="739292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989" y="4240987"/>
            <a:ext cx="95381" cy="13441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1224" y="4099850"/>
            <a:ext cx="95381" cy="27555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4460" y="4140175"/>
            <a:ext cx="95381" cy="23522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87695" y="4180500"/>
            <a:ext cx="95381" cy="19490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40930" y="4220825"/>
            <a:ext cx="95381" cy="15457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94165" y="4079687"/>
            <a:ext cx="95381" cy="29571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47400" y="4120012"/>
            <a:ext cx="95381" cy="25539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0635" y="4160337"/>
            <a:ext cx="95381" cy="21506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53870" y="4200662"/>
            <a:ext cx="95381" cy="174742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07106" y="4240987"/>
            <a:ext cx="95381" cy="134417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4898" y="3313511"/>
            <a:ext cx="1125809" cy="77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1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2651" dirty="0"/>
          </a:p>
          <a:p>
            <a:pPr indent="0" marL="0">
              <a:buNone/>
            </a:pPr>
            <a:r>
              <a:rPr lang="en-US" sz="2651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2651" dirty="0"/>
          </a:p>
        </p:txBody>
      </p:sp>
      <p:sp>
        <p:nvSpPr>
          <p:cNvPr id="48" name="Text 46"/>
          <p:cNvSpPr/>
          <p:nvPr/>
        </p:nvSpPr>
        <p:spPr>
          <a:xfrm>
            <a:off x="822960" y="40690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" y="422910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8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09.12  /  广州  ·  示例演出</a:t>
            </a:r>
            <a:endParaRPr lang="en-US" sz="468" dirty="0"/>
          </a:p>
        </p:txBody>
      </p:sp>
      <p:sp>
        <p:nvSpPr>
          <p:cNvPr id="50" name="Shape 48"/>
          <p:cNvSpPr/>
          <p:nvPr/>
        </p:nvSpPr>
        <p:spPr>
          <a:xfrm>
            <a:off x="749808" y="4485132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" y="4498848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 制作我的现场卡</a:t>
            </a:r>
            <a:endParaRPr lang="en-US" sz="648" dirty="0"/>
          </a:p>
        </p:txBody>
      </p:sp>
      <p:sp>
        <p:nvSpPr>
          <p:cNvPr id="52" name="Text 50"/>
          <p:cNvSpPr/>
          <p:nvPr/>
        </p:nvSpPr>
        <p:spPr>
          <a:xfrm>
            <a:off x="749808" y="486918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我的最近记录</a:t>
            </a:r>
            <a:endParaRPr lang="en-US" sz="684" dirty="0"/>
          </a:p>
        </p:txBody>
      </p:sp>
      <p:sp>
        <p:nvSpPr>
          <p:cNvPr id="53" name="Shape 51"/>
          <p:cNvSpPr/>
          <p:nvPr/>
        </p:nvSpPr>
        <p:spPr>
          <a:xfrm>
            <a:off x="749808" y="5070348"/>
            <a:ext cx="1563624" cy="306324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120640"/>
            <a:ext cx="26517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8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8" dirty="0"/>
          </a:p>
        </p:txBody>
      </p:sp>
      <p:sp>
        <p:nvSpPr>
          <p:cNvPr id="55" name="Text 53"/>
          <p:cNvSpPr/>
          <p:nvPr/>
        </p:nvSpPr>
        <p:spPr>
          <a:xfrm>
            <a:off x="1152144" y="5120640"/>
            <a:ext cx="9921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这一年的三个夜晚</a:t>
            </a:r>
            <a:endParaRPr lang="en-US" sz="576" dirty="0"/>
          </a:p>
        </p:txBody>
      </p:sp>
      <p:sp>
        <p:nvSpPr>
          <p:cNvPr id="56" name="Text 54"/>
          <p:cNvSpPr/>
          <p:nvPr/>
        </p:nvSpPr>
        <p:spPr>
          <a:xfrm>
            <a:off x="1152144" y="5257800"/>
            <a:ext cx="9921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2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查看我的私人档案  ›</a:t>
            </a:r>
            <a:endParaRPr lang="en-US" sz="432" dirty="0"/>
          </a:p>
        </p:txBody>
      </p:sp>
      <p:sp>
        <p:nvSpPr>
          <p:cNvPr id="57" name="Shape 55"/>
          <p:cNvSpPr/>
          <p:nvPr/>
        </p:nvSpPr>
        <p:spPr>
          <a:xfrm>
            <a:off x="644652" y="5541264"/>
            <a:ext cx="1773936" cy="333756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1520" y="5541264"/>
            <a:ext cx="1600200" cy="914"/>
          </a:xfrm>
          <a:prstGeom prst="line">
            <a:avLst/>
          </a:prstGeom>
          <a:noFill/>
          <a:ln w="3200">
            <a:solidFill>
              <a:srgbClr val="323A4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1832" y="5618988"/>
            <a:ext cx="32004" cy="32004"/>
          </a:xfrm>
          <a:prstGeom prst="ellipse">
            <a:avLst/>
          </a:prstGeom>
          <a:solidFill>
            <a:srgbClr val="FF845E"/>
          </a:solidFill>
          <a:ln w="4572">
            <a:solidFill>
              <a:srgbClr val="FF84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" y="569214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今晚</a:t>
            </a:r>
            <a:endParaRPr lang="en-US" sz="504" dirty="0"/>
          </a:p>
        </p:txBody>
      </p:sp>
      <p:sp>
        <p:nvSpPr>
          <p:cNvPr id="61" name="Shape 59"/>
          <p:cNvSpPr/>
          <p:nvPr/>
        </p:nvSpPr>
        <p:spPr>
          <a:xfrm>
            <a:off x="1508760" y="5618988"/>
            <a:ext cx="32004" cy="32004"/>
          </a:xfrm>
          <a:prstGeom prst="ellipse">
            <a:avLst/>
          </a:prstGeom>
          <a:solidFill>
            <a:srgbClr val="626C7C"/>
          </a:solidFill>
          <a:ln w="4572">
            <a:solidFill>
              <a:srgbClr val="626C7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07592" y="569214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同场</a:t>
            </a:r>
            <a:endParaRPr lang="en-US" sz="504" dirty="0"/>
          </a:p>
        </p:txBody>
      </p:sp>
      <p:sp>
        <p:nvSpPr>
          <p:cNvPr id="63" name="Shape 61"/>
          <p:cNvSpPr/>
          <p:nvPr/>
        </p:nvSpPr>
        <p:spPr>
          <a:xfrm>
            <a:off x="2075688" y="5618988"/>
            <a:ext cx="32004" cy="32004"/>
          </a:xfrm>
          <a:prstGeom prst="ellipse">
            <a:avLst/>
          </a:prstGeom>
          <a:solidFill>
            <a:srgbClr val="626C7C"/>
          </a:solidFill>
          <a:ln w="4572">
            <a:solidFill>
              <a:srgbClr val="626C7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74520" y="569214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</a:t>
            </a:r>
            <a:endParaRPr lang="en-US" sz="504" dirty="0"/>
          </a:p>
        </p:txBody>
      </p:sp>
      <p:sp>
        <p:nvSpPr>
          <p:cNvPr id="65" name="Shape 63"/>
          <p:cNvSpPr/>
          <p:nvPr/>
        </p:nvSpPr>
        <p:spPr>
          <a:xfrm>
            <a:off x="6387084" y="1979676"/>
            <a:ext cx="1865376" cy="3941064"/>
          </a:xfrm>
          <a:prstGeom prst="roundRect">
            <a:avLst>
              <a:gd name="adj" fmla="val 9804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28232" y="2020824"/>
            <a:ext cx="1783080" cy="3858768"/>
          </a:xfrm>
          <a:prstGeom prst="roundRect">
            <a:avLst>
              <a:gd name="adj" fmla="val 8205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28816" y="2084832"/>
            <a:ext cx="34747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68" dirty="0"/>
          </a:p>
        </p:txBody>
      </p:sp>
      <p:sp>
        <p:nvSpPr>
          <p:cNvPr id="68" name="Shape 66"/>
          <p:cNvSpPr/>
          <p:nvPr/>
        </p:nvSpPr>
        <p:spPr>
          <a:xfrm>
            <a:off x="7141464" y="2061972"/>
            <a:ext cx="356616" cy="91440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68412" y="2139696"/>
            <a:ext cx="13716" cy="2743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91272" y="2125980"/>
            <a:ext cx="13716" cy="4114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14132" y="2112264"/>
            <a:ext cx="13716" cy="5486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36992" y="2098548"/>
            <a:ext cx="13716" cy="6858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01000" y="2103120"/>
            <a:ext cx="100584" cy="5029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10144" y="2112264"/>
            <a:ext cx="68580" cy="3200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06156" y="2116836"/>
            <a:ext cx="9144" cy="2286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37960" y="2318004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</a:t>
            </a:r>
            <a:endParaRPr lang="en-US" sz="1008" dirty="0"/>
          </a:p>
        </p:txBody>
      </p:sp>
      <p:sp>
        <p:nvSpPr>
          <p:cNvPr id="77" name="Text 75"/>
          <p:cNvSpPr/>
          <p:nvPr/>
        </p:nvSpPr>
        <p:spPr>
          <a:xfrm>
            <a:off x="6537960" y="2670048"/>
            <a:ext cx="1563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下一首，</a:t>
            </a:r>
            <a:endParaRPr lang="en-US" sz="1224" dirty="0"/>
          </a:p>
          <a:p>
            <a:pPr indent="0" marL="0">
              <a:buNone/>
            </a:pPr>
            <a:r>
              <a:rPr lang="en-US" sz="122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你想走着发现。</a:t>
            </a:r>
            <a:endParaRPr lang="en-US" sz="1224" dirty="0"/>
          </a:p>
        </p:txBody>
      </p:sp>
      <p:sp>
        <p:nvSpPr>
          <p:cNvPr id="78" name="Shape 76"/>
          <p:cNvSpPr/>
          <p:nvPr/>
        </p:nvSpPr>
        <p:spPr>
          <a:xfrm>
            <a:off x="6697980" y="3493008"/>
            <a:ext cx="315468" cy="165430"/>
          </a:xfrm>
          <a:prstGeom prst="line">
            <a:avLst/>
          </a:prstGeom>
          <a:noFill/>
          <a:ln w="6401">
            <a:solidFill>
              <a:srgbClr val="72E4D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29400" y="3424428"/>
            <a:ext cx="141732" cy="141732"/>
          </a:xfrm>
          <a:prstGeom prst="ellipse">
            <a:avLst/>
          </a:prstGeom>
          <a:solidFill>
            <a:srgbClr val="215347"/>
          </a:solidFill>
          <a:ln w="5486">
            <a:solidFill>
              <a:srgbClr val="72E4D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43116" y="3442716"/>
            <a:ext cx="1143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04" dirty="0"/>
          </a:p>
        </p:txBody>
      </p:sp>
      <p:sp>
        <p:nvSpPr>
          <p:cNvPr id="81" name="Shape 79"/>
          <p:cNvSpPr/>
          <p:nvPr/>
        </p:nvSpPr>
        <p:spPr>
          <a:xfrm>
            <a:off x="7013448" y="3658438"/>
            <a:ext cx="315468" cy="13334"/>
          </a:xfrm>
          <a:prstGeom prst="line">
            <a:avLst/>
          </a:prstGeom>
          <a:noFill/>
          <a:ln w="6401">
            <a:solidFill>
              <a:srgbClr val="72E4D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44868" y="3589858"/>
            <a:ext cx="141732" cy="141732"/>
          </a:xfrm>
          <a:prstGeom prst="ellipse">
            <a:avLst/>
          </a:prstGeom>
          <a:solidFill>
            <a:srgbClr val="3B304C"/>
          </a:solidFill>
          <a:ln w="5486">
            <a:solidFill>
              <a:srgbClr val="BBA7F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58584" y="3608146"/>
            <a:ext cx="1143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04" dirty="0"/>
          </a:p>
        </p:txBody>
      </p:sp>
      <p:sp>
        <p:nvSpPr>
          <p:cNvPr id="84" name="Shape 82"/>
          <p:cNvSpPr/>
          <p:nvPr/>
        </p:nvSpPr>
        <p:spPr>
          <a:xfrm flipV="1">
            <a:off x="7328916" y="3520752"/>
            <a:ext cx="315468" cy="151021"/>
          </a:xfrm>
          <a:prstGeom prst="line">
            <a:avLst/>
          </a:prstGeom>
          <a:noFill/>
          <a:ln w="6401">
            <a:solidFill>
              <a:srgbClr val="72E4D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60336" y="3603192"/>
            <a:ext cx="141732" cy="141732"/>
          </a:xfrm>
          <a:prstGeom prst="ellipse">
            <a:avLst/>
          </a:prstGeom>
          <a:solidFill>
            <a:srgbClr val="215347"/>
          </a:solidFill>
          <a:ln w="5486">
            <a:solidFill>
              <a:srgbClr val="72E4D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74052" y="3621480"/>
            <a:ext cx="1143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04" dirty="0"/>
          </a:p>
        </p:txBody>
      </p:sp>
      <p:sp>
        <p:nvSpPr>
          <p:cNvPr id="87" name="Shape 85"/>
          <p:cNvSpPr/>
          <p:nvPr/>
        </p:nvSpPr>
        <p:spPr>
          <a:xfrm flipV="1">
            <a:off x="7644384" y="3344224"/>
            <a:ext cx="315468" cy="176528"/>
          </a:xfrm>
          <a:prstGeom prst="line">
            <a:avLst/>
          </a:prstGeom>
          <a:noFill/>
          <a:ln w="6401">
            <a:solidFill>
              <a:srgbClr val="72E4D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575804" y="3452172"/>
            <a:ext cx="141732" cy="141732"/>
          </a:xfrm>
          <a:prstGeom prst="ellipse">
            <a:avLst/>
          </a:prstGeom>
          <a:solidFill>
            <a:srgbClr val="3B304C"/>
          </a:solidFill>
          <a:ln w="5486">
            <a:solidFill>
              <a:srgbClr val="BBA7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0" y="3470460"/>
            <a:ext cx="1143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04" dirty="0"/>
          </a:p>
        </p:txBody>
      </p:sp>
      <p:sp>
        <p:nvSpPr>
          <p:cNvPr id="90" name="Shape 88"/>
          <p:cNvSpPr/>
          <p:nvPr/>
        </p:nvSpPr>
        <p:spPr>
          <a:xfrm>
            <a:off x="7891272" y="3275644"/>
            <a:ext cx="141732" cy="141732"/>
          </a:xfrm>
          <a:prstGeom prst="ellipse">
            <a:avLst/>
          </a:prstGeom>
          <a:solidFill>
            <a:srgbClr val="215347"/>
          </a:solidFill>
          <a:ln w="5486">
            <a:solidFill>
              <a:srgbClr val="72E4D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904988" y="3293932"/>
            <a:ext cx="1143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04" dirty="0"/>
          </a:p>
        </p:txBody>
      </p:sp>
      <p:sp>
        <p:nvSpPr>
          <p:cNvPr id="92" name="Shape 90"/>
          <p:cNvSpPr/>
          <p:nvPr/>
        </p:nvSpPr>
        <p:spPr>
          <a:xfrm>
            <a:off x="6537960" y="3973068"/>
            <a:ext cx="1563624" cy="242316"/>
          </a:xfrm>
          <a:prstGeom prst="roundRect">
            <a:avLst>
              <a:gd name="adj" fmla="val 22642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79108" y="3986784"/>
            <a:ext cx="148132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从林曜出发探索</a:t>
            </a:r>
            <a:endParaRPr lang="en-US" sz="648" dirty="0"/>
          </a:p>
        </p:txBody>
      </p:sp>
      <p:sp>
        <p:nvSpPr>
          <p:cNvPr id="94" name="Shape 92"/>
          <p:cNvSpPr/>
          <p:nvPr/>
        </p:nvSpPr>
        <p:spPr>
          <a:xfrm>
            <a:off x="6537960" y="4379976"/>
            <a:ext cx="1563624" cy="699516"/>
          </a:xfrm>
          <a:prstGeom prst="roundRect">
            <a:avLst>
              <a:gd name="adj" fmla="val 784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20256" y="4462272"/>
            <a:ext cx="1399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今日路线挑战</a:t>
            </a:r>
            <a:endParaRPr lang="en-US" sz="540" dirty="0"/>
          </a:p>
        </p:txBody>
      </p:sp>
      <p:sp>
        <p:nvSpPr>
          <p:cNvPr id="96" name="Text 94"/>
          <p:cNvSpPr/>
          <p:nvPr/>
        </p:nvSpPr>
        <p:spPr>
          <a:xfrm>
            <a:off x="6620256" y="4658868"/>
            <a:ext cx="13944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  →  许岚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620256" y="4882896"/>
            <a:ext cx="13944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4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步以内  /  只走作品合作</a:t>
            </a:r>
            <a:endParaRPr lang="en-US" sz="504" dirty="0"/>
          </a:p>
        </p:txBody>
      </p:sp>
      <p:sp>
        <p:nvSpPr>
          <p:cNvPr id="98" name="Text 96"/>
          <p:cNvSpPr/>
          <p:nvPr/>
        </p:nvSpPr>
        <p:spPr>
          <a:xfrm>
            <a:off x="6537960" y="5289804"/>
            <a:ext cx="15636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2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虚构演示图谱 · 未接入真实曲库</a:t>
            </a:r>
            <a:endParaRPr lang="en-US" sz="432" dirty="0"/>
          </a:p>
        </p:txBody>
      </p:sp>
      <p:sp>
        <p:nvSpPr>
          <p:cNvPr id="99" name="Shape 97"/>
          <p:cNvSpPr/>
          <p:nvPr/>
        </p:nvSpPr>
        <p:spPr>
          <a:xfrm>
            <a:off x="6432804" y="5541264"/>
            <a:ext cx="1773936" cy="333756"/>
          </a:xfrm>
          <a:prstGeom prst="rect">
            <a:avLst/>
          </a:prstGeom>
          <a:solidFill>
            <a:srgbClr val="111720"/>
          </a:solidFill>
          <a:ln w="8255">
            <a:solidFill>
              <a:srgbClr val="1117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519672" y="5541264"/>
            <a:ext cx="1600200" cy="914"/>
          </a:xfrm>
          <a:prstGeom prst="line">
            <a:avLst/>
          </a:prstGeom>
          <a:noFill/>
          <a:ln w="3200">
            <a:solidFill>
              <a:srgbClr val="323A4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29984" y="5618988"/>
            <a:ext cx="32004" cy="32004"/>
          </a:xfrm>
          <a:prstGeom prst="ellipse">
            <a:avLst/>
          </a:prstGeom>
          <a:solidFill>
            <a:srgbClr val="72E4D4"/>
          </a:solidFill>
          <a:ln w="4572">
            <a:solidFill>
              <a:srgbClr val="72E4D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28816" y="569214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</a:t>
            </a:r>
            <a:endParaRPr lang="en-US" sz="504" dirty="0"/>
          </a:p>
        </p:txBody>
      </p:sp>
      <p:sp>
        <p:nvSpPr>
          <p:cNvPr id="103" name="Shape 101"/>
          <p:cNvSpPr/>
          <p:nvPr/>
        </p:nvSpPr>
        <p:spPr>
          <a:xfrm>
            <a:off x="7296912" y="5618988"/>
            <a:ext cx="32004" cy="32004"/>
          </a:xfrm>
          <a:prstGeom prst="ellipse">
            <a:avLst/>
          </a:prstGeom>
          <a:solidFill>
            <a:srgbClr val="626C7C"/>
          </a:solidFill>
          <a:ln w="4572">
            <a:solidFill>
              <a:srgbClr val="626C7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095744" y="569214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504" dirty="0"/>
          </a:p>
        </p:txBody>
      </p:sp>
      <p:sp>
        <p:nvSpPr>
          <p:cNvPr id="105" name="Shape 103"/>
          <p:cNvSpPr/>
          <p:nvPr/>
        </p:nvSpPr>
        <p:spPr>
          <a:xfrm>
            <a:off x="7863840" y="5618988"/>
            <a:ext cx="32004" cy="32004"/>
          </a:xfrm>
          <a:prstGeom prst="ellipse">
            <a:avLst/>
          </a:prstGeom>
          <a:solidFill>
            <a:srgbClr val="626C7C"/>
          </a:solidFill>
          <a:ln w="4572">
            <a:solidFill>
              <a:srgbClr val="626C7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62672" y="569214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504" dirty="0"/>
          </a:p>
        </p:txBody>
      </p:sp>
      <p:sp>
        <p:nvSpPr>
          <p:cNvPr id="107" name="Text 105"/>
          <p:cNvSpPr/>
          <p:nvPr/>
        </p:nvSpPr>
        <p:spPr>
          <a:xfrm>
            <a:off x="2706624" y="2240280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2706624" y="2871216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我的素材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变成我的作品</a:t>
            </a:r>
            <a:endParaRPr lang="en-US" sz="2400" dirty="0"/>
          </a:p>
        </p:txBody>
      </p:sp>
      <p:sp>
        <p:nvSpPr>
          <p:cNvPr id="109" name="Text 107"/>
          <p:cNvSpPr/>
          <p:nvPr/>
        </p:nvSpPr>
        <p:spPr>
          <a:xfrm>
            <a:off x="2706624" y="4361688"/>
            <a:ext cx="30632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优势：个人感强、输入明确。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门槛：需要现场经历和素材。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关键：普通照片能否变成值得保留的卡。</a:t>
            </a:r>
            <a:endParaRPr lang="en-US" sz="1330" dirty="0"/>
          </a:p>
        </p:txBody>
      </p:sp>
      <p:sp>
        <p:nvSpPr>
          <p:cNvPr id="110" name="Text 108"/>
          <p:cNvSpPr/>
          <p:nvPr/>
        </p:nvSpPr>
        <p:spPr>
          <a:xfrm>
            <a:off x="8485632" y="224028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</a:t>
            </a:r>
            <a:endParaRPr lang="en-US" sz="2000" dirty="0"/>
          </a:p>
        </p:txBody>
      </p:sp>
      <p:sp>
        <p:nvSpPr>
          <p:cNvPr id="111" name="Text 109"/>
          <p:cNvSpPr/>
          <p:nvPr/>
        </p:nvSpPr>
        <p:spPr>
          <a:xfrm>
            <a:off x="8485632" y="2871216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熟悉的名字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带我到新音乐</a:t>
            </a:r>
            <a:endParaRPr lang="en-US" sz="2400" dirty="0"/>
          </a:p>
        </p:txBody>
      </p:sp>
      <p:sp>
        <p:nvSpPr>
          <p:cNvPr id="112" name="Text 110"/>
          <p:cNvSpPr/>
          <p:nvPr/>
        </p:nvSpPr>
        <p:spPr>
          <a:xfrm>
            <a:off x="8485632" y="4361688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优势：无需个人内容即可开始。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门槛：图谱与音乐供给必须就绪。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关键：用户为什么点下一位。</a:t>
            </a:r>
            <a:endParaRPr lang="en-US" sz="13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OUTPUT &amp; DISTRIBUTION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分享同样重要，但想让朋友做的事不同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Space偏表达型分享；Map偏参与型分享。两种动机都需要真实验证。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34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08076" y="1970532"/>
            <a:ext cx="1865376" cy="3941064"/>
          </a:xfrm>
          <a:prstGeom prst="roundRect">
            <a:avLst>
              <a:gd name="adj" fmla="val 9804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2011680"/>
            <a:ext cx="1783080" cy="3858768"/>
          </a:xfrm>
          <a:prstGeom prst="roundRect">
            <a:avLst>
              <a:gd name="adj" fmla="val 8205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75688"/>
            <a:ext cx="34747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68" dirty="0"/>
          </a:p>
        </p:txBody>
      </p:sp>
      <p:sp>
        <p:nvSpPr>
          <p:cNvPr id="12" name="Shape 10"/>
          <p:cNvSpPr/>
          <p:nvPr/>
        </p:nvSpPr>
        <p:spPr>
          <a:xfrm>
            <a:off x="1362456" y="2052828"/>
            <a:ext cx="356616" cy="91440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9404" y="2130552"/>
            <a:ext cx="13716" cy="2743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12264" y="2116836"/>
            <a:ext cx="13716" cy="4114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5124" y="2103120"/>
            <a:ext cx="13716" cy="5486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2089404"/>
            <a:ext cx="13716" cy="6858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1992" y="2093976"/>
            <a:ext cx="100584" cy="5029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31136" y="2103120"/>
            <a:ext cx="68580" cy="3200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7148" y="2107692"/>
            <a:ext cx="9144" cy="2286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253996"/>
            <a:ext cx="118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116" dirty="0"/>
          </a:p>
        </p:txBody>
      </p:sp>
      <p:sp>
        <p:nvSpPr>
          <p:cNvPr id="21" name="Text 19"/>
          <p:cNvSpPr/>
          <p:nvPr/>
        </p:nvSpPr>
        <p:spPr>
          <a:xfrm>
            <a:off x="932688" y="2263140"/>
            <a:ext cx="1207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你的这一晚</a:t>
            </a:r>
            <a:endParaRPr lang="en-US" sz="756" dirty="0"/>
          </a:p>
        </p:txBody>
      </p:sp>
      <p:sp>
        <p:nvSpPr>
          <p:cNvPr id="22" name="Shape 20"/>
          <p:cNvSpPr/>
          <p:nvPr/>
        </p:nvSpPr>
        <p:spPr>
          <a:xfrm>
            <a:off x="763524" y="2528316"/>
            <a:ext cx="1554480" cy="2148840"/>
          </a:xfrm>
          <a:prstGeom prst="roundRect">
            <a:avLst>
              <a:gd name="adj" fmla="val 2059"/>
            </a:avLst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" y="2583180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" b="1" dirty="0">
                <a:solidFill>
                  <a:srgbClr val="171B2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 /  LIVE CARD</a:t>
            </a:r>
            <a:endParaRPr lang="en-US" sz="360" dirty="0"/>
          </a:p>
        </p:txBody>
      </p:sp>
      <p:sp>
        <p:nvSpPr>
          <p:cNvPr id="24" name="Shape 22"/>
          <p:cNvSpPr/>
          <p:nvPr/>
        </p:nvSpPr>
        <p:spPr>
          <a:xfrm>
            <a:off x="832104" y="2720340"/>
            <a:ext cx="1417320" cy="914"/>
          </a:xfrm>
          <a:prstGeom prst="line">
            <a:avLst/>
          </a:prstGeom>
          <a:noFill/>
          <a:ln w="3200">
            <a:solidFill>
              <a:srgbClr val="BBB7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" y="2784348"/>
            <a:ext cx="1426464" cy="1031443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649" y="2887492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649" y="2952473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1649" y="3017454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649" y="3082435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649" y="3147416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649" y="3212397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649" y="3277378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1649" y="3342359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649" y="3407340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649" y="3472321"/>
            <a:ext cx="1169700" cy="165031"/>
          </a:xfrm>
          <a:prstGeom prst="line">
            <a:avLst/>
          </a:prstGeom>
          <a:noFill/>
          <a:ln w="7620">
            <a:solidFill>
              <a:srgbClr val="FF845E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9441" y="2866863"/>
            <a:ext cx="584850" cy="584850"/>
          </a:xfrm>
          <a:prstGeom prst="ellipse">
            <a:avLst/>
          </a:prstGeom>
          <a:solidFill>
            <a:srgbClr val="FF845E">
              <a:alpha val="93000"/>
            </a:srgbClr>
          </a:solidFill>
          <a:ln w="12700">
            <a:solidFill>
              <a:srgbClr val="FF845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12235" y="2908121"/>
            <a:ext cx="114117" cy="567294"/>
          </a:xfrm>
          <a:prstGeom prst="rect">
            <a:avLst/>
          </a:prstGeom>
          <a:solidFill>
            <a:srgbClr val="17161D"/>
          </a:solidFill>
          <a:ln w="8255">
            <a:solidFill>
              <a:srgbClr val="17161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8855" y="3712647"/>
            <a:ext cx="87014" cy="1031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8649" y="3604345"/>
            <a:ext cx="87014" cy="21144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8442" y="3635289"/>
            <a:ext cx="87014" cy="180503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8236" y="3666232"/>
            <a:ext cx="87014" cy="149559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58029" y="3697175"/>
            <a:ext cx="87014" cy="118616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97823" y="3588874"/>
            <a:ext cx="87014" cy="22691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37616" y="3619817"/>
            <a:ext cx="87014" cy="19597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7410" y="3650760"/>
            <a:ext cx="87014" cy="165031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7203" y="3681704"/>
            <a:ext cx="87014" cy="134088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56996" y="3712647"/>
            <a:ext cx="87014" cy="103144"/>
          </a:xfrm>
          <a:prstGeom prst="rect">
            <a:avLst/>
          </a:prstGeom>
          <a:solidFill>
            <a:srgbClr val="080C11"/>
          </a:solidFill>
          <a:ln w="8255">
            <a:solidFill>
              <a:srgbClr val="080C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649" y="3000951"/>
            <a:ext cx="1027054" cy="5982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1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</a:t>
            </a:r>
            <a:endParaRPr lang="en-US" sz="2418" dirty="0"/>
          </a:p>
          <a:p>
            <a:pPr indent="0" marL="0">
              <a:buNone/>
            </a:pPr>
            <a:r>
              <a:rPr lang="en-US" sz="241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NOISE</a:t>
            </a:r>
            <a:endParaRPr lang="en-US" sz="2418" dirty="0"/>
          </a:p>
        </p:txBody>
      </p:sp>
      <p:sp>
        <p:nvSpPr>
          <p:cNvPr id="49" name="Text 47"/>
          <p:cNvSpPr/>
          <p:nvPr/>
        </p:nvSpPr>
        <p:spPr>
          <a:xfrm>
            <a:off x="841248" y="3882085"/>
            <a:ext cx="139903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2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回声之夜</a:t>
            </a:r>
            <a:endParaRPr lang="en-US" sz="972" dirty="0"/>
          </a:p>
        </p:txBody>
      </p:sp>
      <p:sp>
        <p:nvSpPr>
          <p:cNvPr id="50" name="Text 48"/>
          <p:cNvSpPr/>
          <p:nvPr/>
        </p:nvSpPr>
        <p:spPr>
          <a:xfrm>
            <a:off x="841248" y="4096969"/>
            <a:ext cx="1399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2" dirty="0">
                <a:solidFill>
                  <a:srgbClr val="6564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2026.09.12  /  广州</a:t>
            </a:r>
            <a:endParaRPr lang="en-US" sz="432" dirty="0"/>
          </a:p>
        </p:txBody>
      </p:sp>
      <p:sp>
        <p:nvSpPr>
          <p:cNvPr id="51" name="Text 49"/>
          <p:cNvSpPr/>
          <p:nvPr/>
        </p:nvSpPr>
        <p:spPr>
          <a:xfrm>
            <a:off x="841248" y="4290365"/>
            <a:ext cx="1399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8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最后一首响起，我还不想走。</a:t>
            </a:r>
            <a:endParaRPr lang="en-US" sz="468" dirty="0"/>
          </a:p>
        </p:txBody>
      </p:sp>
      <p:sp>
        <p:nvSpPr>
          <p:cNvPr id="52" name="Shape 50"/>
          <p:cNvSpPr/>
          <p:nvPr/>
        </p:nvSpPr>
        <p:spPr>
          <a:xfrm>
            <a:off x="841248" y="4440784"/>
            <a:ext cx="1399032" cy="914"/>
          </a:xfrm>
          <a:prstGeom prst="line">
            <a:avLst/>
          </a:prstGeom>
          <a:noFill/>
          <a:ln w="3200">
            <a:solidFill>
              <a:srgbClr val="B8B5A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" y="4505249"/>
            <a:ext cx="139903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" dirty="0">
                <a:solidFill>
                  <a:srgbClr val="6261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  ·  今晚最佳：返场</a:t>
            </a:r>
            <a:endParaRPr lang="en-US" sz="360" dirty="0"/>
          </a:p>
        </p:txBody>
      </p:sp>
      <p:sp>
        <p:nvSpPr>
          <p:cNvPr id="54" name="Text 52"/>
          <p:cNvSpPr/>
          <p:nvPr/>
        </p:nvSpPr>
        <p:spPr>
          <a:xfrm>
            <a:off x="768096" y="4777740"/>
            <a:ext cx="1545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32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属于你的记录，不是官方到场凭证。</a:t>
            </a:r>
            <a:endParaRPr lang="en-US" sz="432" dirty="0"/>
          </a:p>
        </p:txBody>
      </p:sp>
      <p:sp>
        <p:nvSpPr>
          <p:cNvPr id="55" name="Shape 53"/>
          <p:cNvSpPr/>
          <p:nvPr/>
        </p:nvSpPr>
        <p:spPr>
          <a:xfrm>
            <a:off x="758952" y="4978908"/>
            <a:ext cx="1563624" cy="228600"/>
          </a:xfrm>
          <a:prstGeom prst="roundRect">
            <a:avLst>
              <a:gd name="adj" fmla="val 24000"/>
            </a:avLst>
          </a:prstGeom>
          <a:solidFill>
            <a:srgbClr val="FF845E"/>
          </a:solidFill>
          <a:ln w="8255">
            <a:solidFill>
              <a:srgbClr val="FF84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0100" y="499262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保存到我的档案</a:t>
            </a:r>
            <a:endParaRPr lang="en-US" sz="648" dirty="0"/>
          </a:p>
        </p:txBody>
      </p:sp>
      <p:sp>
        <p:nvSpPr>
          <p:cNvPr id="57" name="Shape 55"/>
          <p:cNvSpPr/>
          <p:nvPr/>
        </p:nvSpPr>
        <p:spPr>
          <a:xfrm>
            <a:off x="758952" y="5280660"/>
            <a:ext cx="1563624" cy="219456"/>
          </a:xfrm>
          <a:prstGeom prst="roundRect">
            <a:avLst>
              <a:gd name="adj" fmla="val 25000"/>
            </a:avLst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0100" y="5294376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选择分享范围</a:t>
            </a:r>
            <a:endParaRPr lang="en-US" sz="648" dirty="0"/>
          </a:p>
        </p:txBody>
      </p:sp>
      <p:sp>
        <p:nvSpPr>
          <p:cNvPr id="59" name="Shape 57"/>
          <p:cNvSpPr/>
          <p:nvPr/>
        </p:nvSpPr>
        <p:spPr>
          <a:xfrm>
            <a:off x="6387084" y="1970532"/>
            <a:ext cx="1865376" cy="3941064"/>
          </a:xfrm>
          <a:prstGeom prst="roundRect">
            <a:avLst>
              <a:gd name="adj" fmla="val 9804"/>
            </a:avLst>
          </a:prstGeom>
          <a:solidFill>
            <a:srgbClr val="080B10"/>
          </a:solidFill>
          <a:ln w="8255">
            <a:solidFill>
              <a:srgbClr val="4048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28232" y="2011680"/>
            <a:ext cx="1783080" cy="3858768"/>
          </a:xfrm>
          <a:prstGeom prst="roundRect">
            <a:avLst>
              <a:gd name="adj" fmla="val 8205"/>
            </a:avLst>
          </a:prstGeom>
          <a:solidFill>
            <a:srgbClr val="0E131B"/>
          </a:solidFill>
          <a:ln w="8255">
            <a:solidFill>
              <a:srgbClr val="0E131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28816" y="2075688"/>
            <a:ext cx="34747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8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21:15</a:t>
            </a:r>
            <a:endParaRPr lang="en-US" sz="468" dirty="0"/>
          </a:p>
        </p:txBody>
      </p:sp>
      <p:sp>
        <p:nvSpPr>
          <p:cNvPr id="62" name="Shape 60"/>
          <p:cNvSpPr/>
          <p:nvPr/>
        </p:nvSpPr>
        <p:spPr>
          <a:xfrm>
            <a:off x="7141464" y="2052828"/>
            <a:ext cx="356616" cy="91440"/>
          </a:xfrm>
          <a:prstGeom prst="roundRect">
            <a:avLst>
              <a:gd name="adj" fmla="val 50000"/>
            </a:avLst>
          </a:prstGeom>
          <a:solidFill>
            <a:srgbClr val="05080D"/>
          </a:solidFill>
          <a:ln w="8255">
            <a:solidFill>
              <a:srgbClr val="05080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8412" y="2130552"/>
            <a:ext cx="13716" cy="27432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91272" y="2116836"/>
            <a:ext cx="13716" cy="41148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14132" y="2103120"/>
            <a:ext cx="13716" cy="5486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36992" y="2089404"/>
            <a:ext cx="13716" cy="6858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01000" y="2093976"/>
            <a:ext cx="100584" cy="50292"/>
          </a:xfrm>
          <a:prstGeom prst="roundRect">
            <a:avLst>
              <a:gd name="adj" fmla="val 18182"/>
            </a:avLst>
          </a:prstGeom>
          <a:solidFill>
            <a:srgbClr val="0E131B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10144" y="2103120"/>
            <a:ext cx="68580" cy="32004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06156" y="2107692"/>
            <a:ext cx="9144" cy="22860"/>
          </a:xfrm>
          <a:prstGeom prst="rect">
            <a:avLst/>
          </a:prstGeom>
          <a:solidFill>
            <a:srgbClr val="F3F3ED"/>
          </a:solidFill>
          <a:ln w="8255">
            <a:solidFill>
              <a:srgbClr val="F3F3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28816" y="2253996"/>
            <a:ext cx="118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6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‹</a:t>
            </a:r>
            <a:endParaRPr lang="en-US" sz="1116" dirty="0"/>
          </a:p>
        </p:txBody>
      </p:sp>
      <p:sp>
        <p:nvSpPr>
          <p:cNvPr id="71" name="Text 69"/>
          <p:cNvSpPr/>
          <p:nvPr/>
        </p:nvSpPr>
        <p:spPr>
          <a:xfrm>
            <a:off x="6711696" y="2263140"/>
            <a:ext cx="1207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挑战卡 · 不剧透</a:t>
            </a:r>
            <a:endParaRPr lang="en-US" sz="756" dirty="0"/>
          </a:p>
        </p:txBody>
      </p:sp>
      <p:sp>
        <p:nvSpPr>
          <p:cNvPr id="72" name="Shape 70"/>
          <p:cNvSpPr/>
          <p:nvPr/>
        </p:nvSpPr>
        <p:spPr>
          <a:xfrm>
            <a:off x="6537960" y="2519172"/>
            <a:ext cx="1563624" cy="2011680"/>
          </a:xfrm>
          <a:prstGeom prst="roundRect">
            <a:avLst>
              <a:gd name="adj" fmla="val 2924"/>
            </a:avLst>
          </a:prstGeom>
          <a:solidFill>
            <a:srgbClr val="112624"/>
          </a:solidFill>
          <a:ln w="8255">
            <a:solidFill>
              <a:srgbClr val="28524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20256" y="2601468"/>
            <a:ext cx="1399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2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  /  YOUR ROUTE</a:t>
            </a:r>
            <a:endParaRPr lang="en-US" sz="432" dirty="0"/>
          </a:p>
        </p:txBody>
      </p:sp>
      <p:sp>
        <p:nvSpPr>
          <p:cNvPr id="74" name="Text 72"/>
          <p:cNvSpPr/>
          <p:nvPr/>
        </p:nvSpPr>
        <p:spPr>
          <a:xfrm>
            <a:off x="6620256" y="2788920"/>
            <a:ext cx="139903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6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你会怎么走？</a:t>
            </a:r>
            <a:endParaRPr lang="en-US" sz="1116" dirty="0"/>
          </a:p>
        </p:txBody>
      </p:sp>
      <p:sp>
        <p:nvSpPr>
          <p:cNvPr id="75" name="Shape 73"/>
          <p:cNvSpPr/>
          <p:nvPr/>
        </p:nvSpPr>
        <p:spPr>
          <a:xfrm>
            <a:off x="6803136" y="3282696"/>
            <a:ext cx="1001268" cy="379476"/>
          </a:xfrm>
          <a:prstGeom prst="line">
            <a:avLst/>
          </a:prstGeom>
          <a:noFill/>
          <a:ln w="8230">
            <a:solidFill>
              <a:srgbClr val="72E4D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894576" y="3662172"/>
            <a:ext cx="909828" cy="393192"/>
          </a:xfrm>
          <a:prstGeom prst="line">
            <a:avLst/>
          </a:prstGeom>
          <a:noFill/>
          <a:ln w="8230">
            <a:solidFill>
              <a:srgbClr val="BBA7F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11696" y="3191256"/>
            <a:ext cx="192024" cy="192024"/>
          </a:xfrm>
          <a:prstGeom prst="ellipse">
            <a:avLst/>
          </a:prstGeom>
          <a:solidFill>
            <a:srgbClr val="285047"/>
          </a:solidFill>
          <a:ln w="5486">
            <a:solidFill>
              <a:srgbClr val="72E4D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97396" y="3419856"/>
            <a:ext cx="4251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林曜</a:t>
            </a:r>
            <a:endParaRPr lang="en-US" sz="612" dirty="0"/>
          </a:p>
        </p:txBody>
      </p:sp>
      <p:sp>
        <p:nvSpPr>
          <p:cNvPr id="79" name="Shape 77"/>
          <p:cNvSpPr/>
          <p:nvPr/>
        </p:nvSpPr>
        <p:spPr>
          <a:xfrm>
            <a:off x="7712964" y="3570732"/>
            <a:ext cx="192024" cy="192024"/>
          </a:xfrm>
          <a:prstGeom prst="ellipse">
            <a:avLst/>
          </a:prstGeom>
          <a:solidFill>
            <a:srgbClr val="2E2848"/>
          </a:solidFill>
          <a:ln w="5486">
            <a:solidFill>
              <a:srgbClr val="BBA7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98664" y="3799332"/>
            <a:ext cx="4251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612" dirty="0"/>
          </a:p>
        </p:txBody>
      </p:sp>
      <p:sp>
        <p:nvSpPr>
          <p:cNvPr id="81" name="Shape 79"/>
          <p:cNvSpPr/>
          <p:nvPr/>
        </p:nvSpPr>
        <p:spPr>
          <a:xfrm>
            <a:off x="6803136" y="3963924"/>
            <a:ext cx="192024" cy="192024"/>
          </a:xfrm>
          <a:prstGeom prst="ellipse">
            <a:avLst/>
          </a:prstGeom>
          <a:solidFill>
            <a:srgbClr val="285047"/>
          </a:solidFill>
          <a:ln w="5486">
            <a:solidFill>
              <a:srgbClr val="72E4D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88836" y="4192524"/>
            <a:ext cx="4251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许岚</a:t>
            </a:r>
            <a:endParaRPr lang="en-US" sz="612" dirty="0"/>
          </a:p>
        </p:txBody>
      </p:sp>
      <p:sp>
        <p:nvSpPr>
          <p:cNvPr id="83" name="Text 81"/>
          <p:cNvSpPr/>
          <p:nvPr/>
        </p:nvSpPr>
        <p:spPr>
          <a:xfrm>
            <a:off x="6620256" y="4238244"/>
            <a:ext cx="1399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2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步  ·  2 首连接作品</a:t>
            </a:r>
            <a:endParaRPr lang="en-US" sz="612" dirty="0"/>
          </a:p>
        </p:txBody>
      </p:sp>
      <p:sp>
        <p:nvSpPr>
          <p:cNvPr id="84" name="Text 82"/>
          <p:cNvSpPr/>
          <p:nvPr/>
        </p:nvSpPr>
        <p:spPr>
          <a:xfrm>
            <a:off x="6620256" y="4398264"/>
            <a:ext cx="1399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6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演示路线 · 虚构艺人与作品</a:t>
            </a:r>
            <a:endParaRPr lang="en-US" sz="396" dirty="0"/>
          </a:p>
        </p:txBody>
      </p:sp>
      <p:sp>
        <p:nvSpPr>
          <p:cNvPr id="85" name="Text 83"/>
          <p:cNvSpPr/>
          <p:nvPr/>
        </p:nvSpPr>
        <p:spPr>
          <a:xfrm>
            <a:off x="6537960" y="4649724"/>
            <a:ext cx="1563624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分享起终点与规则，不直接公开答案。</a:t>
            </a:r>
            <a:endParaRPr lang="en-US" sz="504" dirty="0"/>
          </a:p>
        </p:txBody>
      </p:sp>
      <p:sp>
        <p:nvSpPr>
          <p:cNvPr id="86" name="Shape 84"/>
          <p:cNvSpPr/>
          <p:nvPr/>
        </p:nvSpPr>
        <p:spPr>
          <a:xfrm>
            <a:off x="6537960" y="4892040"/>
            <a:ext cx="1563624" cy="379476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11112" y="4956048"/>
            <a:ext cx="14081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朋友收到后，可以走同一道题。</a:t>
            </a:r>
            <a:endParaRPr lang="en-US" sz="540" dirty="0"/>
          </a:p>
        </p:txBody>
      </p:sp>
      <p:sp>
        <p:nvSpPr>
          <p:cNvPr id="88" name="Text 86"/>
          <p:cNvSpPr/>
          <p:nvPr/>
        </p:nvSpPr>
        <p:spPr>
          <a:xfrm>
            <a:off x="6611112" y="5120640"/>
            <a:ext cx="1408176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2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只分享任务；不公开你的收藏和历史。</a:t>
            </a:r>
            <a:endParaRPr lang="en-US" sz="432" dirty="0"/>
          </a:p>
        </p:txBody>
      </p:sp>
      <p:sp>
        <p:nvSpPr>
          <p:cNvPr id="89" name="Shape 87"/>
          <p:cNvSpPr/>
          <p:nvPr/>
        </p:nvSpPr>
        <p:spPr>
          <a:xfrm>
            <a:off x="6537960" y="5408676"/>
            <a:ext cx="1563624" cy="224028"/>
          </a:xfrm>
          <a:prstGeom prst="roundRect">
            <a:avLst>
              <a:gd name="adj" fmla="val 24490"/>
            </a:avLst>
          </a:prstGeom>
          <a:solidFill>
            <a:srgbClr val="72E4D4"/>
          </a:solidFill>
          <a:ln w="8255">
            <a:solidFill>
              <a:srgbClr val="72E4D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79108" y="5422392"/>
            <a:ext cx="14813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b="1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体验朋友视角：开始同题</a:t>
            </a:r>
            <a:endParaRPr lang="en-US" sz="648" dirty="0"/>
          </a:p>
        </p:txBody>
      </p:sp>
      <p:sp>
        <p:nvSpPr>
          <p:cNvPr id="91" name="Text 89"/>
          <p:cNvSpPr/>
          <p:nvPr/>
        </p:nvSpPr>
        <p:spPr>
          <a:xfrm>
            <a:off x="2715768" y="2441448"/>
            <a:ext cx="30540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“看看我的这一晚。”</a:t>
            </a:r>
            <a:endParaRPr lang="en-US" sz="2600" dirty="0"/>
          </a:p>
        </p:txBody>
      </p:sp>
      <p:sp>
        <p:nvSpPr>
          <p:cNvPr id="92" name="Text 90"/>
          <p:cNvSpPr/>
          <p:nvPr/>
        </p:nvSpPr>
        <p:spPr>
          <a:xfrm>
            <a:off x="2715768" y="3557016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一份生活与音乐品味的表达。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朋友可看、回应、自愿交换。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2715768" y="4809744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最该测：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主动保存与真实对外分享。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8494776" y="2441448"/>
            <a:ext cx="31546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“来走一次你的路线。”</a:t>
            </a:r>
            <a:endParaRPr lang="en-US" sz="2600" dirty="0"/>
          </a:p>
        </p:txBody>
      </p:sp>
      <p:sp>
        <p:nvSpPr>
          <p:cNvPr id="95" name="Text 93"/>
          <p:cNvSpPr/>
          <p:nvPr/>
        </p:nvSpPr>
        <p:spPr>
          <a:xfrm>
            <a:off x="8494776" y="355701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一份带规则的参与邀请。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朋友打开同题，开始自己的选择。</a:t>
            </a:r>
            <a:endParaRPr lang="en-US" sz="1500" dirty="0"/>
          </a:p>
        </p:txBody>
      </p:sp>
      <p:sp>
        <p:nvSpPr>
          <p:cNvPr id="96" name="Text 94"/>
          <p:cNvSpPr/>
          <p:nvPr/>
        </p:nvSpPr>
        <p:spPr>
          <a:xfrm>
            <a:off x="8494776" y="480974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最该测：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收到链接后，真的开始探索。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A7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JUDGING LENS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按官方三项标准，Map“有条件占优”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266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没有公开数值权重，因此不虚构综合分；以下是同等完成度下的分析判断。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CECB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971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971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[R01]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971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35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594360" y="2157984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48840" y="2157984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0" y="2157984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7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64040" y="2157984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本轮判断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208" y="2770632"/>
            <a:ext cx="11155680" cy="621792"/>
          </a:xfrm>
          <a:prstGeom prst="rect">
            <a:avLst/>
          </a:prstGeom>
          <a:solidFill>
            <a:srgbClr val="E3E0D8"/>
          </a:solidFill>
          <a:ln w="8255">
            <a:solidFill>
              <a:srgbClr val="E3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346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用户价值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283464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个人现场表达更具体；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需证明胜过一般模板。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5852160" y="2834640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音乐发现更直接；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需证明胜过相关艺人列表。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9464040" y="2834640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97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Map略占优*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521208" y="3474720"/>
            <a:ext cx="11155680" cy="621792"/>
          </a:xfrm>
          <a:prstGeom prst="rect">
            <a:avLst/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3872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353872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成卡基础链路更稳；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共享与权限增加工作量。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5852160" y="353872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数据、试听是前置依赖；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小专题可控制范围。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9464040" y="3538728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A651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Space占优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521208" y="4178808"/>
            <a:ext cx="11155680" cy="621792"/>
          </a:xfrm>
          <a:prstGeom prst="rect">
            <a:avLst/>
          </a:prstGeom>
          <a:solidFill>
            <a:srgbClr val="E3E0D8"/>
          </a:solidFill>
          <a:ln w="8255">
            <a:solidFill>
              <a:srgbClr val="E3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4281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48840" y="42428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档案/相册已有先例；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差异在表达与交换体验。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5852160" y="424281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图谱/跳转已有先例；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差异在探索任务与接力。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9464040" y="4242816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97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都需验证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521208" y="4882896"/>
            <a:ext cx="11155680" cy="621792"/>
          </a:xfrm>
          <a:prstGeom prst="rect">
            <a:avLst/>
          </a:prstGeom>
          <a:solidFill>
            <a:srgbClr val="F0EDE4"/>
          </a:solidFill>
          <a:ln w="8255">
            <a:solidFill>
              <a:srgbClr val="F0ED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94690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综合选题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48840" y="494690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适合资源较少、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已有现场素材或试点的团队。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5852160" y="4946904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更容易让评委亲手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71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体验发现与参与。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9464040" y="4946904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97B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主推Map*</a:t>
            </a:r>
            <a:endParaRPr lang="en-US" sz="1270" dirty="0"/>
          </a:p>
        </p:txBody>
      </p:sp>
      <p:sp>
        <p:nvSpPr>
          <p:cNvPr id="33" name="Text 31"/>
          <p:cNvSpPr/>
          <p:nvPr/>
        </p:nvSpPr>
        <p:spPr>
          <a:xfrm>
            <a:off x="621792" y="58613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6970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* 仅在可信数据、真实试听与可玩任务均成立时。不是官方打分，也不代表获奖概率。</a:t>
            </a:r>
            <a:endParaRPr lang="en-US" sz="11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NOVELTY CHECK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两案都不是空白市场，差异必须讲到交互上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核验的是已有公开能力，不把未列出的功能推断为竞品一定没有。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26C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[R04] [R05] [R06] [R07]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36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5349240" cy="3557016"/>
          </a:xfrm>
          <a:prstGeom prst="roundRect">
            <a:avLst>
              <a:gd name="adj" fmla="val 3085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2176272"/>
            <a:ext cx="5349240" cy="3557016"/>
          </a:xfrm>
          <a:prstGeom prst="roundRect">
            <a:avLst>
              <a:gd name="adj" fmla="val 3085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3230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 / 不能只讲演出档案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86384" y="31821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Concert Archives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86384" y="373075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已有个人演出历史、照片、视频、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歌单与分享等能力。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4864608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我们的差异候选</a:t>
            </a:r>
            <a:endParaRPr lang="en-US" sz="1460" dirty="0"/>
          </a:p>
          <a:p>
            <a:pPr indent="0" marL="0">
              <a:buNone/>
            </a:pPr>
            <a:r>
              <a:rPr lang="en-US" sz="146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个人素材成卡 → 自愿交换具体视角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6510528" y="243230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 / 不能只讲节点跳转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10528" y="318211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Music-Map / Artist Explorer / SongDNA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6510528" y="373075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相似艺人地图、关系树与试听、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作品创作者的连续关系探索均有先例。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4864608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我们的差异候选</a:t>
            </a:r>
            <a:endParaRPr lang="en-US" sz="1460" dirty="0"/>
          </a:p>
          <a:p>
            <a:pPr indent="0" marL="0">
              <a:buNone/>
            </a:pPr>
            <a:r>
              <a:rPr lang="en-US" sz="146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用户选路 → 沿途听歌 → 朋友接力</a:t>
            </a:r>
            <a:endParaRPr lang="en-US" sz="14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FEASIBILITY &amp; SCOPE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开发风险不同：Space怕做大，Map怕资源不通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先建立最低可用链路；外部授权等待和未知接口问题不能通过“多写几天代码”保证解决。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37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21792" y="2185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2185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Space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2048" y="21854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 Map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496" y="2770632"/>
            <a:ext cx="11109960" cy="475488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62072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基础输入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2798064" y="2862072"/>
            <a:ext cx="4123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确认演出 + 用户授权素材</a:t>
            </a:r>
            <a:endParaRPr lang="en-US" sz="1190" dirty="0"/>
          </a:p>
        </p:txBody>
      </p:sp>
      <p:sp>
        <p:nvSpPr>
          <p:cNvPr id="15" name="Text 13"/>
          <p:cNvSpPr/>
          <p:nvPr/>
        </p:nvSpPr>
        <p:spPr>
          <a:xfrm>
            <a:off x="7242048" y="2862072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核验图谱 + 允许使用的音乐</a:t>
            </a:r>
            <a:endParaRPr lang="en-US" sz="1190" dirty="0"/>
          </a:p>
        </p:txBody>
      </p:sp>
      <p:sp>
        <p:nvSpPr>
          <p:cNvPr id="16" name="Text 14"/>
          <p:cNvSpPr/>
          <p:nvPr/>
        </p:nvSpPr>
        <p:spPr>
          <a:xfrm>
            <a:off x="704088" y="3401568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工程主线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2798064" y="3401568"/>
            <a:ext cx="4123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 / 编辑 / 渲染 / 导出 / 档案</a:t>
            </a:r>
            <a:endParaRPr lang="en-US" sz="1190" dirty="0"/>
          </a:p>
        </p:txBody>
      </p:sp>
      <p:sp>
        <p:nvSpPr>
          <p:cNvPr id="18" name="Text 16"/>
          <p:cNvSpPr/>
          <p:nvPr/>
        </p:nvSpPr>
        <p:spPr>
          <a:xfrm>
            <a:off x="7242048" y="3401568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图交互 / 边详情 / 播放 / 任务 / 路线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539496" y="3849624"/>
            <a:ext cx="11109960" cy="475488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41064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最易低估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2798064" y="3941064"/>
            <a:ext cx="4123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权限、删除、图片格式、跨用户状态</a:t>
            </a:r>
            <a:endParaRPr lang="en-US" sz="1190" dirty="0"/>
          </a:p>
        </p:txBody>
      </p:sp>
      <p:sp>
        <p:nvSpPr>
          <p:cNvPr id="22" name="Text 20"/>
          <p:cNvSpPr/>
          <p:nvPr/>
        </p:nvSpPr>
        <p:spPr>
          <a:xfrm>
            <a:off x="7242048" y="3941064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音乐资源、关系校验、可达性、移动端</a:t>
            </a:r>
            <a:endParaRPr lang="en-US" sz="1190" dirty="0"/>
          </a:p>
        </p:txBody>
      </p:sp>
      <p:sp>
        <p:nvSpPr>
          <p:cNvPr id="23" name="Text 21"/>
          <p:cNvSpPr/>
          <p:nvPr/>
        </p:nvSpPr>
        <p:spPr>
          <a:xfrm>
            <a:off x="704088" y="4480560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AI承担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2798064" y="4480560"/>
            <a:ext cx="4123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构图和短句建议；失败可回退模板</a:t>
            </a:r>
            <a:endParaRPr lang="en-US" sz="1190" dirty="0"/>
          </a:p>
        </p:txBody>
      </p:sp>
      <p:sp>
        <p:nvSpPr>
          <p:cNvPr id="25" name="Text 23"/>
          <p:cNvSpPr/>
          <p:nvPr/>
        </p:nvSpPr>
        <p:spPr>
          <a:xfrm>
            <a:off x="7242048" y="4480560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候选关系整理与引导；不可编造边</a:t>
            </a:r>
            <a:endParaRPr lang="en-US" sz="1190" dirty="0"/>
          </a:p>
        </p:txBody>
      </p:sp>
      <p:sp>
        <p:nvSpPr>
          <p:cNvPr id="26" name="Shape 24"/>
          <p:cNvSpPr/>
          <p:nvPr/>
        </p:nvSpPr>
        <p:spPr>
          <a:xfrm>
            <a:off x="539496" y="4928616"/>
            <a:ext cx="11109960" cy="475488"/>
          </a:xfrm>
          <a:prstGeom prst="rect">
            <a:avLst/>
          </a:prstGeom>
          <a:solidFill>
            <a:srgbClr val="171C24"/>
          </a:solidFill>
          <a:ln w="8255">
            <a:solidFill>
              <a:srgbClr val="171C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5020056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先砍掉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2798064" y="5020056"/>
            <a:ext cx="4123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蓝牙雷达、视频生成、全量社交</a:t>
            </a:r>
            <a:endParaRPr lang="en-US" sz="1190" dirty="0"/>
          </a:p>
        </p:txBody>
      </p:sp>
      <p:sp>
        <p:nvSpPr>
          <p:cNvPr id="29" name="Text 27"/>
          <p:cNvSpPr/>
          <p:nvPr/>
        </p:nvSpPr>
        <p:spPr>
          <a:xfrm>
            <a:off x="7242048" y="5020056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全曲库、写实3D、排行榜、现场档案</a:t>
            </a:r>
            <a:endParaRPr lang="en-US" sz="1190" dirty="0"/>
          </a:p>
        </p:txBody>
      </p:sp>
      <p:sp>
        <p:nvSpPr>
          <p:cNvPr id="30" name="Text 28"/>
          <p:cNvSpPr/>
          <p:nvPr/>
        </p:nvSpPr>
        <p:spPr>
          <a:xfrm>
            <a:off x="603504" y="5806440"/>
            <a:ext cx="10972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预算方式：先列任务与可用人时，再安排演示范围；未确认团队能力，不给“几天必做完”的承诺。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WHEN THE RECOMMENDATION CHANGES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更可能争奖的是完整体验，不是项目名字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把推荐写成可以执行的条件，而不是没有数据支持的百分比。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38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40864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Map三项核验通过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322576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真实关系 + 可用音乐 + 用户愿意继续走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8458200" y="230428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 Music Map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172968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Map只剩旋转图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315468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没有可靠试听，任务也只是固定路径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8458200" y="31363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选完成度更高的 Space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005072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Space已有真实优势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398678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有已运行产品、真实用户与自愿分享证据</a:t>
            </a:r>
            <a:endParaRPr lang="en-US" sz="1310" dirty="0"/>
          </a:p>
        </p:txBody>
      </p:sp>
      <p:sp>
        <p:nvSpPr>
          <p:cNvPr id="20" name="Text 18"/>
          <p:cNvSpPr/>
          <p:nvPr/>
        </p:nvSpPr>
        <p:spPr>
          <a:xfrm>
            <a:off x="8458200" y="39684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重新比较，不能忽略现有成果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83717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两个都还停留在概念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48188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只有PPT，无可运行链路与用户证据</a:t>
            </a:r>
            <a:endParaRPr lang="en-US" sz="1310" dirty="0"/>
          </a:p>
        </p:txBody>
      </p:sp>
      <p:sp>
        <p:nvSpPr>
          <p:cNvPr id="24" name="Text 22"/>
          <p:cNvSpPr/>
          <p:nvPr/>
        </p:nvSpPr>
        <p:spPr>
          <a:xfrm>
            <a:off x="8458200" y="48006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BBA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先做48小时验证，再冻结题目</a:t>
            </a:r>
            <a:endParaRPr lang="en-US" sz="13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VALIDATION BEFORE POLISH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争奖的证据：让真实用户完成，而不是只说喜欢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建议12—20位目标用户做小规模测试；下面是测试计划，不是已获得的结果。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39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30936" y="218541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同样的测试纪律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70632" y="2167128"/>
            <a:ext cx="8650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同等素材、相近任务时长、交替体验顺序；明确区分引导操作与自发行为。</a:t>
            </a:r>
            <a:endParaRPr lang="en-US" sz="1390" dirty="0"/>
          </a:p>
        </p:txBody>
      </p:sp>
      <p:sp>
        <p:nvSpPr>
          <p:cNvPr id="11" name="Shape 9"/>
          <p:cNvSpPr/>
          <p:nvPr/>
        </p:nvSpPr>
        <p:spPr>
          <a:xfrm>
            <a:off x="585216" y="2706624"/>
            <a:ext cx="11009376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8803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Space对照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2862072"/>
            <a:ext cx="8650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同一组授权照片：普通模板 vs Music Space；观察完成、主动保存和自愿分享。</a:t>
            </a:r>
            <a:endParaRPr lang="en-US" sz="1390" dirty="0"/>
          </a:p>
        </p:txBody>
      </p:sp>
      <p:sp>
        <p:nvSpPr>
          <p:cNvPr id="14" name="Shape 12"/>
          <p:cNvSpPr/>
          <p:nvPr/>
        </p:nvSpPr>
        <p:spPr>
          <a:xfrm>
            <a:off x="585216" y="3401568"/>
            <a:ext cx="11009376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357530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Map对照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70632" y="3557016"/>
            <a:ext cx="8650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相近且尽量不重复的音乐池：相关艺人列表 vs Music Map；观察试听与新发现。</a:t>
            </a:r>
            <a:endParaRPr lang="en-US" sz="1390" dirty="0"/>
          </a:p>
        </p:txBody>
      </p:sp>
      <p:sp>
        <p:nvSpPr>
          <p:cNvPr id="17" name="Shape 15"/>
          <p:cNvSpPr/>
          <p:nvPr/>
        </p:nvSpPr>
        <p:spPr>
          <a:xfrm>
            <a:off x="585216" y="4096512"/>
            <a:ext cx="11009376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42702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共同验收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70632" y="4251960"/>
            <a:ext cx="8650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无需口头指导完成核心动作；失败时知道怎么办；结束后是否自愿再试一次。</a:t>
            </a:r>
            <a:endParaRPr lang="en-US" sz="1390" dirty="0"/>
          </a:p>
        </p:txBody>
      </p:sp>
      <p:sp>
        <p:nvSpPr>
          <p:cNvPr id="20" name="Shape 18"/>
          <p:cNvSpPr/>
          <p:nvPr/>
        </p:nvSpPr>
        <p:spPr>
          <a:xfrm>
            <a:off x="585216" y="4791456"/>
            <a:ext cx="11009376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49651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不能夸大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70632" y="4946904"/>
            <a:ext cx="8650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分享按钮 ≠ 实际传播；收藏 ≠ 长期留存；小样本 ≠ 已证明普遍有效。</a:t>
            </a:r>
            <a:endParaRPr lang="en-US" sz="1390" dirty="0"/>
          </a:p>
        </p:txBody>
      </p:sp>
      <p:sp>
        <p:nvSpPr>
          <p:cNvPr id="23" name="Shape 21"/>
          <p:cNvSpPr/>
          <p:nvPr/>
        </p:nvSpPr>
        <p:spPr>
          <a:xfrm>
            <a:off x="585216" y="5486400"/>
            <a:ext cx="11009376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BUILD PLAN / RELATIVE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制作团队：先做资源核验，再做高保真界面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以下为相对阶段，不替代官方截止日；页面原型可以复用，业务链路仍需开发。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39496" y="2331720"/>
            <a:ext cx="2679192" cy="2926080"/>
          </a:xfrm>
          <a:prstGeom prst="roundRect">
            <a:avLst>
              <a:gd name="adj" fmla="val 341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2194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3364992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前置核验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Map：真边与试听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Space：真实素材与导出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74136" y="2331720"/>
            <a:ext cx="2679192" cy="2926080"/>
          </a:xfrm>
          <a:prstGeom prst="roundRect">
            <a:avLst>
              <a:gd name="adj" fmla="val 341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14600"/>
            <a:ext cx="2194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66160" y="3364992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最低可用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4114800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两案先不依赖AI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完整走完一个核心流程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2331720"/>
            <a:ext cx="2679192" cy="2926080"/>
          </a:xfrm>
          <a:prstGeom prst="roundRect">
            <a:avLst>
              <a:gd name="adj" fmla="val 341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514600"/>
            <a:ext cx="2194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3364992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加入特色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4114800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Map：挑战与路线卡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Space：交换与私人档案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3416" y="2331720"/>
            <a:ext cx="2679192" cy="2926080"/>
          </a:xfrm>
          <a:prstGeom prst="roundRect">
            <a:avLst>
              <a:gd name="adj" fmla="val 3413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514600"/>
            <a:ext cx="2194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8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35440" y="3364992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验证与冻结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35440" y="4114800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真机、错误态、用户测试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固定内容、留备用录屏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" y="5769864"/>
            <a:ext cx="11000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角色建议：A负责产品、界面与用户测试；B负责数据、业务与部署。实际分工由团队确认。</a:t>
            </a:r>
            <a:endParaRPr lang="en-US" sz="12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 DEMO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同样三分钟，各自最有说服力的演示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三分钟是彩排建议，不是官方路演时长。不要用预录画面冒充现场可用能力。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41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539496" y="218541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 / 我把这一晚留下了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" y="304495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0:00—0:40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956816" y="3022092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展示普通素材，确认演出与歌曲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539496" y="3621024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0:40—1:20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956816" y="3598164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生成可编辑卡，实际保存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539496" y="4197096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1:20—2:10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956816" y="4174236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另一设备回应，完成双向交换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539496" y="477316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2:10—3:00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956816" y="4750308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私人档案 + 一项真实用户证据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6291072" y="218541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 / 我亲手找到了一首歌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91072" y="304495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0:00—0:40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7708392" y="3022092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让观看者选起点或下一位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6291072" y="3621024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0:40—1:20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7708392" y="3598164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打开真实关系，听连接作品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6291072" y="4197096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1:20—2:10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7708392" y="4174236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完成任务，保留沿途音乐</a:t>
            </a:r>
            <a:endParaRPr lang="en-US" sz="1360" dirty="0"/>
          </a:p>
        </p:txBody>
      </p:sp>
      <p:sp>
        <p:nvSpPr>
          <p:cNvPr id="25" name="Text 23"/>
          <p:cNvSpPr/>
          <p:nvPr/>
        </p:nvSpPr>
        <p:spPr>
          <a:xfrm>
            <a:off x="6291072" y="477316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2:10—3:00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708392" y="4750308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同题接力 + 一项真实用户证据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48640" y="5742432"/>
            <a:ext cx="11082528" cy="393192"/>
          </a:xfrm>
          <a:prstGeom prst="rect">
            <a:avLst/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797296"/>
            <a:ext cx="1071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评委离开讲解仍能体验：入口明确、按钮有效、状态可复位、示例数据与真实测试分开。</a:t>
            </a:r>
            <a:endParaRPr lang="en-US" sz="12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FINAL CALL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最终推荐：把主要投入押在 Music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不是因为它更炫，而是它更有机会在短时间内让评委亲自参与音乐发现。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42 / 44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39496" y="2139696"/>
            <a:ext cx="7114032" cy="3364992"/>
          </a:xfrm>
          <a:prstGeom prst="roundRect">
            <a:avLst>
              <a:gd name="adj" fmla="val 3261"/>
            </a:avLst>
          </a:prstGeom>
          <a:solidFill>
            <a:srgbClr val="142A27"/>
          </a:solidFill>
          <a:ln w="8255">
            <a:solidFill>
              <a:srgbClr val="2C5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957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主推参赛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2962656"/>
            <a:ext cx="6455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3F3E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MAP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86384" y="4087368"/>
            <a:ext cx="63733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可信关系 × 实际音乐 × 用户选路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72E4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把玩法落在“找到下一首想听的歌”。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946136" y="2139696"/>
            <a:ext cx="3675888" cy="3364992"/>
          </a:xfrm>
          <a:prstGeom prst="roundRect">
            <a:avLst>
              <a:gd name="adj" fmla="val 3261"/>
            </a:avLst>
          </a:prstGeom>
          <a:solidFill>
            <a:srgbClr val="171C24"/>
          </a:solidFill>
          <a:ln w="8255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441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8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Space不是被否定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183880" y="3182112"/>
            <a:ext cx="317296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它的基础交付更稳，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个人表达更强。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Map前置条件不成立时，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以Space争取高完成度。</a:t>
            </a:r>
            <a:endParaRPr lang="en-US" sz="170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557784" y="5788152"/>
            <a:ext cx="3246120" cy="429768"/>
          </a:xfrm>
          <a:prstGeom prst="roundRect">
            <a:avLst>
              <a:gd name="adj" fmla="val 19149"/>
            </a:avLst>
          </a:prstGeom>
          <a:solidFill>
            <a:srgbClr val="FF845E"/>
          </a:solidFill>
          <a:ln w="12700">
            <a:solidFill>
              <a:srgbClr val="FF845E"/>
            </a:solidFill>
            <a:prstDash val="solid"/>
          </a:ln>
        </p:spPr>
      </p:sp>
      <p:sp>
        <p:nvSpPr>
          <p:cNvPr id="17" name="Text 15">
            <a:hlinkClick r:id="rId2" tooltip="" action="ppaction://hlinksldjump"/>
          </p:cNvPr>
          <p:cNvSpPr/>
          <p:nvPr/>
        </p:nvSpPr>
        <p:spPr>
          <a:xfrm>
            <a:off x="630936" y="5815584"/>
            <a:ext cx="30998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重新体验 Space</a:t>
            </a:r>
            <a:endParaRPr lang="en-US" sz="1300" dirty="0"/>
          </a:p>
        </p:txBody>
      </p:sp>
      <p:sp>
        <p:nvSpPr>
          <p:cNvPr id="18" name="Shape 16">
            <a:hlinkClick r:id="rId3" tooltip="" action="ppaction://hlinksldjump"/>
          </p:cNvPr>
          <p:cNvSpPr/>
          <p:nvPr/>
        </p:nvSpPr>
        <p:spPr>
          <a:xfrm>
            <a:off x="4087368" y="5788152"/>
            <a:ext cx="3246120" cy="429768"/>
          </a:xfrm>
          <a:prstGeom prst="roundRect">
            <a:avLst>
              <a:gd name="adj" fmla="val 19149"/>
            </a:avLst>
          </a:prstGeom>
          <a:solidFill>
            <a:srgbClr val="72E4D4"/>
          </a:solidFill>
          <a:ln w="12700">
            <a:solidFill>
              <a:srgbClr val="72E4D4"/>
            </a:solidFill>
            <a:prstDash val="solid"/>
          </a:ln>
        </p:spPr>
      </p:sp>
      <p:sp>
        <p:nvSpPr>
          <p:cNvPr id="19" name="Text 17">
            <a:hlinkClick r:id="rId4" tooltip="" action="ppaction://hlinksldjump"/>
          </p:cNvPr>
          <p:cNvSpPr/>
          <p:nvPr/>
        </p:nvSpPr>
        <p:spPr>
          <a:xfrm>
            <a:off x="4160520" y="5815584"/>
            <a:ext cx="30998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0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重新体验 Map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82712" y="5861304"/>
            <a:ext cx="3602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不提供无依据的获奖概率。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SOURCES / 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资料依据：规则与产品先例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核验日期：2026.09.24。点击条目可打开网页；完整链接及适用范围写入每页备注。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43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12648" y="211226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084832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赛事赛题 / FAQ / 评审细则 / 提交表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163056" y="2084832"/>
            <a:ext cx="5422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三项评审、人数、赛道、API与在线Demo要求。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603504" y="2441448"/>
            <a:ext cx="10972800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6060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R02</a:t>
            </a:r>
            <a:endParaRPr lang="en-US" sz="11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1325880" y="257860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腾讯音乐｜赛事官方入口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6163056" y="2578608"/>
            <a:ext cx="5422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赛事身份与入口；动态正文未完整读取。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603504" y="2935224"/>
            <a:ext cx="10972800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0998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R03</a:t>
            </a:r>
            <a:endParaRPr lang="en-US" sz="110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1325880" y="3072384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香港中文大学（深圳）｜赛事通知</a:t>
            </a:r>
            <a:endParaRPr lang="en-US" sz="1310" dirty="0"/>
          </a:p>
        </p:txBody>
      </p:sp>
      <p:sp>
        <p:nvSpPr>
          <p:cNvPr id="19" name="Text 17"/>
          <p:cNvSpPr/>
          <p:nvPr/>
        </p:nvSpPr>
        <p:spPr>
          <a:xfrm>
            <a:off x="6163056" y="3072384"/>
            <a:ext cx="5422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列10月9日截止；具体时刻和环节待确认。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603504" y="3429000"/>
            <a:ext cx="10972800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5935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R04</a:t>
            </a:r>
            <a:endParaRPr lang="en-US" sz="1100" dirty="0"/>
          </a:p>
        </p:txBody>
      </p:sp>
      <p:sp>
        <p:nvSpPr>
          <p:cNvPr id="22" name="Text 20">
            <a:hlinkClick r:id="rId3" tooltip=""/>
          </p:cNvPr>
          <p:cNvSpPr/>
          <p:nvPr/>
        </p:nvSpPr>
        <p:spPr>
          <a:xfrm>
            <a:off x="1325880" y="3566160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Spotify｜SongDNA 官方发布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6163056" y="3566160"/>
            <a:ext cx="5422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音乐作品关系的连续探索已有产品先例。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603504" y="3922776"/>
            <a:ext cx="10972800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0873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R05</a:t>
            </a:r>
            <a:endParaRPr lang="en-US" sz="1100" dirty="0"/>
          </a:p>
        </p:txBody>
      </p:sp>
      <p:sp>
        <p:nvSpPr>
          <p:cNvPr id="26" name="Text 24">
            <a:hlinkClick r:id="rId4" tooltip=""/>
          </p:cNvPr>
          <p:cNvSpPr/>
          <p:nvPr/>
        </p:nvSpPr>
        <p:spPr>
          <a:xfrm>
            <a:off x="1325880" y="4059936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Music-Map｜相似艺人地图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6163056" y="4059936"/>
            <a:ext cx="5422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相似音乐地图已有先例；本项目名需查重。</a:t>
            </a:r>
            <a:endParaRPr lang="en-US" sz="1170" dirty="0"/>
          </a:p>
        </p:txBody>
      </p:sp>
      <p:sp>
        <p:nvSpPr>
          <p:cNvPr id="28" name="Shape 26"/>
          <p:cNvSpPr/>
          <p:nvPr/>
        </p:nvSpPr>
        <p:spPr>
          <a:xfrm>
            <a:off x="603504" y="4416552"/>
            <a:ext cx="10972800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5811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R06</a:t>
            </a:r>
            <a:endParaRPr lang="en-US" sz="1100" dirty="0"/>
          </a:p>
        </p:txBody>
      </p:sp>
      <p:sp>
        <p:nvSpPr>
          <p:cNvPr id="30" name="Text 28">
            <a:hlinkClick r:id="rId5" tooltip=""/>
          </p:cNvPr>
          <p:cNvSpPr/>
          <p:nvPr/>
        </p:nvSpPr>
        <p:spPr>
          <a:xfrm>
            <a:off x="1325880" y="4553712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Artist Explorer｜原项目仓库</a:t>
            </a:r>
            <a:endParaRPr lang="en-US" sz="1310" dirty="0"/>
          </a:p>
        </p:txBody>
      </p:sp>
      <p:sp>
        <p:nvSpPr>
          <p:cNvPr id="31" name="Text 29"/>
          <p:cNvSpPr/>
          <p:nvPr/>
        </p:nvSpPr>
        <p:spPr>
          <a:xfrm>
            <a:off x="6163056" y="4553712"/>
            <a:ext cx="5422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艺人关系树与试听的历史实现。</a:t>
            </a:r>
            <a:endParaRPr lang="en-US" sz="1170" dirty="0"/>
          </a:p>
        </p:txBody>
      </p:sp>
      <p:sp>
        <p:nvSpPr>
          <p:cNvPr id="32" name="Shape 30"/>
          <p:cNvSpPr/>
          <p:nvPr/>
        </p:nvSpPr>
        <p:spPr>
          <a:xfrm>
            <a:off x="603504" y="4910328"/>
            <a:ext cx="10972800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074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R07</a:t>
            </a:r>
            <a:endParaRPr lang="en-US" sz="1100" dirty="0"/>
          </a:p>
        </p:txBody>
      </p:sp>
      <p:sp>
        <p:nvSpPr>
          <p:cNvPr id="34" name="Text 32">
            <a:hlinkClick r:id="rId6" tooltip=""/>
          </p:cNvPr>
          <p:cNvSpPr/>
          <p:nvPr/>
        </p:nvSpPr>
        <p:spPr>
          <a:xfrm>
            <a:off x="1325880" y="504748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Concert Archives｜官方产品介绍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6163056" y="5047488"/>
            <a:ext cx="5422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演出档案、照片和分享已有先例。</a:t>
            </a:r>
            <a:endParaRPr lang="en-US" sz="1170" dirty="0"/>
          </a:p>
        </p:txBody>
      </p:sp>
      <p:sp>
        <p:nvSpPr>
          <p:cNvPr id="36" name="Shape 34"/>
          <p:cNvSpPr/>
          <p:nvPr/>
        </p:nvSpPr>
        <p:spPr>
          <a:xfrm>
            <a:off x="603504" y="5404104"/>
            <a:ext cx="10972800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A8B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SOURCES / 02 &amp; HANDOFF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交付边界：设计原型 ≠ 已上线产品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4813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本PPT为可编辑设计方案；附带网页为点击式界面演示，不含真实音频、上传、AI和跨用户服务。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6985">
            <a:solidFill>
              <a:srgbClr val="32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MUSIC SPACE × MUSIC MAP  /  DESIGN &amp; DECISION  /  2026.09.24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8823960" y="65836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26C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44 / 44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R08</a:t>
            </a:r>
            <a:endParaRPr lang="en-US" sz="11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1316736" y="2139696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MusicBrainz｜Relationships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080760" y="2121408"/>
            <a:ext cx="54955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多种实体关系、角色属性与日期；不保证本项目艺人范围的完整覆盖或音频权利。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603504" y="2596896"/>
            <a:ext cx="10981944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3405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R09</a:t>
            </a:r>
            <a:endParaRPr lang="en-US" sz="110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1316736" y="272491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Spotify Web API｜Get Track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6080760" y="2706624"/>
            <a:ext cx="54955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preview_url可为空且标为弃用；试听片段受平台使用条件限制。元数据接口不等于全曲库播放权。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03504" y="3182112"/>
            <a:ext cx="10981944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19272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R10</a:t>
            </a:r>
            <a:endParaRPr lang="en-US" sz="110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316736" y="331012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MDN｜Web Share API</a:t>
            </a:r>
            <a:endParaRPr lang="en-US" sz="1310" dirty="0"/>
          </a:p>
        </p:txBody>
      </p:sp>
      <p:sp>
        <p:nvSpPr>
          <p:cNvPr id="19" name="Text 17"/>
          <p:cNvSpPr/>
          <p:nvPr/>
        </p:nvSpPr>
        <p:spPr>
          <a:xfrm>
            <a:off x="6080760" y="3291840"/>
            <a:ext cx="54955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系统分享需用户操作且受支持情况限制；正式产品须准备导出与复制链接后备路径。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03504" y="3767328"/>
            <a:ext cx="10981944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9044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R11</a:t>
            </a:r>
            <a:endParaRPr lang="en-US" sz="1100" dirty="0"/>
          </a:p>
        </p:txBody>
      </p:sp>
      <p:sp>
        <p:nvSpPr>
          <p:cNvPr id="22" name="Text 20">
            <a:hlinkClick r:id="rId4" tooltip=""/>
          </p:cNvPr>
          <p:cNvSpPr/>
          <p:nvPr/>
        </p:nvSpPr>
        <p:spPr>
          <a:xfrm>
            <a:off x="1316736" y="389534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u="sng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D3｜d3-force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6080760" y="3877056"/>
            <a:ext cx="54955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力导向图布局基础能力；不代表自动解决文字遮挡、移动端交互或图的可玩性。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03504" y="4352544"/>
            <a:ext cx="10981944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48970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E4D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16736" y="44805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此前Music Space完整方案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6080760" y="4462272"/>
            <a:ext cx="54955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1A8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本对话生成的《同场_完整产品设计与团队执行方案_60页.pptx》；保留先成卡、再自愿社交及私有档案的最新范围，不是实施证明。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03504" y="4937760"/>
            <a:ext cx="10981944" cy="0"/>
          </a:xfrm>
          <a:prstGeom prst="line">
            <a:avLst/>
          </a:prstGeom>
          <a:noFill/>
          <a:ln w="8890">
            <a:solidFill>
              <a:srgbClr val="323A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5550408"/>
            <a:ext cx="11027664" cy="585216"/>
          </a:xfrm>
          <a:prstGeom prst="rect">
            <a:avLst/>
          </a:prstGeom>
          <a:solidFill>
            <a:srgbClr val="202631"/>
          </a:solidFill>
          <a:ln w="8255">
            <a:solidFill>
              <a:srgbClr val="2026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650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3F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所有演出、艺人、作品、关系与统计为虚构样例；图形为原创占位视觉。不可当作事实数据提交。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Independent concept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Space vs Music Map｜双App原型与参赛决策</dc:title>
  <dc:subject>腾讯音乐高校AI Hackathon：双App界面原型、交互与参赛选择</dc:subject>
  <dc:creator>Music Space × Music Map | Product Design</dc:creator>
  <cp:lastModifiedBy>Music Space × Music Map | Product Design</cp:lastModifiedBy>
  <cp:revision>1</cp:revision>
  <dcterms:created xsi:type="dcterms:W3CDTF">2026-09-24T12:50:31Z</dcterms:created>
  <dcterms:modified xsi:type="dcterms:W3CDTF">2026-09-24T12:50:31Z</dcterms:modified>
</cp:coreProperties>
</file>